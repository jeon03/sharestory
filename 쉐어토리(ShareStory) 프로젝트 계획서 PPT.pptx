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8" r:id="rId5"/>
    <p:sldId id="269" r:id="rId6"/>
    <p:sldId id="270" r:id="rId7"/>
    <p:sldId id="267" r:id="rId8"/>
    <p:sldId id="271" r:id="rId9"/>
    <p:sldId id="287" r:id="rId10"/>
    <p:sldId id="273" r:id="rId11"/>
    <p:sldId id="274" r:id="rId12"/>
    <p:sldId id="275" r:id="rId13"/>
    <p:sldId id="282" r:id="rId14"/>
    <p:sldId id="276" r:id="rId15"/>
    <p:sldId id="277" r:id="rId16"/>
    <p:sldId id="288" r:id="rId17"/>
    <p:sldId id="279" r:id="rId18"/>
    <p:sldId id="280" r:id="rId19"/>
    <p:sldId id="291" r:id="rId20"/>
    <p:sldId id="292" r:id="rId21"/>
    <p:sldId id="283" r:id="rId22"/>
    <p:sldId id="259" r:id="rId23"/>
    <p:sldId id="266" r:id="rId24"/>
  </p:sldIdLst>
  <p:sldSz cx="18288000" cy="10287000"/>
  <p:notesSz cx="6858000" cy="9144000"/>
  <p:embeddedFontLst>
    <p:embeddedFont>
      <p:font typeface="HY동녘B" panose="020B0600000101010101" charset="-127"/>
      <p:regular r:id="rId26"/>
    </p:embeddedFont>
    <p:embeddedFont>
      <p:font typeface="HY헤드라인M" panose="02030600000101010101" pitchFamily="18" charset="-127"/>
      <p:regular r:id="rId27"/>
    </p:embeddedFont>
    <p:embeddedFont>
      <p:font typeface="맑은 고딕" panose="020B0503020000020004" pitchFamily="50" charset="-127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CBCB"/>
    <a:srgbClr val="FBE043"/>
    <a:srgbClr val="F6F6F6"/>
    <a:srgbClr val="FF6F0F"/>
    <a:srgbClr val="04C954"/>
    <a:srgbClr val="2630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1" d="100"/>
          <a:sy n="101" d="100"/>
        </p:scale>
        <p:origin x="65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837F0F-85D2-48B2-932B-5A71F9BCD2FE}" type="datetimeFigureOut">
              <a:rPr lang="ko-KR" altLang="en-US" smtClean="0"/>
              <a:t>2025-06-14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EA0AE-EE4A-4989-B433-A9E690743A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629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532E7-5909-3857-D76E-AA1BF1551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100CF2-902F-B5AC-2F6C-EE7D71B90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F41394-3C90-0920-4DF8-139A45ABD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C2E064-BB33-5BAD-A0F0-F94106CE5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EA0AE-EE4A-4989-B433-A9E690743A6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296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758B-9BDE-1B85-8BDC-3BEC28B66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88C818-1BBA-CDBC-B318-4CC85184E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341118-6176-0C5C-F037-87690B967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E87E5D-2E72-BC26-7B92-FC0F02233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EA0AE-EE4A-4989-B433-A9E690743A6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091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3" name="Group 2">
            <a:extLst>
              <a:ext uri="{FF2B5EF4-FFF2-40B4-BE49-F238E27FC236}">
                <a16:creationId xmlns:a16="http://schemas.microsoft.com/office/drawing/2014/main" id="{E2FF1F74-25BE-0762-A559-D133A73494D5}"/>
              </a:ext>
            </a:extLst>
          </p:cNvPr>
          <p:cNvGrpSpPr/>
          <p:nvPr userDrawn="1"/>
        </p:nvGrpSpPr>
        <p:grpSpPr>
          <a:xfrm>
            <a:off x="641182" y="703794"/>
            <a:ext cx="17005635" cy="8879412"/>
            <a:chOff x="0" y="0"/>
            <a:chExt cx="4478850" cy="2338611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3AEEF90C-999C-40F4-AD91-8E7B91AF190C}"/>
                </a:ext>
              </a:extLst>
            </p:cNvPr>
            <p:cNvSpPr/>
            <p:nvPr/>
          </p:nvSpPr>
          <p:spPr>
            <a:xfrm>
              <a:off x="0" y="0"/>
              <a:ext cx="4478850" cy="2338611"/>
            </a:xfrm>
            <a:custGeom>
              <a:avLst/>
              <a:gdLst/>
              <a:ahLst/>
              <a:cxnLst/>
              <a:rect l="l" t="t" r="r" b="b"/>
              <a:pathLst>
                <a:path w="4478850" h="2338611">
                  <a:moveTo>
                    <a:pt x="9105" y="0"/>
                  </a:moveTo>
                  <a:lnTo>
                    <a:pt x="4469745" y="0"/>
                  </a:lnTo>
                  <a:cubicBezTo>
                    <a:pt x="4472160" y="0"/>
                    <a:pt x="4474476" y="959"/>
                    <a:pt x="4476183" y="2667"/>
                  </a:cubicBezTo>
                  <a:cubicBezTo>
                    <a:pt x="4477891" y="4374"/>
                    <a:pt x="4478850" y="6690"/>
                    <a:pt x="4478850" y="9105"/>
                  </a:cubicBezTo>
                  <a:lnTo>
                    <a:pt x="4478850" y="2329505"/>
                  </a:lnTo>
                  <a:cubicBezTo>
                    <a:pt x="4478850" y="2334534"/>
                    <a:pt x="4474774" y="2338611"/>
                    <a:pt x="4469745" y="2338611"/>
                  </a:cubicBezTo>
                  <a:lnTo>
                    <a:pt x="9105" y="2338611"/>
                  </a:lnTo>
                  <a:cubicBezTo>
                    <a:pt x="4077" y="2338611"/>
                    <a:pt x="0" y="2334534"/>
                    <a:pt x="0" y="2329505"/>
                  </a:cubicBezTo>
                  <a:lnTo>
                    <a:pt x="0" y="9105"/>
                  </a:lnTo>
                  <a:cubicBezTo>
                    <a:pt x="0" y="4077"/>
                    <a:pt x="4077" y="0"/>
                    <a:pt x="9105" y="0"/>
                  </a:cubicBez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FDDA664A-1441-1CAB-ADAC-1DC5FFE92D22}"/>
                </a:ext>
              </a:extLst>
            </p:cNvPr>
            <p:cNvSpPr txBox="1"/>
            <p:nvPr/>
          </p:nvSpPr>
          <p:spPr>
            <a:xfrm>
              <a:off x="0" y="-9525"/>
              <a:ext cx="4478850" cy="23481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4"/>
                </a:lnSpc>
              </a:pPr>
              <a:endParaRPr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microsoft.com/office/2007/relationships/hdphoto" Target="../media/hdphoto2.wdp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microsoft.com/office/2007/relationships/hdphoto" Target="../media/hdphoto4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13" Type="http://schemas.openxmlformats.org/officeDocument/2006/relationships/image" Target="../media/image33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microsoft.com/office/2007/relationships/hdphoto" Target="../media/hdphoto5.wdp"/><Relationship Id="rId9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5.png"/><Relationship Id="rId7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microsoft.com/office/2007/relationships/hdphoto" Target="../media/hdphoto5.wdp"/><Relationship Id="rId10" Type="http://schemas.openxmlformats.org/officeDocument/2006/relationships/image" Target="../media/image33.png"/><Relationship Id="rId4" Type="http://schemas.openxmlformats.org/officeDocument/2006/relationships/image" Target="../media/image24.png"/><Relationship Id="rId9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microsoft.com/office/2007/relationships/hdphoto" Target="../media/hdphoto5.wdp"/><Relationship Id="rId7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9.png"/><Relationship Id="rId4" Type="http://schemas.openxmlformats.org/officeDocument/2006/relationships/image" Target="../media/image25.png"/><Relationship Id="rId9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tion.so/1b4fe9b4b8cc804cbbd9d08591ce9e58?pvs=4" TargetMode="External"/><Relationship Id="rId2" Type="http://schemas.openxmlformats.org/officeDocument/2006/relationships/hyperlink" Target="https://www.figma.com/design/D9T4EyLoqucIE84OUfJtGo/%ED%8C%80%ED%94%8C?node-id=0-1&amp;m=dev&amp;t=XZtHh7pj1x7lROHu-1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2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1182" y="667629"/>
            <a:ext cx="17005635" cy="891557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84"/>
              </a:lnSpc>
            </a:pPr>
            <a:endParaRPr>
              <a:solidFill>
                <a:srgbClr val="263035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05000" y="2171700"/>
            <a:ext cx="8611653" cy="3052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892"/>
              </a:lnSpc>
            </a:pPr>
            <a:r>
              <a:rPr lang="ko-KR" altLang="en-US" sz="10000" spc="-359" dirty="0" err="1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동녘B" panose="020B0600000101010101" charset="-127"/>
                <a:ea typeface="HY동녘B" panose="020B0600000101010101" charset="-127"/>
                <a:cs typeface="Nanum Square"/>
                <a:sym typeface="Nanum Square"/>
              </a:rPr>
              <a:t>쉐어토리</a:t>
            </a:r>
            <a:endParaRPr lang="en-US" altLang="ko-KR" sz="10000" spc="-359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동녘B" panose="020B0600000101010101" charset="-127"/>
              <a:ea typeface="HY동녘B" panose="020B0600000101010101" charset="-127"/>
              <a:cs typeface="Nanum Square"/>
              <a:sym typeface="Nanum Square"/>
            </a:endParaRPr>
          </a:p>
          <a:p>
            <a:pPr algn="l">
              <a:lnSpc>
                <a:spcPts val="11892"/>
              </a:lnSpc>
            </a:pPr>
            <a:r>
              <a:rPr lang="en-US" sz="10000" spc="-359" dirty="0" err="1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동녘B" panose="020B0600000101010101" charset="-127"/>
                <a:ea typeface="HY동녘B" panose="020B0600000101010101" charset="-127"/>
                <a:cs typeface="Nanum Square"/>
                <a:sym typeface="Nanum Square"/>
              </a:rPr>
              <a:t>ShareStroy</a:t>
            </a:r>
            <a:endParaRPr lang="en-US" sz="10000" spc="-359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동녘B" panose="020B0600000101010101" charset="-127"/>
              <a:ea typeface="HY동녘B" panose="020B0600000101010101" charset="-127"/>
              <a:cs typeface="Nanum Square"/>
              <a:sym typeface="Nanum Squar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972800" y="7962900"/>
            <a:ext cx="5317153" cy="345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17"/>
              </a:lnSpc>
              <a:spcBef>
                <a:spcPct val="0"/>
              </a:spcBef>
            </a:pPr>
            <a:r>
              <a:rPr lang="en-US" sz="2199" spc="-79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+mn-ea"/>
                <a:cs typeface="Nanum Square"/>
                <a:sym typeface="Nanum Square"/>
              </a:rPr>
              <a:t>YD_</a:t>
            </a:r>
            <a:r>
              <a:rPr lang="ko-KR" altLang="en-US" sz="2199" spc="-79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+mn-ea"/>
                <a:cs typeface="Nanum Square"/>
                <a:sym typeface="Nanum Square"/>
              </a:rPr>
              <a:t>시스템 분석설계</a:t>
            </a:r>
            <a:endParaRPr lang="en-US" sz="2199" spc="-79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+mn-ea"/>
              <a:cs typeface="Nanum Square"/>
              <a:sym typeface="Nanum 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E8A951-4C04-A720-2F02-5A530494FDEE}"/>
              </a:ext>
            </a:extLst>
          </p:cNvPr>
          <p:cNvSpPr txBox="1"/>
          <p:nvPr/>
        </p:nvSpPr>
        <p:spPr>
          <a:xfrm>
            <a:off x="12115801" y="5841424"/>
            <a:ext cx="4800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물건을 나누고 경험을 공유하다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E405EDC-9915-852A-3AE4-8AAF09948F79}"/>
              </a:ext>
            </a:extLst>
          </p:cNvPr>
          <p:cNvGrpSpPr/>
          <p:nvPr/>
        </p:nvGrpSpPr>
        <p:grpSpPr>
          <a:xfrm>
            <a:off x="9829800" y="5764028"/>
            <a:ext cx="1894072" cy="1894072"/>
            <a:chOff x="9829800" y="6056704"/>
            <a:chExt cx="1894072" cy="1894072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E311598-E5B8-CC4D-4D59-9BB1C0344363}"/>
                </a:ext>
              </a:extLst>
            </p:cNvPr>
            <p:cNvSpPr/>
            <p:nvPr/>
          </p:nvSpPr>
          <p:spPr>
            <a:xfrm>
              <a:off x="9829800" y="6056704"/>
              <a:ext cx="1894072" cy="1894072"/>
            </a:xfrm>
            <a:prstGeom prst="ellipse">
              <a:avLst/>
            </a:prstGeom>
            <a:solidFill>
              <a:srgbClr val="F6E266"/>
            </a:solidFill>
            <a:ln w="101600">
              <a:noFill/>
            </a:ln>
            <a:scene3d>
              <a:camera prst="perspectiveLeft"/>
              <a:lightRig rig="flat" dir="t"/>
            </a:scene3d>
            <a:sp3d extrusionH="381000" contourW="44450">
              <a:extrusionClr>
                <a:srgbClr val="F1D333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84D05CA4-CA9D-0E56-5458-B919C61AD788}"/>
                </a:ext>
              </a:extLst>
            </p:cNvPr>
            <p:cNvGrpSpPr/>
            <p:nvPr/>
          </p:nvGrpSpPr>
          <p:grpSpPr>
            <a:xfrm>
              <a:off x="10229493" y="6449262"/>
              <a:ext cx="1163570" cy="1097530"/>
              <a:chOff x="4542180" y="798099"/>
              <a:chExt cx="994160" cy="937735"/>
            </a:xfrm>
          </p:grpSpPr>
          <p:pic>
            <p:nvPicPr>
              <p:cNvPr id="9" name="Picture 2" descr="My Letter S Personal 포스터">
                <a:extLst>
                  <a:ext uri="{FF2B5EF4-FFF2-40B4-BE49-F238E27FC236}">
                    <a16:creationId xmlns:a16="http://schemas.microsoft.com/office/drawing/2014/main" id="{3D2120FA-391E-19C1-732C-9206E099B0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8133" b="74800" l="9888" r="89925">
                            <a14:foregroundMark x1="48507" y1="74800" x2="48507" y2="7480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37" t="15053" r="29737" b="23660"/>
              <a:stretch/>
            </p:blipFill>
            <p:spPr bwMode="auto">
              <a:xfrm>
                <a:off x="4542180" y="798099"/>
                <a:ext cx="589765" cy="9377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2" descr="My Letter S Personal 포스터">
                <a:extLst>
                  <a:ext uri="{FF2B5EF4-FFF2-40B4-BE49-F238E27FC236}">
                    <a16:creationId xmlns:a16="http://schemas.microsoft.com/office/drawing/2014/main" id="{E8CC6889-7FFA-A751-41C6-78188EF069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8133" b="74800" l="9888" r="89925">
                            <a14:foregroundMark x1="48507" y1="74800" x2="48507" y2="7480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37" t="15053" r="29737" b="23660"/>
              <a:stretch/>
            </p:blipFill>
            <p:spPr bwMode="auto">
              <a:xfrm>
                <a:off x="4946575" y="798099"/>
                <a:ext cx="589765" cy="9377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2" name="TextBox 7">
            <a:extLst>
              <a:ext uri="{FF2B5EF4-FFF2-40B4-BE49-F238E27FC236}">
                <a16:creationId xmlns:a16="http://schemas.microsoft.com/office/drawing/2014/main" id="{CDC20C3A-7E0A-1F70-5CB0-2E7704DC3CA6}"/>
              </a:ext>
            </a:extLst>
          </p:cNvPr>
          <p:cNvSpPr txBox="1"/>
          <p:nvPr/>
        </p:nvSpPr>
        <p:spPr>
          <a:xfrm>
            <a:off x="10970342" y="8308594"/>
            <a:ext cx="5317153" cy="345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17"/>
              </a:lnSpc>
              <a:spcBef>
                <a:spcPct val="0"/>
              </a:spcBef>
            </a:pPr>
            <a:r>
              <a:rPr lang="ko-KR" altLang="en-US" sz="2199" spc="-79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+mn-ea"/>
                <a:cs typeface="Nanum Square"/>
                <a:sym typeface="Nanum Square"/>
              </a:rPr>
              <a:t>팀 </a:t>
            </a:r>
            <a:r>
              <a:rPr lang="en-US" altLang="ko-KR" sz="2199" spc="-79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+mn-ea"/>
                <a:cs typeface="Nanum Square"/>
                <a:sym typeface="Nanum Square"/>
              </a:rPr>
              <a:t>: Dream</a:t>
            </a:r>
            <a:endParaRPr lang="en-US" sz="2199" spc="-79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+mn-ea"/>
              <a:cs typeface="Nanum Square"/>
              <a:sym typeface="Nanum Squar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2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1182" y="667629"/>
            <a:ext cx="17005635" cy="891557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84"/>
              </a:lnSpc>
            </a:pPr>
            <a:endParaRPr>
              <a:solidFill>
                <a:srgbClr val="263035"/>
              </a:solidFill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3170060" y="2791272"/>
            <a:ext cx="854190" cy="85419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E2DE"/>
            </a:solidFill>
          </p:spPr>
          <p:txBody>
            <a:bodyPr/>
            <a:lstStyle/>
            <a:p>
              <a:endParaRPr lang="ko-KR" altLang="en-US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4"/>
                </a:lnSpc>
              </a:pPr>
              <a:endParaRPr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334231" y="2973375"/>
            <a:ext cx="4399540" cy="547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172"/>
              </a:lnSpc>
              <a:spcBef>
                <a:spcPct val="0"/>
              </a:spcBef>
            </a:pPr>
            <a:r>
              <a:rPr lang="en-US" sz="3506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01   </a:t>
            </a:r>
            <a:r>
              <a:rPr lang="en-US" sz="3506" b="1" spc="-126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프로젝트</a:t>
            </a:r>
            <a:r>
              <a:rPr lang="en-US" sz="3506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sz="3506" b="1" spc="-126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개요</a:t>
            </a:r>
            <a:endParaRPr lang="en-US" sz="3506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0687368" y="2814164"/>
            <a:ext cx="854190" cy="85419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E2DE"/>
            </a:solidFill>
          </p:spPr>
          <p:txBody>
            <a:bodyPr/>
            <a:lstStyle/>
            <a:p>
              <a:endParaRPr lang="ko-KR" altLang="en-US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4"/>
                </a:lnSpc>
              </a:pPr>
              <a:endParaRPr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851539" y="2984305"/>
            <a:ext cx="4399540" cy="547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172"/>
              </a:lnSpc>
              <a:spcBef>
                <a:spcPct val="0"/>
              </a:spcBef>
            </a:pPr>
            <a:r>
              <a:rPr lang="en-US" sz="3506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02   </a:t>
            </a:r>
            <a:r>
              <a:rPr lang="ko-KR" altLang="en-US" sz="3506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시스템</a:t>
            </a:r>
            <a:endParaRPr lang="en-US" sz="3506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3250140" y="6163706"/>
            <a:ext cx="854190" cy="85419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E2DE"/>
            </a:solidFill>
          </p:spPr>
          <p:txBody>
            <a:bodyPr/>
            <a:lstStyle/>
            <a:p>
              <a:endParaRPr lang="ko-KR" altLang="en-US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4"/>
                </a:lnSpc>
              </a:pPr>
              <a:endParaRPr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414311" y="6321884"/>
            <a:ext cx="4399540" cy="547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172"/>
              </a:lnSpc>
              <a:spcBef>
                <a:spcPct val="0"/>
              </a:spcBef>
            </a:pPr>
            <a:r>
              <a:rPr lang="en-US" sz="3506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03   </a:t>
            </a:r>
            <a:r>
              <a:rPr lang="ko-KR" altLang="en-US" sz="3506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사전 조사 및 탐구</a:t>
            </a:r>
            <a:endParaRPr lang="en-US" sz="3506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10687368" y="6098822"/>
            <a:ext cx="854190" cy="854190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E2DE"/>
            </a:solidFill>
          </p:spPr>
          <p:txBody>
            <a:bodyPr/>
            <a:lstStyle/>
            <a:p>
              <a:endParaRPr lang="ko-KR" altLang="en-US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4"/>
                </a:lnSpc>
              </a:pPr>
              <a:endParaRPr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0851539" y="6245039"/>
            <a:ext cx="4399540" cy="547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172"/>
              </a:lnSpc>
              <a:spcBef>
                <a:spcPct val="0"/>
              </a:spcBef>
            </a:pPr>
            <a:r>
              <a:rPr lang="en-US" sz="3506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04   </a:t>
            </a:r>
            <a:r>
              <a:rPr lang="ko-KR" altLang="en-US" sz="3506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일정 계획</a:t>
            </a:r>
            <a:endParaRPr lang="en-US" sz="3506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450636" y="1190498"/>
            <a:ext cx="5386725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25"/>
              </a:lnSpc>
              <a:spcBef>
                <a:spcPct val="0"/>
              </a:spcBef>
            </a:pPr>
            <a:r>
              <a:rPr lang="en-US" sz="7500" b="1" spc="-270" dirty="0"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Contents</a:t>
            </a:r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17214094-D7E2-63BB-856F-E1816054BA14}"/>
              </a:ext>
            </a:extLst>
          </p:cNvPr>
          <p:cNvSpPr txBox="1"/>
          <p:nvPr/>
        </p:nvSpPr>
        <p:spPr>
          <a:xfrm>
            <a:off x="3598692" y="3715532"/>
            <a:ext cx="5169431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417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개발 동기 및 필요성</a:t>
            </a:r>
            <a:endParaRPr lang="en-US" altLang="ko-KR" sz="3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  <a:p>
            <a:pPr marL="571500" lvl="0" indent="-571500" algn="l">
              <a:lnSpc>
                <a:spcPts val="417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프로젝트 소개 및 목표</a:t>
            </a:r>
            <a:endParaRPr lang="en-US" altLang="ko-KR" sz="3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  <a:p>
            <a:pPr marL="571500" lvl="0" indent="-571500" algn="l">
              <a:lnSpc>
                <a:spcPts val="417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사용자 특성</a:t>
            </a:r>
            <a:endParaRPr lang="en-US" altLang="ko-KR" sz="3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  <a:p>
            <a:pPr marL="571500" lvl="0" indent="-571500" algn="l">
              <a:lnSpc>
                <a:spcPts val="417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개발기능</a:t>
            </a:r>
            <a:endParaRPr lang="en-US" sz="3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42" name="TextBox 11">
            <a:extLst>
              <a:ext uri="{FF2B5EF4-FFF2-40B4-BE49-F238E27FC236}">
                <a16:creationId xmlns:a16="http://schemas.microsoft.com/office/drawing/2014/main" id="{ABD4441F-CA1D-D201-41C6-CF819876566D}"/>
              </a:ext>
            </a:extLst>
          </p:cNvPr>
          <p:cNvSpPr txBox="1"/>
          <p:nvPr/>
        </p:nvSpPr>
        <p:spPr>
          <a:xfrm>
            <a:off x="11114462" y="6964279"/>
            <a:ext cx="5169431" cy="1587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417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000" b="1" spc="-126" dirty="0"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프로토타입 계획</a:t>
            </a:r>
            <a:endParaRPr lang="en-US" altLang="ko-KR" sz="3000" b="1" spc="-126" dirty="0"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  <a:p>
            <a:pPr marL="571500" lvl="0" indent="-571500" algn="l">
              <a:lnSpc>
                <a:spcPts val="417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000" b="1" spc="-126" dirty="0"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작업 일정</a:t>
            </a:r>
            <a:endParaRPr lang="en-US" altLang="ko-KR" sz="3000" b="1" spc="-126" dirty="0"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  <a:p>
            <a:pPr marL="571500" lvl="0" indent="-571500" algn="l">
              <a:lnSpc>
                <a:spcPts val="417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000" b="1" spc="-126" dirty="0"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역할 분담</a:t>
            </a:r>
            <a:endParaRPr lang="en-US" sz="3000" b="1" spc="-126" dirty="0"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43" name="TextBox 11">
            <a:extLst>
              <a:ext uri="{FF2B5EF4-FFF2-40B4-BE49-F238E27FC236}">
                <a16:creationId xmlns:a16="http://schemas.microsoft.com/office/drawing/2014/main" id="{17CA9E24-7028-0D5E-3D82-85714D46B1F1}"/>
              </a:ext>
            </a:extLst>
          </p:cNvPr>
          <p:cNvSpPr txBox="1"/>
          <p:nvPr/>
        </p:nvSpPr>
        <p:spPr>
          <a:xfrm>
            <a:off x="11114462" y="3712031"/>
            <a:ext cx="5169431" cy="1007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417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000" b="1" spc="-126" dirty="0"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시스템 개발 환경</a:t>
            </a:r>
            <a:endParaRPr lang="en-US" altLang="ko-KR" sz="3000" b="1" spc="-126" dirty="0"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  <a:p>
            <a:pPr marL="571500" lvl="0" indent="-571500" algn="l">
              <a:lnSpc>
                <a:spcPts val="417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000" b="1" spc="-126" dirty="0"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시스템 구성도</a:t>
            </a:r>
            <a:endParaRPr lang="en-US" sz="3000" b="1" spc="-126" dirty="0"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44" name="TextBox 11">
            <a:extLst>
              <a:ext uri="{FF2B5EF4-FFF2-40B4-BE49-F238E27FC236}">
                <a16:creationId xmlns:a16="http://schemas.microsoft.com/office/drawing/2014/main" id="{3C473405-7B58-47F7-4A60-D8D8F017B364}"/>
              </a:ext>
            </a:extLst>
          </p:cNvPr>
          <p:cNvSpPr txBox="1"/>
          <p:nvPr/>
        </p:nvSpPr>
        <p:spPr>
          <a:xfrm>
            <a:off x="3677234" y="7025923"/>
            <a:ext cx="5169431" cy="1546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417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유사 시스템 조사</a:t>
            </a:r>
            <a:endParaRPr lang="en-US" altLang="ko-KR" sz="3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  <a:p>
            <a:pPr marL="571500" lvl="0" indent="-571500" algn="l">
              <a:lnSpc>
                <a:spcPts val="417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기술 학습 계획</a:t>
            </a:r>
            <a:endParaRPr lang="en-US" altLang="ko-KR" sz="3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  <a:p>
            <a:pPr marL="571500" lvl="0" indent="-571500" algn="l">
              <a:lnSpc>
                <a:spcPts val="417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작품 이용 사례</a:t>
            </a:r>
            <a:endParaRPr lang="en-US" sz="3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2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789995" y="1401008"/>
            <a:ext cx="8477003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25"/>
              </a:lnSpc>
              <a:spcBef>
                <a:spcPct val="0"/>
              </a:spcBef>
            </a:pPr>
            <a:r>
              <a:rPr 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01  </a:t>
            </a:r>
            <a:r>
              <a:rPr lang="en-US" sz="7500" b="1" spc="-270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프로젝트</a:t>
            </a:r>
            <a:r>
              <a:rPr 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 </a:t>
            </a:r>
            <a:r>
              <a:rPr lang="en-US" sz="7500" b="1" spc="-270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개요</a:t>
            </a:r>
            <a:endParaRPr lang="en-US" sz="7500" b="1" spc="-27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8" name="AutoShape 8"/>
          <p:cNvSpPr/>
          <p:nvPr/>
        </p:nvSpPr>
        <p:spPr>
          <a:xfrm flipH="1">
            <a:off x="1789995" y="2591633"/>
            <a:ext cx="1135883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49A3B6-77A1-CBA6-FC5C-5F169467F773}"/>
              </a:ext>
            </a:extLst>
          </p:cNvPr>
          <p:cNvSpPr txBox="1"/>
          <p:nvPr/>
        </p:nvSpPr>
        <p:spPr>
          <a:xfrm>
            <a:off x="4953000" y="3543300"/>
            <a:ext cx="8382000" cy="4351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lnSpc>
                <a:spcPct val="150000"/>
              </a:lnSpc>
              <a:buFontTx/>
              <a:buAutoNum type="arabicPeriod"/>
            </a:pP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프로젝트 소개 및 목표</a:t>
            </a:r>
            <a:endParaRPr lang="en-US" altLang="ko-KR" sz="48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143000" indent="-1143000">
              <a:lnSpc>
                <a:spcPct val="150000"/>
              </a:lnSpc>
              <a:buAutoNum type="arabicPeriod"/>
            </a:pP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개발 동기 및 필요성</a:t>
            </a:r>
            <a:endParaRPr lang="en-US" altLang="ko-KR" sz="48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143000" indent="-1143000">
              <a:lnSpc>
                <a:spcPct val="150000"/>
              </a:lnSpc>
              <a:buAutoNum type="arabicPeriod"/>
            </a:pP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사용자 특성</a:t>
            </a:r>
            <a:endParaRPr lang="en-US" altLang="ko-KR" sz="48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143000" indent="-1143000">
              <a:lnSpc>
                <a:spcPct val="150000"/>
              </a:lnSpc>
              <a:buAutoNum type="arabicPeriod"/>
            </a:pP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개발기능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0D4BC-E635-90A2-06C3-C423FFEC5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8B42C2A5-AD2B-4CD0-3AA5-1A68822A6606}"/>
              </a:ext>
            </a:extLst>
          </p:cNvPr>
          <p:cNvSpPr/>
          <p:nvPr/>
        </p:nvSpPr>
        <p:spPr>
          <a:xfrm>
            <a:off x="1058920" y="1943100"/>
            <a:ext cx="846080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05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9A4EE73-A22F-A79C-BDAF-BFC862482054}"/>
              </a:ext>
            </a:extLst>
          </p:cNvPr>
          <p:cNvSpPr/>
          <p:nvPr/>
        </p:nvSpPr>
        <p:spPr>
          <a:xfrm>
            <a:off x="1169391" y="4528819"/>
            <a:ext cx="4286250" cy="4114800"/>
          </a:xfrm>
          <a:custGeom>
            <a:avLst/>
            <a:gdLst/>
            <a:ahLst/>
            <a:cxnLst/>
            <a:rect l="l" t="t" r="r" b="b"/>
            <a:pathLst>
              <a:path w="4286250" h="4114800">
                <a:moveTo>
                  <a:pt x="0" y="0"/>
                </a:moveTo>
                <a:lnTo>
                  <a:pt x="4286250" y="0"/>
                </a:lnTo>
                <a:lnTo>
                  <a:pt x="42862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>
              <a:solidFill>
                <a:srgbClr val="26303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063F3B-62BB-D921-DAE1-1A2529921FC9}"/>
              </a:ext>
            </a:extLst>
          </p:cNvPr>
          <p:cNvSpPr txBox="1"/>
          <p:nvPr/>
        </p:nvSpPr>
        <p:spPr>
          <a:xfrm>
            <a:off x="990600" y="1112103"/>
            <a:ext cx="784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01 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프로젝트 소개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9DCD0251-6865-05E7-A872-1BC8513C414C}"/>
              </a:ext>
            </a:extLst>
          </p:cNvPr>
          <p:cNvGrpSpPr/>
          <p:nvPr/>
        </p:nvGrpSpPr>
        <p:grpSpPr>
          <a:xfrm>
            <a:off x="5766558" y="4889422"/>
            <a:ext cx="10105925" cy="1403388"/>
            <a:chOff x="-6976" y="-156557"/>
            <a:chExt cx="1289323" cy="1343863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FBC7E4B2-4843-0C4D-5B65-018A1A12C11B}"/>
                </a:ext>
              </a:extLst>
            </p:cNvPr>
            <p:cNvSpPr/>
            <p:nvPr/>
          </p:nvSpPr>
          <p:spPr>
            <a:xfrm>
              <a:off x="-6976" y="-156557"/>
              <a:ext cx="1282347" cy="1187306"/>
            </a:xfrm>
            <a:custGeom>
              <a:avLst/>
              <a:gdLst/>
              <a:ahLst/>
              <a:cxnLst/>
              <a:rect l="l" t="t" r="r" b="b"/>
              <a:pathLst>
                <a:path w="1282347" h="1187306">
                  <a:moveTo>
                    <a:pt x="31801" y="0"/>
                  </a:moveTo>
                  <a:lnTo>
                    <a:pt x="1250546" y="0"/>
                  </a:lnTo>
                  <a:cubicBezTo>
                    <a:pt x="1258980" y="0"/>
                    <a:pt x="1267069" y="3350"/>
                    <a:pt x="1273033" y="9314"/>
                  </a:cubicBezTo>
                  <a:cubicBezTo>
                    <a:pt x="1278997" y="15278"/>
                    <a:pt x="1282347" y="23367"/>
                    <a:pt x="1282347" y="31801"/>
                  </a:cubicBezTo>
                  <a:lnTo>
                    <a:pt x="1282347" y="1155505"/>
                  </a:lnTo>
                  <a:cubicBezTo>
                    <a:pt x="1282347" y="1173068"/>
                    <a:pt x="1268109" y="1187306"/>
                    <a:pt x="1250546" y="1187306"/>
                  </a:cubicBezTo>
                  <a:lnTo>
                    <a:pt x="31801" y="1187306"/>
                  </a:lnTo>
                  <a:cubicBezTo>
                    <a:pt x="14238" y="1187306"/>
                    <a:pt x="0" y="1173068"/>
                    <a:pt x="0" y="1155505"/>
                  </a:cubicBezTo>
                  <a:lnTo>
                    <a:pt x="0" y="31801"/>
                  </a:lnTo>
                  <a:cubicBezTo>
                    <a:pt x="0" y="14238"/>
                    <a:pt x="14238" y="0"/>
                    <a:pt x="3180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3200" dirty="0" err="1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쉐어토리</a:t>
              </a:r>
              <a:r>
                <a:rPr lang="ko-KR" altLang="en-US" sz="32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en-US" altLang="ko-KR" sz="32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= </a:t>
              </a:r>
              <a:r>
                <a:rPr lang="ko-KR" altLang="en-US" sz="32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중고거래 </a:t>
              </a:r>
              <a:r>
                <a:rPr lang="en-US" altLang="ko-KR" sz="32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+ </a:t>
              </a:r>
              <a:r>
                <a:rPr lang="ko-KR" altLang="en-US" sz="32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커뮤니티 </a:t>
              </a:r>
              <a:r>
                <a:rPr lang="en-US" altLang="ko-KR" sz="32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+ </a:t>
              </a:r>
              <a:r>
                <a:rPr lang="ko-KR" altLang="en-US" sz="32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경매시스템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FABB56-14D3-30E7-7BA2-1EAD8D361F2E}"/>
                </a:ext>
              </a:extLst>
            </p:cNvPr>
            <p:cNvSpPr txBox="1"/>
            <p:nvPr/>
          </p:nvSpPr>
          <p:spPr>
            <a:xfrm>
              <a:off x="0" y="-9525"/>
              <a:ext cx="1282347" cy="11968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4"/>
                </a:lnSpc>
              </a:pPr>
              <a:endParaRPr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868AD5A-57FE-04C9-B243-8D621DF07006}"/>
              </a:ext>
            </a:extLst>
          </p:cNvPr>
          <p:cNvGrpSpPr/>
          <p:nvPr/>
        </p:nvGrpSpPr>
        <p:grpSpPr>
          <a:xfrm>
            <a:off x="6538572" y="6839496"/>
            <a:ext cx="1114633" cy="1114633"/>
            <a:chOff x="5844515" y="5059277"/>
            <a:chExt cx="1114633" cy="1114633"/>
          </a:xfrm>
        </p:grpSpPr>
        <p:grpSp>
          <p:nvGrpSpPr>
            <p:cNvPr id="20" name="Group 16">
              <a:extLst>
                <a:ext uri="{FF2B5EF4-FFF2-40B4-BE49-F238E27FC236}">
                  <a16:creationId xmlns:a16="http://schemas.microsoft.com/office/drawing/2014/main" id="{2686BDFC-4E28-E784-8031-477DF17A7DA1}"/>
                </a:ext>
              </a:extLst>
            </p:cNvPr>
            <p:cNvGrpSpPr/>
            <p:nvPr/>
          </p:nvGrpSpPr>
          <p:grpSpPr>
            <a:xfrm>
              <a:off x="5844515" y="5059277"/>
              <a:ext cx="1114633" cy="1114633"/>
              <a:chOff x="0" y="0"/>
              <a:chExt cx="812800" cy="812800"/>
            </a:xfrm>
          </p:grpSpPr>
          <p:sp>
            <p:nvSpPr>
              <p:cNvPr id="21" name="Freeform 17">
                <a:extLst>
                  <a:ext uri="{FF2B5EF4-FFF2-40B4-BE49-F238E27FC236}">
                    <a16:creationId xmlns:a16="http://schemas.microsoft.com/office/drawing/2014/main" id="{BAFB61AF-C8AC-F560-9A40-35F2BCCF634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E2DE"/>
              </a:solidFill>
              <a:ln w="38100" cap="sq">
                <a:solidFill>
                  <a:srgbClr val="26303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>
                  <a:solidFill>
                    <a:srgbClr val="263035"/>
                  </a:solidFill>
                </a:endParaRPr>
              </a:p>
            </p:txBody>
          </p:sp>
          <p:sp>
            <p:nvSpPr>
              <p:cNvPr id="22" name="TextBox 18">
                <a:extLst>
                  <a:ext uri="{FF2B5EF4-FFF2-40B4-BE49-F238E27FC236}">
                    <a16:creationId xmlns:a16="http://schemas.microsoft.com/office/drawing/2014/main" id="{890192EA-1DE2-904B-10CE-E9445C4AC359}"/>
                  </a:ext>
                </a:extLst>
              </p:cNvPr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4"/>
                  </a:lnSpc>
                </a:pPr>
                <a:endParaRPr>
                  <a:solidFill>
                    <a:srgbClr val="263035"/>
                  </a:solidFill>
                </a:endParaRPr>
              </a:p>
            </p:txBody>
          </p:sp>
        </p:grpSp>
        <p:pic>
          <p:nvPicPr>
            <p:cNvPr id="9" name="그래픽 8" descr="마케팅 단색으로 채워진">
              <a:extLst>
                <a:ext uri="{FF2B5EF4-FFF2-40B4-BE49-F238E27FC236}">
                  <a16:creationId xmlns:a16="http://schemas.microsoft.com/office/drawing/2014/main" id="{985A7292-67A6-4A1E-64CB-100372541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80227" y="5168919"/>
              <a:ext cx="914400" cy="914400"/>
            </a:xfrm>
            <a:prstGeom prst="rect">
              <a:avLst/>
            </a:prstGeom>
          </p:spPr>
        </p:pic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71BD1AC-29F5-75AB-9259-BA0D28352208}"/>
              </a:ext>
            </a:extLst>
          </p:cNvPr>
          <p:cNvGrpSpPr/>
          <p:nvPr/>
        </p:nvGrpSpPr>
        <p:grpSpPr>
          <a:xfrm>
            <a:off x="9785578" y="6796772"/>
            <a:ext cx="1114633" cy="1114633"/>
            <a:chOff x="9597168" y="4890983"/>
            <a:chExt cx="1114633" cy="1114633"/>
          </a:xfrm>
        </p:grpSpPr>
        <p:grpSp>
          <p:nvGrpSpPr>
            <p:cNvPr id="23" name="Group 16">
              <a:extLst>
                <a:ext uri="{FF2B5EF4-FFF2-40B4-BE49-F238E27FC236}">
                  <a16:creationId xmlns:a16="http://schemas.microsoft.com/office/drawing/2014/main" id="{FD1E4E40-279F-5234-CA5B-06927078BDA5}"/>
                </a:ext>
              </a:extLst>
            </p:cNvPr>
            <p:cNvGrpSpPr/>
            <p:nvPr/>
          </p:nvGrpSpPr>
          <p:grpSpPr>
            <a:xfrm>
              <a:off x="9597168" y="4890983"/>
              <a:ext cx="1114633" cy="1114633"/>
              <a:chOff x="0" y="0"/>
              <a:chExt cx="812800" cy="812800"/>
            </a:xfrm>
          </p:grpSpPr>
          <p:sp>
            <p:nvSpPr>
              <p:cNvPr id="24" name="Freeform 17">
                <a:extLst>
                  <a:ext uri="{FF2B5EF4-FFF2-40B4-BE49-F238E27FC236}">
                    <a16:creationId xmlns:a16="http://schemas.microsoft.com/office/drawing/2014/main" id="{DC205B69-AA24-D025-6188-FDED209E823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E2DE"/>
              </a:solidFill>
              <a:ln w="38100" cap="sq">
                <a:solidFill>
                  <a:srgbClr val="26303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>
                  <a:solidFill>
                    <a:srgbClr val="263035"/>
                  </a:solidFill>
                </a:endParaRPr>
              </a:p>
            </p:txBody>
          </p:sp>
          <p:sp>
            <p:nvSpPr>
              <p:cNvPr id="25" name="TextBox 18">
                <a:extLst>
                  <a:ext uri="{FF2B5EF4-FFF2-40B4-BE49-F238E27FC236}">
                    <a16:creationId xmlns:a16="http://schemas.microsoft.com/office/drawing/2014/main" id="{1B891DD5-2F01-88C2-46B4-4225FCA9AC71}"/>
                  </a:ext>
                </a:extLst>
              </p:cNvPr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4"/>
                  </a:lnSpc>
                </a:pPr>
                <a:endParaRPr>
                  <a:solidFill>
                    <a:srgbClr val="263035"/>
                  </a:solidFill>
                </a:endParaRPr>
              </a:p>
            </p:txBody>
          </p:sp>
        </p:grpSp>
        <p:pic>
          <p:nvPicPr>
            <p:cNvPr id="11" name="그래픽 10" descr="선형 그래프 단색으로 채워진">
              <a:extLst>
                <a:ext uri="{FF2B5EF4-FFF2-40B4-BE49-F238E27FC236}">
                  <a16:creationId xmlns:a16="http://schemas.microsoft.com/office/drawing/2014/main" id="{C8D9B79C-6428-93F7-EEF9-0BA4FA85A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697285" y="4991100"/>
              <a:ext cx="914400" cy="914400"/>
            </a:xfrm>
            <a:prstGeom prst="rect">
              <a:avLst/>
            </a:prstGeom>
          </p:spPr>
        </p:pic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DAB815-CDD9-55CC-326C-31F16C47244B}"/>
              </a:ext>
            </a:extLst>
          </p:cNvPr>
          <p:cNvGrpSpPr/>
          <p:nvPr/>
        </p:nvGrpSpPr>
        <p:grpSpPr>
          <a:xfrm>
            <a:off x="11409081" y="6832964"/>
            <a:ext cx="1114633" cy="1114633"/>
            <a:chOff x="11010786" y="4968686"/>
            <a:chExt cx="1114633" cy="1114633"/>
          </a:xfrm>
        </p:grpSpPr>
        <p:grpSp>
          <p:nvGrpSpPr>
            <p:cNvPr id="35" name="Group 16">
              <a:extLst>
                <a:ext uri="{FF2B5EF4-FFF2-40B4-BE49-F238E27FC236}">
                  <a16:creationId xmlns:a16="http://schemas.microsoft.com/office/drawing/2014/main" id="{772BE435-2892-F430-80A4-9CA0A0060EB3}"/>
                </a:ext>
              </a:extLst>
            </p:cNvPr>
            <p:cNvGrpSpPr/>
            <p:nvPr/>
          </p:nvGrpSpPr>
          <p:grpSpPr>
            <a:xfrm>
              <a:off x="11010786" y="4968686"/>
              <a:ext cx="1114633" cy="1114633"/>
              <a:chOff x="0" y="0"/>
              <a:chExt cx="812800" cy="812800"/>
            </a:xfrm>
          </p:grpSpPr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B43B97B3-6B7B-FC5F-696E-A6F9DFB12D2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E2DE"/>
              </a:solidFill>
              <a:ln w="38100" cap="sq">
                <a:solidFill>
                  <a:srgbClr val="26303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>
                  <a:solidFill>
                    <a:srgbClr val="263035"/>
                  </a:solidFill>
                </a:endParaRPr>
              </a:p>
            </p:txBody>
          </p:sp>
          <p:sp>
            <p:nvSpPr>
              <p:cNvPr id="37" name="TextBox 18">
                <a:extLst>
                  <a:ext uri="{FF2B5EF4-FFF2-40B4-BE49-F238E27FC236}">
                    <a16:creationId xmlns:a16="http://schemas.microsoft.com/office/drawing/2014/main" id="{9B20DD71-934E-776D-F931-B9B4DF923CF1}"/>
                  </a:ext>
                </a:extLst>
              </p:cNvPr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4"/>
                  </a:lnSpc>
                </a:pPr>
                <a:endParaRPr>
                  <a:solidFill>
                    <a:srgbClr val="263035"/>
                  </a:solidFill>
                </a:endParaRPr>
              </a:p>
            </p:txBody>
          </p:sp>
        </p:grpSp>
        <p:pic>
          <p:nvPicPr>
            <p:cNvPr id="13" name="그래픽 12" descr="의사봉 단색으로 채워진">
              <a:extLst>
                <a:ext uri="{FF2B5EF4-FFF2-40B4-BE49-F238E27FC236}">
                  <a16:creationId xmlns:a16="http://schemas.microsoft.com/office/drawing/2014/main" id="{EB0B41BE-3557-8F45-99F5-4256AA73D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98217" y="4991100"/>
              <a:ext cx="914400" cy="914400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4DC9FBE-3224-0C7A-388F-7400EE952D95}"/>
              </a:ext>
            </a:extLst>
          </p:cNvPr>
          <p:cNvGrpSpPr/>
          <p:nvPr/>
        </p:nvGrpSpPr>
        <p:grpSpPr>
          <a:xfrm>
            <a:off x="14554200" y="6819900"/>
            <a:ext cx="1114633" cy="1114633"/>
            <a:chOff x="7793786" y="7020201"/>
            <a:chExt cx="1114633" cy="1114633"/>
          </a:xfrm>
        </p:grpSpPr>
        <p:grpSp>
          <p:nvGrpSpPr>
            <p:cNvPr id="29" name="Group 16">
              <a:extLst>
                <a:ext uri="{FF2B5EF4-FFF2-40B4-BE49-F238E27FC236}">
                  <a16:creationId xmlns:a16="http://schemas.microsoft.com/office/drawing/2014/main" id="{B1C0370D-A883-049A-5CF7-962D14D2EE7F}"/>
                </a:ext>
              </a:extLst>
            </p:cNvPr>
            <p:cNvGrpSpPr/>
            <p:nvPr/>
          </p:nvGrpSpPr>
          <p:grpSpPr>
            <a:xfrm>
              <a:off x="7793786" y="7020201"/>
              <a:ext cx="1114633" cy="1114633"/>
              <a:chOff x="0" y="0"/>
              <a:chExt cx="812800" cy="812800"/>
            </a:xfrm>
          </p:grpSpPr>
          <p:sp>
            <p:nvSpPr>
              <p:cNvPr id="30" name="Freeform 17">
                <a:extLst>
                  <a:ext uri="{FF2B5EF4-FFF2-40B4-BE49-F238E27FC236}">
                    <a16:creationId xmlns:a16="http://schemas.microsoft.com/office/drawing/2014/main" id="{6D7510B6-448F-A879-3C09-45B76DA11C6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E2DE"/>
              </a:solidFill>
              <a:ln w="38100" cap="sq">
                <a:solidFill>
                  <a:srgbClr val="26303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>
                  <a:solidFill>
                    <a:srgbClr val="263035"/>
                  </a:solidFill>
                </a:endParaRPr>
              </a:p>
            </p:txBody>
          </p:sp>
          <p:sp>
            <p:nvSpPr>
              <p:cNvPr id="31" name="TextBox 18">
                <a:extLst>
                  <a:ext uri="{FF2B5EF4-FFF2-40B4-BE49-F238E27FC236}">
                    <a16:creationId xmlns:a16="http://schemas.microsoft.com/office/drawing/2014/main" id="{5D51C0E1-36F7-C0FD-A6E4-7A5BF65F72EA}"/>
                  </a:ext>
                </a:extLst>
              </p:cNvPr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4"/>
                  </a:lnSpc>
                </a:pPr>
                <a:endParaRPr>
                  <a:solidFill>
                    <a:srgbClr val="263035"/>
                  </a:solidFill>
                </a:endParaRPr>
              </a:p>
            </p:txBody>
          </p:sp>
        </p:grpSp>
        <p:pic>
          <p:nvPicPr>
            <p:cNvPr id="15" name="그래픽 14" descr="대출 단색으로 채워진">
              <a:extLst>
                <a:ext uri="{FF2B5EF4-FFF2-40B4-BE49-F238E27FC236}">
                  <a16:creationId xmlns:a16="http://schemas.microsoft.com/office/drawing/2014/main" id="{67F36C6A-87A1-EC1C-E5FA-15B7305158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893903" y="7124700"/>
              <a:ext cx="914400" cy="914400"/>
            </a:xfrm>
            <a:prstGeom prst="rect">
              <a:avLst/>
            </a:prstGeom>
          </p:spPr>
        </p:pic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04C5F4D-B664-9D2A-A46B-19370069D22D}"/>
              </a:ext>
            </a:extLst>
          </p:cNvPr>
          <p:cNvGrpSpPr/>
          <p:nvPr/>
        </p:nvGrpSpPr>
        <p:grpSpPr>
          <a:xfrm>
            <a:off x="13032584" y="6826432"/>
            <a:ext cx="1114633" cy="1114633"/>
            <a:chOff x="9272483" y="6872183"/>
            <a:chExt cx="1114633" cy="1114633"/>
          </a:xfrm>
        </p:grpSpPr>
        <p:grpSp>
          <p:nvGrpSpPr>
            <p:cNvPr id="26" name="Group 16">
              <a:extLst>
                <a:ext uri="{FF2B5EF4-FFF2-40B4-BE49-F238E27FC236}">
                  <a16:creationId xmlns:a16="http://schemas.microsoft.com/office/drawing/2014/main" id="{6C9FDC97-3363-522B-2E38-84C60FE9AA63}"/>
                </a:ext>
              </a:extLst>
            </p:cNvPr>
            <p:cNvGrpSpPr/>
            <p:nvPr/>
          </p:nvGrpSpPr>
          <p:grpSpPr>
            <a:xfrm>
              <a:off x="9272483" y="6872183"/>
              <a:ext cx="1114633" cy="1114633"/>
              <a:chOff x="0" y="0"/>
              <a:chExt cx="812800" cy="812800"/>
            </a:xfrm>
          </p:grpSpPr>
          <p:sp>
            <p:nvSpPr>
              <p:cNvPr id="27" name="Freeform 17">
                <a:extLst>
                  <a:ext uri="{FF2B5EF4-FFF2-40B4-BE49-F238E27FC236}">
                    <a16:creationId xmlns:a16="http://schemas.microsoft.com/office/drawing/2014/main" id="{48B02FC8-7A8C-5BB9-F9BE-387122CF6B8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E2DE"/>
              </a:solidFill>
              <a:ln w="38100" cap="sq">
                <a:solidFill>
                  <a:srgbClr val="26303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>
                  <a:solidFill>
                    <a:srgbClr val="263035"/>
                  </a:solidFill>
                </a:endParaRPr>
              </a:p>
            </p:txBody>
          </p:sp>
          <p:sp>
            <p:nvSpPr>
              <p:cNvPr id="28" name="TextBox 18">
                <a:extLst>
                  <a:ext uri="{FF2B5EF4-FFF2-40B4-BE49-F238E27FC236}">
                    <a16:creationId xmlns:a16="http://schemas.microsoft.com/office/drawing/2014/main" id="{2DAA86D2-5AF6-4EF0-AA40-DC83AD901563}"/>
                  </a:ext>
                </a:extLst>
              </p:cNvPr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4"/>
                  </a:lnSpc>
                </a:pPr>
                <a:endParaRPr>
                  <a:solidFill>
                    <a:srgbClr val="263035"/>
                  </a:solidFill>
                </a:endParaRPr>
              </a:p>
            </p:txBody>
          </p:sp>
        </p:grpSp>
        <p:pic>
          <p:nvPicPr>
            <p:cNvPr id="17" name="그래픽 16" descr="기호 단색으로 채워진">
              <a:extLst>
                <a:ext uri="{FF2B5EF4-FFF2-40B4-BE49-F238E27FC236}">
                  <a16:creationId xmlns:a16="http://schemas.microsoft.com/office/drawing/2014/main" id="{A15C1CAE-E798-BEFD-B91F-CE2424E27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372600" y="6972300"/>
              <a:ext cx="914400" cy="914400"/>
            </a:xfrm>
            <a:prstGeom prst="rect">
              <a:avLst/>
            </a:prstGeom>
          </p:spPr>
        </p:pic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430A0F4-C4E5-0853-1FE6-3C3A0F22B7B9}"/>
              </a:ext>
            </a:extLst>
          </p:cNvPr>
          <p:cNvGrpSpPr/>
          <p:nvPr/>
        </p:nvGrpSpPr>
        <p:grpSpPr>
          <a:xfrm>
            <a:off x="8162075" y="6832964"/>
            <a:ext cx="1114633" cy="1114633"/>
            <a:chOff x="7815450" y="5696584"/>
            <a:chExt cx="1114633" cy="1114633"/>
          </a:xfrm>
        </p:grpSpPr>
        <p:grpSp>
          <p:nvGrpSpPr>
            <p:cNvPr id="32" name="Group 16">
              <a:extLst>
                <a:ext uri="{FF2B5EF4-FFF2-40B4-BE49-F238E27FC236}">
                  <a16:creationId xmlns:a16="http://schemas.microsoft.com/office/drawing/2014/main" id="{39287541-38D7-0220-9105-CF29BAC6F2F2}"/>
                </a:ext>
              </a:extLst>
            </p:cNvPr>
            <p:cNvGrpSpPr/>
            <p:nvPr/>
          </p:nvGrpSpPr>
          <p:grpSpPr>
            <a:xfrm>
              <a:off x="7815450" y="5696584"/>
              <a:ext cx="1114633" cy="1114633"/>
              <a:chOff x="0" y="0"/>
              <a:chExt cx="812800" cy="812800"/>
            </a:xfrm>
          </p:grpSpPr>
          <p:sp>
            <p:nvSpPr>
              <p:cNvPr id="33" name="Freeform 17">
                <a:extLst>
                  <a:ext uri="{FF2B5EF4-FFF2-40B4-BE49-F238E27FC236}">
                    <a16:creationId xmlns:a16="http://schemas.microsoft.com/office/drawing/2014/main" id="{B2E624F0-25F6-0221-2BBE-84A148B9EB6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E2DE"/>
              </a:solidFill>
              <a:ln w="38100" cap="sq">
                <a:solidFill>
                  <a:srgbClr val="26303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>
                  <a:solidFill>
                    <a:srgbClr val="263035"/>
                  </a:solidFill>
                </a:endParaRPr>
              </a:p>
            </p:txBody>
          </p:sp>
          <p:sp>
            <p:nvSpPr>
              <p:cNvPr id="34" name="TextBox 18">
                <a:extLst>
                  <a:ext uri="{FF2B5EF4-FFF2-40B4-BE49-F238E27FC236}">
                    <a16:creationId xmlns:a16="http://schemas.microsoft.com/office/drawing/2014/main" id="{CDC021C2-8F19-3E73-D3F7-998C522593EB}"/>
                  </a:ext>
                </a:extLst>
              </p:cNvPr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84"/>
                  </a:lnSpc>
                </a:pPr>
                <a:endParaRPr>
                  <a:solidFill>
                    <a:srgbClr val="263035"/>
                  </a:solidFill>
                </a:endParaRPr>
              </a:p>
            </p:txBody>
          </p:sp>
        </p:grpSp>
        <p:pic>
          <p:nvPicPr>
            <p:cNvPr id="19" name="그래픽 18" descr="사이렌 단색으로 채워진">
              <a:extLst>
                <a:ext uri="{FF2B5EF4-FFF2-40B4-BE49-F238E27FC236}">
                  <a16:creationId xmlns:a16="http://schemas.microsoft.com/office/drawing/2014/main" id="{94CA09AF-6F35-A60B-DD63-750EF0B54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924800" y="5726171"/>
              <a:ext cx="914400" cy="914400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B2232C72-3DB1-4A07-08B8-30C4996FEE11}"/>
              </a:ext>
            </a:extLst>
          </p:cNvPr>
          <p:cNvSpPr txBox="1"/>
          <p:nvPr/>
        </p:nvSpPr>
        <p:spPr>
          <a:xfrm>
            <a:off x="6248400" y="2571571"/>
            <a:ext cx="105781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'</a:t>
            </a:r>
            <a:r>
              <a:rPr lang="ko-KR" altLang="en-US" sz="24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공유하다</a:t>
            </a:r>
            <a:r>
              <a:rPr lang="en-US" altLang="ko-KR" sz="24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'</a:t>
            </a:r>
            <a:r>
              <a:rPr lang="ko-KR" altLang="en-US" sz="24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와 </a:t>
            </a:r>
            <a:r>
              <a:rPr lang="en-US" altLang="ko-KR" sz="24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'</a:t>
            </a:r>
            <a:r>
              <a:rPr lang="ko-KR" altLang="en-US" sz="24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이야기</a:t>
            </a:r>
            <a:r>
              <a:rPr lang="en-US" altLang="ko-KR" sz="24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'</a:t>
            </a:r>
            <a:r>
              <a:rPr lang="ko-KR" altLang="en-US" sz="24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를 결합한 단어</a:t>
            </a:r>
            <a:endParaRPr lang="en-US" altLang="ko-KR" sz="24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ko-KR" altLang="en-US" sz="24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 플랫폼은 중고 물품 거래를 넘어</a:t>
            </a:r>
            <a:r>
              <a:rPr lang="en-US" altLang="ko-KR" sz="24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24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각 물건에 담긴 사용자의 이야기를</a:t>
            </a:r>
            <a:endParaRPr lang="en-US" altLang="ko-KR" sz="24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ko-KR" altLang="en-US" sz="24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공유함으로써</a:t>
            </a:r>
            <a:r>
              <a:rPr lang="en-US" altLang="ko-KR" sz="24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24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단순한 거래가 아닌 감성적이고 의미 있는 경험을 제공</a:t>
            </a:r>
            <a:endParaRPr lang="en-US" altLang="ko-KR" sz="24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1620922-D464-DBCC-069A-CB0CD955398D}"/>
              </a:ext>
            </a:extLst>
          </p:cNvPr>
          <p:cNvSpPr/>
          <p:nvPr/>
        </p:nvSpPr>
        <p:spPr>
          <a:xfrm>
            <a:off x="1295400" y="2799959"/>
            <a:ext cx="872002" cy="872002"/>
          </a:xfrm>
          <a:prstGeom prst="ellipse">
            <a:avLst/>
          </a:prstGeom>
          <a:solidFill>
            <a:srgbClr val="F6E266"/>
          </a:solidFill>
          <a:ln w="101600">
            <a:noFill/>
          </a:ln>
          <a:scene3d>
            <a:camera prst="perspectiveLeft"/>
            <a:lightRig rig="flat" dir="t"/>
          </a:scene3d>
          <a:sp3d extrusionH="381000" contourW="44450">
            <a:extrusionClr>
              <a:srgbClr val="F1D333"/>
            </a:extrusionClr>
            <a:contourClr>
              <a:schemeClr val="tx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294B915-6914-3D8C-8FFC-A142BC0F65C4}"/>
              </a:ext>
            </a:extLst>
          </p:cNvPr>
          <p:cNvGrpSpPr/>
          <p:nvPr/>
        </p:nvGrpSpPr>
        <p:grpSpPr>
          <a:xfrm>
            <a:off x="1497998" y="2977604"/>
            <a:ext cx="535690" cy="505286"/>
            <a:chOff x="4542180" y="798099"/>
            <a:chExt cx="994160" cy="937735"/>
          </a:xfrm>
        </p:grpSpPr>
        <p:pic>
          <p:nvPicPr>
            <p:cNvPr id="12" name="Picture 2" descr="My Letter S Personal 포스터">
              <a:extLst>
                <a:ext uri="{FF2B5EF4-FFF2-40B4-BE49-F238E27FC236}">
                  <a16:creationId xmlns:a16="http://schemas.microsoft.com/office/drawing/2014/main" id="{3700A6E1-A737-58F3-70F7-630A83204F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 cstate="print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8133" b="74800" l="9888" r="89925">
                          <a14:foregroundMark x1="48507" y1="74800" x2="48507" y2="748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37" t="15053" r="29737" b="23660"/>
            <a:stretch/>
          </p:blipFill>
          <p:spPr bwMode="auto">
            <a:xfrm>
              <a:off x="4542180" y="798099"/>
              <a:ext cx="589765" cy="937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My Letter S Personal 포스터">
              <a:extLst>
                <a:ext uri="{FF2B5EF4-FFF2-40B4-BE49-F238E27FC236}">
                  <a16:creationId xmlns:a16="http://schemas.microsoft.com/office/drawing/2014/main" id="{E1183DC2-AACB-1612-CD10-499D3BC44AB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 cstate="print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8133" b="74800" l="9888" r="89925">
                          <a14:foregroundMark x1="48507" y1="74800" x2="48507" y2="748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37" t="15053" r="29737" b="23660"/>
            <a:stretch/>
          </p:blipFill>
          <p:spPr bwMode="auto">
            <a:xfrm>
              <a:off x="4946575" y="798099"/>
              <a:ext cx="589765" cy="937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3E562F4-3B83-5F9C-FE47-5A6B185A0A96}"/>
              </a:ext>
            </a:extLst>
          </p:cNvPr>
          <p:cNvSpPr txBox="1"/>
          <p:nvPr/>
        </p:nvSpPr>
        <p:spPr>
          <a:xfrm>
            <a:off x="2359955" y="2810186"/>
            <a:ext cx="31337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ShareStory</a:t>
            </a:r>
            <a:endParaRPr lang="ko-KR" altLang="en-US" sz="4000" b="1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3740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E68EC-0895-2F6F-0ACF-0B21F79C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EF9ADBBD-36A8-2727-B70F-6D9EC350AA5D}"/>
              </a:ext>
            </a:extLst>
          </p:cNvPr>
          <p:cNvSpPr/>
          <p:nvPr/>
        </p:nvSpPr>
        <p:spPr>
          <a:xfrm>
            <a:off x="1058920" y="1943100"/>
            <a:ext cx="846080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050" dirty="0"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9869580-11EF-7DB4-71D9-67F34BE81A0E}"/>
              </a:ext>
            </a:extLst>
          </p:cNvPr>
          <p:cNvSpPr/>
          <p:nvPr/>
        </p:nvSpPr>
        <p:spPr>
          <a:xfrm>
            <a:off x="2362200" y="3363396"/>
            <a:ext cx="4286250" cy="4114800"/>
          </a:xfrm>
          <a:custGeom>
            <a:avLst/>
            <a:gdLst/>
            <a:ahLst/>
            <a:cxnLst/>
            <a:rect l="l" t="t" r="r" b="b"/>
            <a:pathLst>
              <a:path w="4286250" h="4114800">
                <a:moveTo>
                  <a:pt x="0" y="0"/>
                </a:moveTo>
                <a:lnTo>
                  <a:pt x="4286250" y="0"/>
                </a:lnTo>
                <a:lnTo>
                  <a:pt x="42862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>
              <a:solidFill>
                <a:srgbClr val="26303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5877B0-F783-1115-87FD-2D3E4159BD27}"/>
              </a:ext>
            </a:extLst>
          </p:cNvPr>
          <p:cNvSpPr txBox="1"/>
          <p:nvPr/>
        </p:nvSpPr>
        <p:spPr>
          <a:xfrm>
            <a:off x="990600" y="1112103"/>
            <a:ext cx="784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01 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프로젝트 목표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37D3D6-AD58-9B9C-1A78-DABA52713805}"/>
              </a:ext>
            </a:extLst>
          </p:cNvPr>
          <p:cNvSpPr txBox="1"/>
          <p:nvPr/>
        </p:nvSpPr>
        <p:spPr>
          <a:xfrm>
            <a:off x="7315200" y="3872448"/>
            <a:ext cx="8153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buAutoNum type="arabicPeriod"/>
            </a:pPr>
            <a:r>
              <a:rPr lang="ko-KR" altLang="en-US" sz="4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맑은 고딕 Semilight" panose="020B0502040204020203" pitchFamily="50" charset="-127"/>
              </a:rPr>
              <a:t>중고거래 사이트의 기능 구현</a:t>
            </a:r>
            <a:endParaRPr lang="en-US" altLang="ko-KR" sz="4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맑은 고딕 Semilight" panose="020B0502040204020203" pitchFamily="50" charset="-127"/>
            </a:endParaRPr>
          </a:p>
          <a:p>
            <a:pPr marL="1143000" indent="-1143000">
              <a:buAutoNum type="arabicPeriod"/>
            </a:pPr>
            <a:endParaRPr lang="en-US" altLang="ko-KR" sz="4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맑은 고딕 Semilight" panose="020B0502040204020203" pitchFamily="50" charset="-127"/>
            </a:endParaRPr>
          </a:p>
          <a:p>
            <a:pPr marL="1143000" indent="-1143000">
              <a:buAutoNum type="arabicPeriod"/>
            </a:pPr>
            <a:r>
              <a:rPr lang="ko-KR" altLang="en-US" sz="4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맑은 고딕 Semilight" panose="020B0502040204020203" pitchFamily="50" charset="-127"/>
              </a:rPr>
              <a:t>커뮤니티 사이트의 기능 구현</a:t>
            </a:r>
            <a:endParaRPr lang="en-US" altLang="ko-KR" sz="4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맑은 고딕 Semilight" panose="020B0502040204020203" pitchFamily="50" charset="-127"/>
            </a:endParaRPr>
          </a:p>
          <a:p>
            <a:pPr marL="1143000" indent="-1143000">
              <a:buAutoNum type="arabicPeriod"/>
            </a:pPr>
            <a:endParaRPr lang="en-US" altLang="ko-KR" sz="4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맑은 고딕 Semilight" panose="020B0502040204020203" pitchFamily="50" charset="-127"/>
            </a:endParaRPr>
          </a:p>
          <a:p>
            <a:pPr marL="1143000" indent="-1143000">
              <a:buAutoNum type="arabicPeriod"/>
            </a:pPr>
            <a:r>
              <a:rPr lang="ko-KR" altLang="en-US" sz="4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맑은 고딕 Semilight" panose="020B0502040204020203" pitchFamily="50" charset="-127"/>
              </a:rPr>
              <a:t>물품 경매 시스템 기능 구현</a:t>
            </a:r>
            <a:endParaRPr lang="en-US" altLang="ko-KR" sz="4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B0600000101010101" charset="-127"/>
              <a:ea typeface="HY동녘B" panose="020B0600000101010101" charset="-127"/>
              <a:cs typeface="맑은 고딕 Semilight" panose="020B0502040204020203" pitchFamily="50" charset="-127"/>
            </a:endParaRPr>
          </a:p>
          <a:p>
            <a:endParaRPr lang="en-US" altLang="ko-KR" sz="4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B0600000101010101" charset="-127"/>
              <a:ea typeface="HY동녘B" panose="020B0600000101010101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8421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2E1D8-B66F-1C16-3760-F38299A1B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46BB425E-FF1D-119E-DB22-CFFC1E183CD1}"/>
              </a:ext>
            </a:extLst>
          </p:cNvPr>
          <p:cNvSpPr/>
          <p:nvPr/>
        </p:nvSpPr>
        <p:spPr>
          <a:xfrm>
            <a:off x="1058920" y="1943100"/>
            <a:ext cx="846080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05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907763-2F14-3A6A-8FE8-07180AC43E09}"/>
              </a:ext>
            </a:extLst>
          </p:cNvPr>
          <p:cNvSpPr txBox="1"/>
          <p:nvPr/>
        </p:nvSpPr>
        <p:spPr>
          <a:xfrm>
            <a:off x="990600" y="1112103"/>
            <a:ext cx="784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01 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프로젝트 목표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82AE06-CA54-F690-BFC1-20E6840A50CF}"/>
              </a:ext>
            </a:extLst>
          </p:cNvPr>
          <p:cNvSpPr txBox="1"/>
          <p:nvPr/>
        </p:nvSpPr>
        <p:spPr>
          <a:xfrm>
            <a:off x="1905000" y="2705100"/>
            <a:ext cx="14249400" cy="5904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lnSpc>
                <a:spcPct val="120000"/>
              </a:lnSpc>
              <a:buAutoNum type="arabicPeriod"/>
            </a:pPr>
            <a:r>
              <a:rPr lang="ko-KR" altLang="en-US" sz="4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맑은 고딕 Semilight" panose="020B0502040204020203" pitchFamily="50" charset="-127"/>
              </a:rPr>
              <a:t>경매 시스템과 커뮤니티 기능을 활용하면 사용자의 참여도와 신뢰도를 높일 수 있음</a:t>
            </a:r>
            <a:r>
              <a:rPr lang="en-US" altLang="ko-KR" sz="4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맑은 고딕 Semilight" panose="020B0502040204020203" pitchFamily="50" charset="-127"/>
              </a:rPr>
              <a:t>.  </a:t>
            </a:r>
            <a:r>
              <a:rPr lang="ko-KR" altLang="en-US" sz="4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맑은 고딕 Semilight" panose="020B0502040204020203" pitchFamily="50" charset="-127"/>
              </a:rPr>
              <a:t>재방문율 증가</a:t>
            </a:r>
            <a:endParaRPr lang="en-US" altLang="ko-KR" sz="4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맑은 고딕 Semilight" panose="020B0502040204020203" pitchFamily="50" charset="-127"/>
            </a:endParaRPr>
          </a:p>
          <a:p>
            <a:pPr marL="1143000" indent="-1143000">
              <a:lnSpc>
                <a:spcPct val="120000"/>
              </a:lnSpc>
              <a:buAutoNum type="arabicPeriod"/>
            </a:pPr>
            <a:endParaRPr lang="en-US" altLang="ko-KR" sz="4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맑은 고딕 Semilight" panose="020B0502040204020203" pitchFamily="50" charset="-127"/>
            </a:endParaRPr>
          </a:p>
          <a:p>
            <a:pPr marL="1143000" indent="-1143000">
              <a:lnSpc>
                <a:spcPct val="120000"/>
              </a:lnSpc>
              <a:buAutoNum type="arabicPeriod"/>
            </a:pPr>
            <a:r>
              <a:rPr lang="ko-KR" altLang="en-US" sz="4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경매 시스템을 통해 가격 흥정 과정을 손쉽게 바꿔 다른 중고 거래 플랫폼과 차별성을 높일 수 있음</a:t>
            </a:r>
            <a:r>
              <a:rPr lang="en-US" altLang="ko-KR" sz="4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</a:p>
          <a:p>
            <a:pPr marL="1143000" indent="-1143000">
              <a:lnSpc>
                <a:spcPct val="120000"/>
              </a:lnSpc>
              <a:buAutoNum type="arabicPeriod"/>
            </a:pPr>
            <a:endParaRPr lang="en-US" altLang="ko-KR" sz="4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맑은 고딕 Semilight" panose="020B0502040204020203" pitchFamily="50" charset="-127"/>
            </a:endParaRPr>
          </a:p>
          <a:p>
            <a:pPr marL="1143000" indent="-1143000">
              <a:lnSpc>
                <a:spcPct val="120000"/>
              </a:lnSpc>
              <a:buFontTx/>
              <a:buAutoNum type="arabicPeriod"/>
            </a:pPr>
            <a:r>
              <a:rPr lang="ko-KR" altLang="en-US" sz="4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중고 거래 활성화로 자원의 재사용과 낭비를 줄여 합리적인 소비를 촉진가능</a:t>
            </a:r>
            <a:r>
              <a:rPr lang="en-US" altLang="ko-KR" sz="4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en-US" altLang="ko-KR" sz="4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B0600000101010101" charset="-127"/>
              <a:ea typeface="HY동녘B" panose="020B0600000101010101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7722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2A1B3-C44A-C7EB-971C-C7620A29F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B3564559-7791-A0A9-EFEE-AB7EF944F4BF}"/>
              </a:ext>
            </a:extLst>
          </p:cNvPr>
          <p:cNvSpPr/>
          <p:nvPr/>
        </p:nvSpPr>
        <p:spPr>
          <a:xfrm>
            <a:off x="1058920" y="1943100"/>
            <a:ext cx="846080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050" dirty="0"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58EE52F-28DE-F580-043D-1A900FF69EE0}"/>
              </a:ext>
            </a:extLst>
          </p:cNvPr>
          <p:cNvSpPr/>
          <p:nvPr/>
        </p:nvSpPr>
        <p:spPr>
          <a:xfrm>
            <a:off x="1219200" y="3496056"/>
            <a:ext cx="4286250" cy="4114800"/>
          </a:xfrm>
          <a:custGeom>
            <a:avLst/>
            <a:gdLst/>
            <a:ahLst/>
            <a:cxnLst/>
            <a:rect l="l" t="t" r="r" b="b"/>
            <a:pathLst>
              <a:path w="4286250" h="4114800">
                <a:moveTo>
                  <a:pt x="0" y="0"/>
                </a:moveTo>
                <a:lnTo>
                  <a:pt x="4286250" y="0"/>
                </a:lnTo>
                <a:lnTo>
                  <a:pt x="42862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871F2E-EF5B-0EB1-9726-6983DCF527B3}"/>
              </a:ext>
            </a:extLst>
          </p:cNvPr>
          <p:cNvSpPr txBox="1"/>
          <p:nvPr/>
        </p:nvSpPr>
        <p:spPr>
          <a:xfrm>
            <a:off x="990600" y="1112103"/>
            <a:ext cx="7277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02 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개발 동기 및 필요성</a:t>
            </a:r>
            <a:endParaRPr lang="en-US" altLang="ko-KR" sz="48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084326-94F2-5E71-EB03-CD5CF1490E01}"/>
              </a:ext>
            </a:extLst>
          </p:cNvPr>
          <p:cNvSpPr txBox="1"/>
          <p:nvPr/>
        </p:nvSpPr>
        <p:spPr>
          <a:xfrm>
            <a:off x="6248400" y="3467100"/>
            <a:ext cx="11125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buFontTx/>
              <a:buAutoNum type="arabicPeriod"/>
            </a:pPr>
            <a:r>
              <a:rPr lang="en-US" altLang="ko-KR" sz="36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2025</a:t>
            </a:r>
            <a:r>
              <a:rPr lang="ko-KR" altLang="en-US" sz="36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물가상승으로 인한 중고거래량 증가</a:t>
            </a:r>
            <a:endParaRPr lang="en-US" altLang="ko-KR" sz="36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143000" indent="-1143000">
              <a:buAutoNum type="arabicPeriod"/>
            </a:pPr>
            <a:endParaRPr lang="en-US" altLang="ko-KR" sz="36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143000" indent="-1143000">
              <a:buAutoNum type="arabicPeriod"/>
            </a:pPr>
            <a:r>
              <a:rPr lang="ko-KR" altLang="en-US" sz="36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신뢰성 있는 정보와 물품 구매 플랫폼의 필요성</a:t>
            </a:r>
            <a:endParaRPr lang="en-US" altLang="ko-KR" sz="36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143000" indent="-1143000">
              <a:buAutoNum type="arabicPeriod"/>
            </a:pPr>
            <a:endParaRPr lang="en-US" altLang="ko-KR" sz="36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143000" indent="-1143000">
              <a:buAutoNum type="arabicPeriod"/>
            </a:pPr>
            <a:r>
              <a:rPr lang="ko-KR" altLang="en-US" sz="36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소비자의 흥미를 이끌 수 있는 경매시스템</a:t>
            </a:r>
            <a:endParaRPr lang="en-US" altLang="ko-KR" sz="36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143000" indent="-1143000">
              <a:buAutoNum type="arabicPeriod"/>
            </a:pPr>
            <a:endParaRPr lang="en-US" altLang="ko-KR" sz="36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143000" indent="-1143000">
              <a:buAutoNum type="arabicPeriod"/>
            </a:pPr>
            <a:r>
              <a:rPr lang="ko-KR" altLang="en-US" sz="36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사이트의 활발한 교류를 위한 커뮤니티 시스템</a:t>
            </a:r>
            <a:endParaRPr lang="en-US" altLang="ko-KR" sz="36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endParaRPr lang="en-US" altLang="ko-KR" sz="36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0401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3D061-7235-6998-4CBC-9367E1BD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E033EFD4-DCFC-A6B5-4C0D-51801C3C6E55}"/>
              </a:ext>
            </a:extLst>
          </p:cNvPr>
          <p:cNvSpPr/>
          <p:nvPr/>
        </p:nvSpPr>
        <p:spPr>
          <a:xfrm>
            <a:off x="1058920" y="1943100"/>
            <a:ext cx="846080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05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828D67-4B72-DC99-2752-0DB09B9B0782}"/>
              </a:ext>
            </a:extLst>
          </p:cNvPr>
          <p:cNvSpPr txBox="1"/>
          <p:nvPr/>
        </p:nvSpPr>
        <p:spPr>
          <a:xfrm>
            <a:off x="990600" y="1112103"/>
            <a:ext cx="784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03 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사용자 특성</a:t>
            </a: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55F04D2D-4366-AAC4-0118-651E342EA493}"/>
              </a:ext>
            </a:extLst>
          </p:cNvPr>
          <p:cNvSpPr/>
          <p:nvPr/>
        </p:nvSpPr>
        <p:spPr>
          <a:xfrm>
            <a:off x="4062111" y="3087793"/>
            <a:ext cx="10965835" cy="734188"/>
          </a:xfrm>
          <a:custGeom>
            <a:avLst/>
            <a:gdLst/>
            <a:ahLst/>
            <a:cxnLst/>
            <a:rect l="l" t="t" r="r" b="b"/>
            <a:pathLst>
              <a:path w="1282347" h="1187306">
                <a:moveTo>
                  <a:pt x="31801" y="0"/>
                </a:moveTo>
                <a:lnTo>
                  <a:pt x="1250546" y="0"/>
                </a:lnTo>
                <a:cubicBezTo>
                  <a:pt x="1258980" y="0"/>
                  <a:pt x="1267069" y="3350"/>
                  <a:pt x="1273033" y="9314"/>
                </a:cubicBezTo>
                <a:cubicBezTo>
                  <a:pt x="1278997" y="15278"/>
                  <a:pt x="1282347" y="23367"/>
                  <a:pt x="1282347" y="31801"/>
                </a:cubicBezTo>
                <a:lnTo>
                  <a:pt x="1282347" y="1155505"/>
                </a:lnTo>
                <a:cubicBezTo>
                  <a:pt x="1282347" y="1173068"/>
                  <a:pt x="1268109" y="1187306"/>
                  <a:pt x="1250546" y="1187306"/>
                </a:cubicBezTo>
                <a:lnTo>
                  <a:pt x="31801" y="1187306"/>
                </a:lnTo>
                <a:cubicBezTo>
                  <a:pt x="14238" y="1187306"/>
                  <a:pt x="0" y="1173068"/>
                  <a:pt x="0" y="1155505"/>
                </a:cubicBezTo>
                <a:lnTo>
                  <a:pt x="0" y="31801"/>
                </a:lnTo>
                <a:cubicBezTo>
                  <a:pt x="0" y="14238"/>
                  <a:pt x="14238" y="0"/>
                  <a:pt x="318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263035"/>
            </a:solidFill>
            <a:prstDash val="solid"/>
            <a:miter/>
          </a:ln>
        </p:spPr>
        <p:txBody>
          <a:bodyPr anchor="ctr"/>
          <a:lstStyle/>
          <a:p>
            <a:r>
              <a:rPr lang="ko-KR" altLang="en-US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소비자 </a:t>
            </a:r>
            <a:r>
              <a:rPr lang="en-US" altLang="ko-KR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합리적인 가격에 중고물품 거래를 하고싶어요</a:t>
            </a:r>
            <a:r>
              <a:rPr lang="en-US" altLang="ko-KR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32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F4D29-5E84-BECE-7EFF-AE07757F8C46}"/>
              </a:ext>
            </a:extLst>
          </p:cNvPr>
          <p:cNvSpPr txBox="1"/>
          <p:nvPr/>
        </p:nvSpPr>
        <p:spPr>
          <a:xfrm>
            <a:off x="4121765" y="3178712"/>
            <a:ext cx="10965835" cy="74007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>
              <a:lnSpc>
                <a:spcPts val="2684"/>
              </a:lnSpc>
            </a:pPr>
            <a:endParaRPr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BF84ECB1-BEF0-A8CE-5BBB-AAEE5F21CA47}"/>
              </a:ext>
            </a:extLst>
          </p:cNvPr>
          <p:cNvSpPr/>
          <p:nvPr/>
        </p:nvSpPr>
        <p:spPr>
          <a:xfrm>
            <a:off x="4062112" y="4122806"/>
            <a:ext cx="10965834" cy="734188"/>
          </a:xfrm>
          <a:custGeom>
            <a:avLst/>
            <a:gdLst/>
            <a:ahLst/>
            <a:cxnLst/>
            <a:rect l="l" t="t" r="r" b="b"/>
            <a:pathLst>
              <a:path w="1282347" h="1187306">
                <a:moveTo>
                  <a:pt x="31801" y="0"/>
                </a:moveTo>
                <a:lnTo>
                  <a:pt x="1250546" y="0"/>
                </a:lnTo>
                <a:cubicBezTo>
                  <a:pt x="1258980" y="0"/>
                  <a:pt x="1267069" y="3350"/>
                  <a:pt x="1273033" y="9314"/>
                </a:cubicBezTo>
                <a:cubicBezTo>
                  <a:pt x="1278997" y="15278"/>
                  <a:pt x="1282347" y="23367"/>
                  <a:pt x="1282347" y="31801"/>
                </a:cubicBezTo>
                <a:lnTo>
                  <a:pt x="1282347" y="1155505"/>
                </a:lnTo>
                <a:cubicBezTo>
                  <a:pt x="1282347" y="1173068"/>
                  <a:pt x="1268109" y="1187306"/>
                  <a:pt x="1250546" y="1187306"/>
                </a:cubicBezTo>
                <a:lnTo>
                  <a:pt x="31801" y="1187306"/>
                </a:lnTo>
                <a:cubicBezTo>
                  <a:pt x="14238" y="1187306"/>
                  <a:pt x="0" y="1173068"/>
                  <a:pt x="0" y="1155505"/>
                </a:cubicBezTo>
                <a:lnTo>
                  <a:pt x="0" y="31801"/>
                </a:lnTo>
                <a:cubicBezTo>
                  <a:pt x="0" y="14238"/>
                  <a:pt x="14238" y="0"/>
                  <a:pt x="318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263035"/>
            </a:solidFill>
            <a:prstDash val="solid"/>
            <a:miter/>
          </a:ln>
        </p:spPr>
        <p:txBody>
          <a:bodyPr anchor="ctr"/>
          <a:lstStyle/>
          <a:p>
            <a:r>
              <a:rPr lang="ko-KR" altLang="en-US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소비자 </a:t>
            </a:r>
            <a:r>
              <a:rPr lang="en-US" altLang="ko-KR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믿을 수 있는 판매자에게 상품을 구매하고 싶어요</a:t>
            </a:r>
            <a:r>
              <a:rPr lang="en-US" altLang="ko-KR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32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D3AE9-CEE4-5C11-8E63-DD274D397802}"/>
              </a:ext>
            </a:extLst>
          </p:cNvPr>
          <p:cNvSpPr txBox="1"/>
          <p:nvPr/>
        </p:nvSpPr>
        <p:spPr>
          <a:xfrm>
            <a:off x="4121766" y="4213725"/>
            <a:ext cx="10965834" cy="74007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>
              <a:lnSpc>
                <a:spcPts val="2684"/>
              </a:lnSpc>
            </a:pPr>
            <a:endParaRPr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7FBF61F4-53F2-4AD8-E13F-EAE35698225C}"/>
              </a:ext>
            </a:extLst>
          </p:cNvPr>
          <p:cNvSpPr/>
          <p:nvPr/>
        </p:nvSpPr>
        <p:spPr>
          <a:xfrm>
            <a:off x="4062112" y="5151929"/>
            <a:ext cx="10965834" cy="734188"/>
          </a:xfrm>
          <a:custGeom>
            <a:avLst/>
            <a:gdLst/>
            <a:ahLst/>
            <a:cxnLst/>
            <a:rect l="l" t="t" r="r" b="b"/>
            <a:pathLst>
              <a:path w="1282347" h="1187306">
                <a:moveTo>
                  <a:pt x="31801" y="0"/>
                </a:moveTo>
                <a:lnTo>
                  <a:pt x="1250546" y="0"/>
                </a:lnTo>
                <a:cubicBezTo>
                  <a:pt x="1258980" y="0"/>
                  <a:pt x="1267069" y="3350"/>
                  <a:pt x="1273033" y="9314"/>
                </a:cubicBezTo>
                <a:cubicBezTo>
                  <a:pt x="1278997" y="15278"/>
                  <a:pt x="1282347" y="23367"/>
                  <a:pt x="1282347" y="31801"/>
                </a:cubicBezTo>
                <a:lnTo>
                  <a:pt x="1282347" y="1155505"/>
                </a:lnTo>
                <a:cubicBezTo>
                  <a:pt x="1282347" y="1173068"/>
                  <a:pt x="1268109" y="1187306"/>
                  <a:pt x="1250546" y="1187306"/>
                </a:cubicBezTo>
                <a:lnTo>
                  <a:pt x="31801" y="1187306"/>
                </a:lnTo>
                <a:cubicBezTo>
                  <a:pt x="14238" y="1187306"/>
                  <a:pt x="0" y="1173068"/>
                  <a:pt x="0" y="1155505"/>
                </a:cubicBezTo>
                <a:lnTo>
                  <a:pt x="0" y="31801"/>
                </a:lnTo>
                <a:cubicBezTo>
                  <a:pt x="0" y="14238"/>
                  <a:pt x="14238" y="0"/>
                  <a:pt x="318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263035"/>
            </a:solidFill>
            <a:prstDash val="solid"/>
            <a:miter/>
          </a:ln>
        </p:spPr>
        <p:txBody>
          <a:bodyPr anchor="ctr"/>
          <a:lstStyle/>
          <a:p>
            <a:r>
              <a:rPr lang="ko-KR" altLang="en-US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소비자 </a:t>
            </a:r>
            <a:r>
              <a:rPr lang="en-US" altLang="ko-KR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즐겁고 재미있게 상품을 구매하고 싶어요</a:t>
            </a:r>
            <a:r>
              <a:rPr lang="en-US" altLang="ko-KR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32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39D4D4-ADF2-823F-E938-489148F6FD72}"/>
              </a:ext>
            </a:extLst>
          </p:cNvPr>
          <p:cNvSpPr txBox="1"/>
          <p:nvPr/>
        </p:nvSpPr>
        <p:spPr>
          <a:xfrm>
            <a:off x="4121766" y="5242848"/>
            <a:ext cx="10965834" cy="74007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>
              <a:lnSpc>
                <a:spcPts val="2684"/>
              </a:lnSpc>
            </a:pPr>
            <a:endParaRPr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C311011C-5469-97FE-A63E-4B45F066B466}"/>
              </a:ext>
            </a:extLst>
          </p:cNvPr>
          <p:cNvSpPr/>
          <p:nvPr/>
        </p:nvSpPr>
        <p:spPr>
          <a:xfrm>
            <a:off x="4052586" y="6133787"/>
            <a:ext cx="10965834" cy="734188"/>
          </a:xfrm>
          <a:custGeom>
            <a:avLst/>
            <a:gdLst/>
            <a:ahLst/>
            <a:cxnLst/>
            <a:rect l="l" t="t" r="r" b="b"/>
            <a:pathLst>
              <a:path w="1282347" h="1187306">
                <a:moveTo>
                  <a:pt x="31801" y="0"/>
                </a:moveTo>
                <a:lnTo>
                  <a:pt x="1250546" y="0"/>
                </a:lnTo>
                <a:cubicBezTo>
                  <a:pt x="1258980" y="0"/>
                  <a:pt x="1267069" y="3350"/>
                  <a:pt x="1273033" y="9314"/>
                </a:cubicBezTo>
                <a:cubicBezTo>
                  <a:pt x="1278997" y="15278"/>
                  <a:pt x="1282347" y="23367"/>
                  <a:pt x="1282347" y="31801"/>
                </a:cubicBezTo>
                <a:lnTo>
                  <a:pt x="1282347" y="1155505"/>
                </a:lnTo>
                <a:cubicBezTo>
                  <a:pt x="1282347" y="1173068"/>
                  <a:pt x="1268109" y="1187306"/>
                  <a:pt x="1250546" y="1187306"/>
                </a:cubicBezTo>
                <a:lnTo>
                  <a:pt x="31801" y="1187306"/>
                </a:lnTo>
                <a:cubicBezTo>
                  <a:pt x="14238" y="1187306"/>
                  <a:pt x="0" y="1173068"/>
                  <a:pt x="0" y="1155505"/>
                </a:cubicBezTo>
                <a:lnTo>
                  <a:pt x="0" y="31801"/>
                </a:lnTo>
                <a:cubicBezTo>
                  <a:pt x="0" y="14238"/>
                  <a:pt x="14238" y="0"/>
                  <a:pt x="318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263035"/>
            </a:solidFill>
            <a:prstDash val="solid"/>
            <a:miter/>
          </a:ln>
        </p:spPr>
        <p:txBody>
          <a:bodyPr anchor="ctr"/>
          <a:lstStyle/>
          <a:p>
            <a:r>
              <a:rPr lang="ko-KR" altLang="en-US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판매자 </a:t>
            </a:r>
            <a:r>
              <a:rPr lang="en-US" altLang="ko-KR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가격흥정 없이 상품을 판매하고 싶어요</a:t>
            </a:r>
            <a:r>
              <a:rPr lang="en-US" altLang="ko-KR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32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9F5B6E-DB8F-37AC-9E19-3D13C5BAAEE1}"/>
              </a:ext>
            </a:extLst>
          </p:cNvPr>
          <p:cNvSpPr txBox="1"/>
          <p:nvPr/>
        </p:nvSpPr>
        <p:spPr>
          <a:xfrm>
            <a:off x="4112240" y="6224706"/>
            <a:ext cx="10965834" cy="74007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>
              <a:lnSpc>
                <a:spcPts val="2684"/>
              </a:lnSpc>
            </a:pPr>
            <a:endParaRPr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6C39F19B-23F5-EB9D-47DB-B69F45BA2EE2}"/>
              </a:ext>
            </a:extLst>
          </p:cNvPr>
          <p:cNvSpPr/>
          <p:nvPr/>
        </p:nvSpPr>
        <p:spPr>
          <a:xfrm>
            <a:off x="4052586" y="7055703"/>
            <a:ext cx="10965834" cy="734188"/>
          </a:xfrm>
          <a:custGeom>
            <a:avLst/>
            <a:gdLst/>
            <a:ahLst/>
            <a:cxnLst/>
            <a:rect l="l" t="t" r="r" b="b"/>
            <a:pathLst>
              <a:path w="1282347" h="1187306">
                <a:moveTo>
                  <a:pt x="31801" y="0"/>
                </a:moveTo>
                <a:lnTo>
                  <a:pt x="1250546" y="0"/>
                </a:lnTo>
                <a:cubicBezTo>
                  <a:pt x="1258980" y="0"/>
                  <a:pt x="1267069" y="3350"/>
                  <a:pt x="1273033" y="9314"/>
                </a:cubicBezTo>
                <a:cubicBezTo>
                  <a:pt x="1278997" y="15278"/>
                  <a:pt x="1282347" y="23367"/>
                  <a:pt x="1282347" y="31801"/>
                </a:cubicBezTo>
                <a:lnTo>
                  <a:pt x="1282347" y="1155505"/>
                </a:lnTo>
                <a:cubicBezTo>
                  <a:pt x="1282347" y="1173068"/>
                  <a:pt x="1268109" y="1187306"/>
                  <a:pt x="1250546" y="1187306"/>
                </a:cubicBezTo>
                <a:lnTo>
                  <a:pt x="31801" y="1187306"/>
                </a:lnTo>
                <a:cubicBezTo>
                  <a:pt x="14238" y="1187306"/>
                  <a:pt x="0" y="1173068"/>
                  <a:pt x="0" y="1155505"/>
                </a:cubicBezTo>
                <a:lnTo>
                  <a:pt x="0" y="31801"/>
                </a:lnTo>
                <a:cubicBezTo>
                  <a:pt x="0" y="14238"/>
                  <a:pt x="14238" y="0"/>
                  <a:pt x="318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263035"/>
            </a:solidFill>
            <a:prstDash val="solid"/>
            <a:miter/>
          </a:ln>
        </p:spPr>
        <p:txBody>
          <a:bodyPr anchor="ctr"/>
          <a:lstStyle/>
          <a:p>
            <a:r>
              <a:rPr lang="ko-KR" altLang="en-US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판매자 </a:t>
            </a:r>
            <a:r>
              <a:rPr lang="en-US" altLang="ko-KR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상품거래가 활발하게 이루어졌으면 좋겠어요</a:t>
            </a:r>
            <a:r>
              <a:rPr lang="en-US" altLang="ko-KR" sz="3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32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5648F8-9367-6B2E-7FCB-D7CD79235B49}"/>
              </a:ext>
            </a:extLst>
          </p:cNvPr>
          <p:cNvSpPr txBox="1"/>
          <p:nvPr/>
        </p:nvSpPr>
        <p:spPr>
          <a:xfrm>
            <a:off x="4112240" y="7146622"/>
            <a:ext cx="10965834" cy="74007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>
              <a:lnSpc>
                <a:spcPts val="2684"/>
              </a:lnSpc>
            </a:pPr>
            <a:endParaRPr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91355495-EB27-49F1-D09D-4A3904C099F2}"/>
              </a:ext>
            </a:extLst>
          </p:cNvPr>
          <p:cNvSpPr/>
          <p:nvPr/>
        </p:nvSpPr>
        <p:spPr>
          <a:xfrm>
            <a:off x="775986" y="6972300"/>
            <a:ext cx="3034014" cy="2578959"/>
          </a:xfrm>
          <a:custGeom>
            <a:avLst/>
            <a:gdLst/>
            <a:ahLst/>
            <a:cxnLst/>
            <a:rect l="l" t="t" r="r" b="b"/>
            <a:pathLst>
              <a:path w="5595642" h="5005556">
                <a:moveTo>
                  <a:pt x="0" y="0"/>
                </a:moveTo>
                <a:lnTo>
                  <a:pt x="5595642" y="0"/>
                </a:lnTo>
                <a:lnTo>
                  <a:pt x="5595642" y="5005557"/>
                </a:lnTo>
                <a:lnTo>
                  <a:pt x="0" y="5005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solidFill>
                <a:srgbClr val="26303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255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B1293-AC56-23DF-342C-EB245C1F3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6">
            <a:extLst>
              <a:ext uri="{FF2B5EF4-FFF2-40B4-BE49-F238E27FC236}">
                <a16:creationId xmlns:a16="http://schemas.microsoft.com/office/drawing/2014/main" id="{5E514EDE-C9D7-7276-0D4D-C83E3B718E1D}"/>
              </a:ext>
            </a:extLst>
          </p:cNvPr>
          <p:cNvGrpSpPr/>
          <p:nvPr/>
        </p:nvGrpSpPr>
        <p:grpSpPr>
          <a:xfrm>
            <a:off x="9747050" y="3987485"/>
            <a:ext cx="2178637" cy="2178637"/>
            <a:chOff x="0" y="0"/>
            <a:chExt cx="812800" cy="812800"/>
          </a:xfrm>
        </p:grpSpPr>
        <p:sp>
          <p:nvSpPr>
            <p:cNvPr id="7" name="Freeform 17">
              <a:extLst>
                <a:ext uri="{FF2B5EF4-FFF2-40B4-BE49-F238E27FC236}">
                  <a16:creationId xmlns:a16="http://schemas.microsoft.com/office/drawing/2014/main" id="{564DDA5D-9466-5AAB-0D7D-FC8658A0CF4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E166"/>
            </a:solidFill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4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관리자</a:t>
              </a:r>
            </a:p>
          </p:txBody>
        </p:sp>
        <p:sp>
          <p:nvSpPr>
            <p:cNvPr id="8" name="TextBox 18">
              <a:extLst>
                <a:ext uri="{FF2B5EF4-FFF2-40B4-BE49-F238E27FC236}">
                  <a16:creationId xmlns:a16="http://schemas.microsoft.com/office/drawing/2014/main" id="{641FA38E-CA67-E9D4-285B-4F139F87005D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4"/>
                </a:lnSpc>
              </a:pPr>
              <a:endParaRPr sz="2400"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9" name="Group 16">
            <a:extLst>
              <a:ext uri="{FF2B5EF4-FFF2-40B4-BE49-F238E27FC236}">
                <a16:creationId xmlns:a16="http://schemas.microsoft.com/office/drawing/2014/main" id="{8015F5B7-C69C-0CC8-4228-AB53487ABB04}"/>
              </a:ext>
            </a:extLst>
          </p:cNvPr>
          <p:cNvGrpSpPr/>
          <p:nvPr/>
        </p:nvGrpSpPr>
        <p:grpSpPr>
          <a:xfrm>
            <a:off x="8731610" y="6634591"/>
            <a:ext cx="2178637" cy="2178637"/>
            <a:chOff x="0" y="0"/>
            <a:chExt cx="812800" cy="812800"/>
          </a:xfrm>
        </p:grpSpPr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12D9434B-254A-A239-DD69-93F158299A3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E166"/>
            </a:solidFill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4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판매자</a:t>
              </a:r>
            </a:p>
          </p:txBody>
        </p:sp>
        <p:sp>
          <p:nvSpPr>
            <p:cNvPr id="13" name="TextBox 18">
              <a:extLst>
                <a:ext uri="{FF2B5EF4-FFF2-40B4-BE49-F238E27FC236}">
                  <a16:creationId xmlns:a16="http://schemas.microsoft.com/office/drawing/2014/main" id="{FCC299D8-F114-BD8A-C724-ECF339FF0CFC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4"/>
                </a:lnSpc>
              </a:pPr>
              <a:endParaRPr sz="2400"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15" name="Group 16">
            <a:extLst>
              <a:ext uri="{FF2B5EF4-FFF2-40B4-BE49-F238E27FC236}">
                <a16:creationId xmlns:a16="http://schemas.microsoft.com/office/drawing/2014/main" id="{E5157199-E8F6-E6DA-2133-C9B2D787697A}"/>
              </a:ext>
            </a:extLst>
          </p:cNvPr>
          <p:cNvGrpSpPr/>
          <p:nvPr/>
        </p:nvGrpSpPr>
        <p:grpSpPr>
          <a:xfrm>
            <a:off x="6278263" y="6621824"/>
            <a:ext cx="2178637" cy="2178637"/>
            <a:chOff x="0" y="0"/>
            <a:chExt cx="812800" cy="8128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A31EBA4-C6CD-8CE7-A400-8134D3A8856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E166"/>
            </a:solidFill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4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소비자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CED7625-6DC0-1DC4-5523-6B834C538523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4"/>
                </a:lnSpc>
              </a:pPr>
              <a:endParaRPr sz="2400"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20" name="Group 16">
            <a:extLst>
              <a:ext uri="{FF2B5EF4-FFF2-40B4-BE49-F238E27FC236}">
                <a16:creationId xmlns:a16="http://schemas.microsoft.com/office/drawing/2014/main" id="{7F9372F5-CC13-ADC7-ED4A-E12F4F2EC8B1}"/>
              </a:ext>
            </a:extLst>
          </p:cNvPr>
          <p:cNvGrpSpPr/>
          <p:nvPr/>
        </p:nvGrpSpPr>
        <p:grpSpPr>
          <a:xfrm>
            <a:off x="7504936" y="5258260"/>
            <a:ext cx="2178637" cy="2178637"/>
            <a:chOff x="-18672" y="27673"/>
            <a:chExt cx="812800" cy="812800"/>
          </a:xfrm>
        </p:grpSpPr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A0D93045-3F93-217E-FFE9-5F4C21EEFD59}"/>
                </a:ext>
              </a:extLst>
            </p:cNvPr>
            <p:cNvSpPr/>
            <p:nvPr/>
          </p:nvSpPr>
          <p:spPr>
            <a:xfrm>
              <a:off x="-18672" y="27673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E166"/>
            </a:solidFill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ko-KR" altLang="en-US" sz="24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회원</a:t>
              </a:r>
            </a:p>
          </p:txBody>
        </p:sp>
        <p:sp>
          <p:nvSpPr>
            <p:cNvPr id="22" name="TextBox 18">
              <a:extLst>
                <a:ext uri="{FF2B5EF4-FFF2-40B4-BE49-F238E27FC236}">
                  <a16:creationId xmlns:a16="http://schemas.microsoft.com/office/drawing/2014/main" id="{AC4DFFBA-12FE-5FF6-71D7-73A964CF0877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4"/>
                </a:lnSpc>
              </a:pPr>
              <a:endParaRPr sz="2400"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24" name="Freeform 6">
            <a:extLst>
              <a:ext uri="{FF2B5EF4-FFF2-40B4-BE49-F238E27FC236}">
                <a16:creationId xmlns:a16="http://schemas.microsoft.com/office/drawing/2014/main" id="{8970A7F4-D2C2-07B0-B5B6-62F202339E50}"/>
              </a:ext>
            </a:extLst>
          </p:cNvPr>
          <p:cNvSpPr/>
          <p:nvPr/>
        </p:nvSpPr>
        <p:spPr>
          <a:xfrm>
            <a:off x="13110004" y="3754787"/>
            <a:ext cx="2984524" cy="2607913"/>
          </a:xfrm>
          <a:custGeom>
            <a:avLst/>
            <a:gdLst/>
            <a:ahLst/>
            <a:cxnLst/>
            <a:rect l="l" t="t" r="r" b="b"/>
            <a:pathLst>
              <a:path w="1282347" h="1187306">
                <a:moveTo>
                  <a:pt x="31801" y="0"/>
                </a:moveTo>
                <a:lnTo>
                  <a:pt x="1250546" y="0"/>
                </a:lnTo>
                <a:cubicBezTo>
                  <a:pt x="1258980" y="0"/>
                  <a:pt x="1267069" y="3350"/>
                  <a:pt x="1273033" y="9314"/>
                </a:cubicBezTo>
                <a:cubicBezTo>
                  <a:pt x="1278997" y="15278"/>
                  <a:pt x="1282347" y="23367"/>
                  <a:pt x="1282347" y="31801"/>
                </a:cubicBezTo>
                <a:lnTo>
                  <a:pt x="1282347" y="1155505"/>
                </a:lnTo>
                <a:cubicBezTo>
                  <a:pt x="1282347" y="1173068"/>
                  <a:pt x="1268109" y="1187306"/>
                  <a:pt x="1250546" y="1187306"/>
                </a:cubicBezTo>
                <a:lnTo>
                  <a:pt x="31801" y="1187306"/>
                </a:lnTo>
                <a:cubicBezTo>
                  <a:pt x="14238" y="1187306"/>
                  <a:pt x="0" y="1173068"/>
                  <a:pt x="0" y="1155505"/>
                </a:cubicBezTo>
                <a:lnTo>
                  <a:pt x="0" y="31801"/>
                </a:lnTo>
                <a:cubicBezTo>
                  <a:pt x="0" y="14238"/>
                  <a:pt x="14238" y="0"/>
                  <a:pt x="318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263035"/>
            </a:solidFill>
            <a:prstDash val="solid"/>
            <a:miter/>
          </a:ln>
        </p:spPr>
        <p:txBody>
          <a:bodyPr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사용자 관리</a:t>
            </a:r>
            <a:endParaRPr lang="en-US" altLang="ko-KR" sz="2000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공지사항</a:t>
            </a:r>
            <a:r>
              <a:rPr lang="en-US" altLang="ko-KR" sz="2000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</a:t>
            </a:r>
            <a:r>
              <a:rPr lang="ko-KR" altLang="en-US" sz="2000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페이지 관리</a:t>
            </a:r>
            <a:endParaRPr lang="en-US" altLang="ko-KR" sz="2000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게시물 관리</a:t>
            </a:r>
            <a:endParaRPr lang="en-US" altLang="ko-KR" sz="2000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안전거래 관리</a:t>
            </a:r>
            <a:endParaRPr lang="en-US" altLang="ko-KR" sz="2000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경매 시스템 관리</a:t>
            </a:r>
            <a:endParaRPr lang="en-US" altLang="ko-KR" sz="2000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5832C750-9750-5590-75B9-AD8E66CAA8AC}"/>
              </a:ext>
            </a:extLst>
          </p:cNvPr>
          <p:cNvSpPr txBox="1"/>
          <p:nvPr/>
        </p:nvSpPr>
        <p:spPr>
          <a:xfrm>
            <a:off x="11940435" y="2139551"/>
            <a:ext cx="3429000" cy="245672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ct val="120000"/>
              </a:lnSpc>
            </a:pPr>
            <a:endParaRPr sz="200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26EB211B-9057-0AA8-0F5C-86B585C1FD27}"/>
              </a:ext>
            </a:extLst>
          </p:cNvPr>
          <p:cNvSpPr/>
          <p:nvPr/>
        </p:nvSpPr>
        <p:spPr>
          <a:xfrm>
            <a:off x="11798276" y="6604860"/>
            <a:ext cx="2736527" cy="2190793"/>
          </a:xfrm>
          <a:custGeom>
            <a:avLst/>
            <a:gdLst/>
            <a:ahLst/>
            <a:cxnLst/>
            <a:rect l="l" t="t" r="r" b="b"/>
            <a:pathLst>
              <a:path w="1282347" h="1187306">
                <a:moveTo>
                  <a:pt x="31801" y="0"/>
                </a:moveTo>
                <a:lnTo>
                  <a:pt x="1250546" y="0"/>
                </a:lnTo>
                <a:cubicBezTo>
                  <a:pt x="1258980" y="0"/>
                  <a:pt x="1267069" y="3350"/>
                  <a:pt x="1273033" y="9314"/>
                </a:cubicBezTo>
                <a:cubicBezTo>
                  <a:pt x="1278997" y="15278"/>
                  <a:pt x="1282347" y="23367"/>
                  <a:pt x="1282347" y="31801"/>
                </a:cubicBezTo>
                <a:lnTo>
                  <a:pt x="1282347" y="1155505"/>
                </a:lnTo>
                <a:cubicBezTo>
                  <a:pt x="1282347" y="1173068"/>
                  <a:pt x="1268109" y="1187306"/>
                  <a:pt x="1250546" y="1187306"/>
                </a:cubicBezTo>
                <a:lnTo>
                  <a:pt x="31801" y="1187306"/>
                </a:lnTo>
                <a:cubicBezTo>
                  <a:pt x="14238" y="1187306"/>
                  <a:pt x="0" y="1173068"/>
                  <a:pt x="0" y="1155505"/>
                </a:cubicBezTo>
                <a:lnTo>
                  <a:pt x="0" y="31801"/>
                </a:lnTo>
                <a:cubicBezTo>
                  <a:pt x="0" y="14238"/>
                  <a:pt x="14238" y="0"/>
                  <a:pt x="318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263035"/>
            </a:solidFill>
            <a:prstDash val="solid"/>
            <a:miter/>
          </a:ln>
        </p:spPr>
        <p:txBody>
          <a:bodyPr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상품 등록 및 관리</a:t>
            </a:r>
            <a:endParaRPr lang="en-US" altLang="ko-KR" sz="2000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판매내역 관리</a:t>
            </a:r>
            <a:endParaRPr lang="en-US" altLang="ko-KR" sz="2000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경매 상품 등록</a:t>
            </a:r>
            <a:endParaRPr lang="en-US" altLang="ko-KR" sz="2000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0D5D0B8F-E63C-0CD7-4287-C3E581E92FB5}"/>
              </a:ext>
            </a:extLst>
          </p:cNvPr>
          <p:cNvSpPr txBox="1"/>
          <p:nvPr/>
        </p:nvSpPr>
        <p:spPr>
          <a:xfrm>
            <a:off x="11798276" y="6604860"/>
            <a:ext cx="2736527" cy="22083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ct val="120000"/>
              </a:lnSpc>
            </a:pPr>
            <a:endParaRPr sz="200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0" name="Freeform 6">
            <a:extLst>
              <a:ext uri="{FF2B5EF4-FFF2-40B4-BE49-F238E27FC236}">
                <a16:creationId xmlns:a16="http://schemas.microsoft.com/office/drawing/2014/main" id="{00801B59-BC41-F73A-B779-58AB39844351}"/>
              </a:ext>
            </a:extLst>
          </p:cNvPr>
          <p:cNvSpPr/>
          <p:nvPr/>
        </p:nvSpPr>
        <p:spPr>
          <a:xfrm>
            <a:off x="3642354" y="3009907"/>
            <a:ext cx="2753208" cy="2856130"/>
          </a:xfrm>
          <a:custGeom>
            <a:avLst/>
            <a:gdLst/>
            <a:ahLst/>
            <a:cxnLst/>
            <a:rect l="l" t="t" r="r" b="b"/>
            <a:pathLst>
              <a:path w="1282347" h="1187306">
                <a:moveTo>
                  <a:pt x="31801" y="0"/>
                </a:moveTo>
                <a:lnTo>
                  <a:pt x="1250546" y="0"/>
                </a:lnTo>
                <a:cubicBezTo>
                  <a:pt x="1258980" y="0"/>
                  <a:pt x="1267069" y="3350"/>
                  <a:pt x="1273033" y="9314"/>
                </a:cubicBezTo>
                <a:cubicBezTo>
                  <a:pt x="1278997" y="15278"/>
                  <a:pt x="1282347" y="23367"/>
                  <a:pt x="1282347" y="31801"/>
                </a:cubicBezTo>
                <a:lnTo>
                  <a:pt x="1282347" y="1155505"/>
                </a:lnTo>
                <a:cubicBezTo>
                  <a:pt x="1282347" y="1173068"/>
                  <a:pt x="1268109" y="1187306"/>
                  <a:pt x="1250546" y="1187306"/>
                </a:cubicBezTo>
                <a:lnTo>
                  <a:pt x="31801" y="1187306"/>
                </a:lnTo>
                <a:cubicBezTo>
                  <a:pt x="14238" y="1187306"/>
                  <a:pt x="0" y="1173068"/>
                  <a:pt x="0" y="1155505"/>
                </a:cubicBezTo>
                <a:lnTo>
                  <a:pt x="0" y="31801"/>
                </a:lnTo>
                <a:cubicBezTo>
                  <a:pt x="0" y="14238"/>
                  <a:pt x="14238" y="0"/>
                  <a:pt x="318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263035"/>
            </a:solidFill>
            <a:prstDash val="solid"/>
            <a:miter/>
          </a:ln>
        </p:spPr>
        <p:txBody>
          <a:bodyPr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소셜 로그인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실시간 채팅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알림 및 메일 전송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포인트 충전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게시글 관리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추천</a:t>
            </a:r>
            <a:r>
              <a:rPr lang="en-US" altLang="ko-KR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dirty="0" err="1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비추천</a:t>
            </a:r>
            <a:r>
              <a:rPr lang="en-US" altLang="ko-KR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신고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1" name="TextBox 7">
            <a:extLst>
              <a:ext uri="{FF2B5EF4-FFF2-40B4-BE49-F238E27FC236}">
                <a16:creationId xmlns:a16="http://schemas.microsoft.com/office/drawing/2014/main" id="{3F719DBD-6199-FE29-3F34-8825B8E21D67}"/>
              </a:ext>
            </a:extLst>
          </p:cNvPr>
          <p:cNvSpPr txBox="1"/>
          <p:nvPr/>
        </p:nvSpPr>
        <p:spPr>
          <a:xfrm>
            <a:off x="1792698" y="2808381"/>
            <a:ext cx="2953508" cy="245672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>
              <a:lnSpc>
                <a:spcPct val="120000"/>
              </a:lnSpc>
            </a:pPr>
            <a:endParaRPr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D71D9832-42BA-7F7E-ED3E-1D031B8B908A}"/>
              </a:ext>
            </a:extLst>
          </p:cNvPr>
          <p:cNvSpPr/>
          <p:nvPr/>
        </p:nvSpPr>
        <p:spPr>
          <a:xfrm>
            <a:off x="2727901" y="6210302"/>
            <a:ext cx="2762430" cy="2741970"/>
          </a:xfrm>
          <a:custGeom>
            <a:avLst/>
            <a:gdLst/>
            <a:ahLst/>
            <a:cxnLst/>
            <a:rect l="l" t="t" r="r" b="b"/>
            <a:pathLst>
              <a:path w="1282347" h="1187306">
                <a:moveTo>
                  <a:pt x="31801" y="0"/>
                </a:moveTo>
                <a:lnTo>
                  <a:pt x="1250546" y="0"/>
                </a:lnTo>
                <a:cubicBezTo>
                  <a:pt x="1258980" y="0"/>
                  <a:pt x="1267069" y="3350"/>
                  <a:pt x="1273033" y="9314"/>
                </a:cubicBezTo>
                <a:cubicBezTo>
                  <a:pt x="1278997" y="15278"/>
                  <a:pt x="1282347" y="23367"/>
                  <a:pt x="1282347" y="31801"/>
                </a:cubicBezTo>
                <a:lnTo>
                  <a:pt x="1282347" y="1155505"/>
                </a:lnTo>
                <a:cubicBezTo>
                  <a:pt x="1282347" y="1173068"/>
                  <a:pt x="1268109" y="1187306"/>
                  <a:pt x="1250546" y="1187306"/>
                </a:cubicBezTo>
                <a:lnTo>
                  <a:pt x="31801" y="1187306"/>
                </a:lnTo>
                <a:cubicBezTo>
                  <a:pt x="14238" y="1187306"/>
                  <a:pt x="0" y="1173068"/>
                  <a:pt x="0" y="1155505"/>
                </a:cubicBezTo>
                <a:lnTo>
                  <a:pt x="0" y="31801"/>
                </a:lnTo>
                <a:cubicBezTo>
                  <a:pt x="0" y="14238"/>
                  <a:pt x="14238" y="0"/>
                  <a:pt x="318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263035"/>
            </a:solidFill>
            <a:prstDash val="solid"/>
            <a:miter/>
          </a:ln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en-US" altLang="ko-KR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안전거래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위치기반 검색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관심상품 등록</a:t>
            </a:r>
            <a:r>
              <a:rPr lang="en-US" altLang="ko-KR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조회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리뷰작성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상품</a:t>
            </a:r>
            <a:r>
              <a:rPr lang="en-US" altLang="ko-KR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경매상품 구매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구매내역 관리</a:t>
            </a: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24BF3106-A34F-7A0C-0F39-D04295BF4680}"/>
              </a:ext>
            </a:extLst>
          </p:cNvPr>
          <p:cNvSpPr txBox="1"/>
          <p:nvPr/>
        </p:nvSpPr>
        <p:spPr>
          <a:xfrm>
            <a:off x="2727901" y="6495548"/>
            <a:ext cx="2762430" cy="245672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ct val="120000"/>
              </a:lnSpc>
            </a:pPr>
            <a:endParaRPr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E8191D3-18E0-D328-28D3-AB66E63D55F4}"/>
              </a:ext>
            </a:extLst>
          </p:cNvPr>
          <p:cNvCxnSpPr>
            <a:cxnSpLocks/>
          </p:cNvCxnSpPr>
          <p:nvPr/>
        </p:nvCxnSpPr>
        <p:spPr>
          <a:xfrm>
            <a:off x="10910247" y="7658100"/>
            <a:ext cx="888029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w="38100" cap="sq">
            <a:solidFill>
              <a:srgbClr val="263035"/>
            </a:solidFill>
            <a:prstDash val="solid"/>
            <a:miter/>
          </a:ln>
        </p:spPr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262A16CF-D367-60D3-5DAC-D39B1E237A62}"/>
              </a:ext>
            </a:extLst>
          </p:cNvPr>
          <p:cNvCxnSpPr>
            <a:cxnSpLocks/>
          </p:cNvCxnSpPr>
          <p:nvPr/>
        </p:nvCxnSpPr>
        <p:spPr>
          <a:xfrm flipH="1" flipV="1">
            <a:off x="6410310" y="4625659"/>
            <a:ext cx="1334174" cy="1002798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w="38100" cap="sq">
            <a:solidFill>
              <a:srgbClr val="263035"/>
            </a:solidFill>
            <a:prstDash val="solid"/>
            <a:miter/>
          </a:ln>
        </p:spPr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DB5847E-22E3-47F9-0BF2-BCEBDFFBB378}"/>
              </a:ext>
            </a:extLst>
          </p:cNvPr>
          <p:cNvCxnSpPr>
            <a:cxnSpLocks/>
            <a:endCxn id="34" idx="3"/>
          </p:cNvCxnSpPr>
          <p:nvPr/>
        </p:nvCxnSpPr>
        <p:spPr>
          <a:xfrm flipH="1">
            <a:off x="5490331" y="7723910"/>
            <a:ext cx="755575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w="38100" cap="sq">
            <a:solidFill>
              <a:srgbClr val="263035"/>
            </a:solidFill>
            <a:prstDash val="solid"/>
            <a:miter/>
          </a:ln>
        </p:spPr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37AF91FA-AF31-8D1E-039E-69C91BFD60AC}"/>
              </a:ext>
            </a:extLst>
          </p:cNvPr>
          <p:cNvCxnSpPr>
            <a:cxnSpLocks/>
          </p:cNvCxnSpPr>
          <p:nvPr/>
        </p:nvCxnSpPr>
        <p:spPr>
          <a:xfrm>
            <a:off x="11940435" y="5065081"/>
            <a:ext cx="1169569" cy="11722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w="38100" cap="sq">
            <a:solidFill>
              <a:srgbClr val="263035"/>
            </a:solidFill>
            <a:prstDash val="solid"/>
            <a:miter/>
          </a:ln>
        </p:spPr>
      </p:cxnSp>
      <p:sp>
        <p:nvSpPr>
          <p:cNvPr id="53" name="Freeform 17">
            <a:extLst>
              <a:ext uri="{FF2B5EF4-FFF2-40B4-BE49-F238E27FC236}">
                <a16:creationId xmlns:a16="http://schemas.microsoft.com/office/drawing/2014/main" id="{6F00AE6A-2303-0786-DCCC-D5CCF9EBE57E}"/>
              </a:ext>
            </a:extLst>
          </p:cNvPr>
          <p:cNvSpPr/>
          <p:nvPr/>
        </p:nvSpPr>
        <p:spPr>
          <a:xfrm>
            <a:off x="9747049" y="1364663"/>
            <a:ext cx="2178637" cy="217863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5E166"/>
          </a:solidFill>
          <a:ln w="38100" cap="sq">
            <a:solidFill>
              <a:srgbClr val="263035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ko-KR" altLang="en-US" sz="2400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상품</a:t>
            </a:r>
          </a:p>
        </p:txBody>
      </p:sp>
      <p:sp>
        <p:nvSpPr>
          <p:cNvPr id="55" name="TextBox 7">
            <a:extLst>
              <a:ext uri="{FF2B5EF4-FFF2-40B4-BE49-F238E27FC236}">
                <a16:creationId xmlns:a16="http://schemas.microsoft.com/office/drawing/2014/main" id="{96B20D77-81CB-6D97-8235-4AE2198262AF}"/>
              </a:ext>
            </a:extLst>
          </p:cNvPr>
          <p:cNvSpPr txBox="1"/>
          <p:nvPr/>
        </p:nvSpPr>
        <p:spPr>
          <a:xfrm>
            <a:off x="11950676" y="6757260"/>
            <a:ext cx="2736527" cy="22083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ct val="120000"/>
              </a:lnSpc>
            </a:pPr>
            <a:endParaRPr sz="200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6" name="Freeform 6">
            <a:extLst>
              <a:ext uri="{FF2B5EF4-FFF2-40B4-BE49-F238E27FC236}">
                <a16:creationId xmlns:a16="http://schemas.microsoft.com/office/drawing/2014/main" id="{522753A6-E447-D6F7-3530-3213253633C1}"/>
              </a:ext>
            </a:extLst>
          </p:cNvPr>
          <p:cNvSpPr/>
          <p:nvPr/>
        </p:nvSpPr>
        <p:spPr>
          <a:xfrm>
            <a:off x="13110004" y="1086576"/>
            <a:ext cx="2984524" cy="2456724"/>
          </a:xfrm>
          <a:custGeom>
            <a:avLst/>
            <a:gdLst/>
            <a:ahLst/>
            <a:cxnLst/>
            <a:rect l="l" t="t" r="r" b="b"/>
            <a:pathLst>
              <a:path w="1282347" h="1187306">
                <a:moveTo>
                  <a:pt x="31801" y="0"/>
                </a:moveTo>
                <a:lnTo>
                  <a:pt x="1250546" y="0"/>
                </a:lnTo>
                <a:cubicBezTo>
                  <a:pt x="1258980" y="0"/>
                  <a:pt x="1267069" y="3350"/>
                  <a:pt x="1273033" y="9314"/>
                </a:cubicBezTo>
                <a:cubicBezTo>
                  <a:pt x="1278997" y="15278"/>
                  <a:pt x="1282347" y="23367"/>
                  <a:pt x="1282347" y="31801"/>
                </a:cubicBezTo>
                <a:lnTo>
                  <a:pt x="1282347" y="1155505"/>
                </a:lnTo>
                <a:cubicBezTo>
                  <a:pt x="1282347" y="1173068"/>
                  <a:pt x="1268109" y="1187306"/>
                  <a:pt x="1250546" y="1187306"/>
                </a:cubicBezTo>
                <a:lnTo>
                  <a:pt x="31801" y="1187306"/>
                </a:lnTo>
                <a:cubicBezTo>
                  <a:pt x="14238" y="1187306"/>
                  <a:pt x="0" y="1173068"/>
                  <a:pt x="0" y="1155505"/>
                </a:cubicBezTo>
                <a:lnTo>
                  <a:pt x="0" y="31801"/>
                </a:lnTo>
                <a:cubicBezTo>
                  <a:pt x="0" y="14238"/>
                  <a:pt x="14238" y="0"/>
                  <a:pt x="318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263035"/>
            </a:solidFill>
            <a:prstDash val="solid"/>
            <a:miter/>
          </a:ln>
        </p:spPr>
        <p:txBody>
          <a:bodyPr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최신상품 순 정렬</a:t>
            </a:r>
            <a:endParaRPr lang="en-US" altLang="ko-KR" sz="2000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관심상품 순 정렬</a:t>
            </a:r>
            <a:endParaRPr lang="en-US" altLang="ko-KR" sz="2000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조회수 순 정렬</a:t>
            </a:r>
            <a:endParaRPr lang="en-US" altLang="ko-KR" sz="2000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카테고리별 분류</a:t>
            </a:r>
            <a:endParaRPr lang="en-US" altLang="ko-KR" sz="2000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위치 별 분류</a:t>
            </a:r>
            <a:endParaRPr lang="en-US" altLang="ko-KR" sz="2000" dirty="0">
              <a:ln>
                <a:solidFill>
                  <a:srgbClr val="263035">
                    <a:alpha val="20000"/>
                  </a:srgb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45D4CCD-8BD6-AFED-5E4F-FC041A859BDC}"/>
              </a:ext>
            </a:extLst>
          </p:cNvPr>
          <p:cNvCxnSpPr>
            <a:cxnSpLocks/>
          </p:cNvCxnSpPr>
          <p:nvPr/>
        </p:nvCxnSpPr>
        <p:spPr>
          <a:xfrm>
            <a:off x="11952725" y="2402965"/>
            <a:ext cx="1153675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w="38100" cap="sq">
            <a:solidFill>
              <a:srgbClr val="263035"/>
            </a:solidFill>
            <a:prstDash val="solid"/>
            <a:miter/>
          </a:ln>
        </p:spPr>
      </p:cxnSp>
      <p:sp>
        <p:nvSpPr>
          <p:cNvPr id="3" name="AutoShape 6">
            <a:extLst>
              <a:ext uri="{FF2B5EF4-FFF2-40B4-BE49-F238E27FC236}">
                <a16:creationId xmlns:a16="http://schemas.microsoft.com/office/drawing/2014/main" id="{823B549D-1B64-33EE-3F94-0BBD95B68AF2}"/>
              </a:ext>
            </a:extLst>
          </p:cNvPr>
          <p:cNvSpPr/>
          <p:nvPr/>
        </p:nvSpPr>
        <p:spPr>
          <a:xfrm>
            <a:off x="1058920" y="1943100"/>
            <a:ext cx="846080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050" dirty="0"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A53101-0D14-AA7F-E3D0-B6BE76393120}"/>
              </a:ext>
            </a:extLst>
          </p:cNvPr>
          <p:cNvSpPr txBox="1"/>
          <p:nvPr/>
        </p:nvSpPr>
        <p:spPr>
          <a:xfrm>
            <a:off x="990600" y="1112103"/>
            <a:ext cx="784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04 </a:t>
            </a:r>
            <a:r>
              <a:rPr lang="ko-KR" altLang="en-US" sz="4800" dirty="0"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개발기능</a:t>
            </a:r>
          </a:p>
        </p:txBody>
      </p:sp>
    </p:spTree>
    <p:extLst>
      <p:ext uri="{BB962C8B-B14F-4D97-AF65-F5344CB8AC3E}">
        <p14:creationId xmlns:p14="http://schemas.microsoft.com/office/powerpoint/2010/main" val="4012233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08E33-5983-F1EF-BB2C-ACE8B0692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62FED746-CDDF-A85C-F093-EE97F1DD9CA9}"/>
              </a:ext>
            </a:extLst>
          </p:cNvPr>
          <p:cNvSpPr txBox="1"/>
          <p:nvPr/>
        </p:nvSpPr>
        <p:spPr>
          <a:xfrm>
            <a:off x="1789995" y="1401008"/>
            <a:ext cx="9868605" cy="1141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25"/>
              </a:lnSpc>
              <a:spcBef>
                <a:spcPct val="0"/>
              </a:spcBef>
            </a:pPr>
            <a:r>
              <a:rPr 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02  </a:t>
            </a:r>
            <a:r>
              <a:rPr lang="ko-KR" alt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사전조사 및 탐구</a:t>
            </a:r>
            <a:endParaRPr lang="en-US" sz="7500" b="1" spc="-27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CD9F6C24-CBA0-014D-A9D5-D621EF94D6C7}"/>
              </a:ext>
            </a:extLst>
          </p:cNvPr>
          <p:cNvSpPr/>
          <p:nvPr/>
        </p:nvSpPr>
        <p:spPr>
          <a:xfrm flipH="1">
            <a:off x="1789995" y="2591633"/>
            <a:ext cx="1135883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E4CA5F-8D8C-74A3-FFA4-07A151D09076}"/>
              </a:ext>
            </a:extLst>
          </p:cNvPr>
          <p:cNvSpPr txBox="1"/>
          <p:nvPr/>
        </p:nvSpPr>
        <p:spPr>
          <a:xfrm>
            <a:off x="5181600" y="4305300"/>
            <a:ext cx="8382000" cy="3243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lnSpc>
                <a:spcPct val="150000"/>
              </a:lnSpc>
              <a:buAutoNum type="arabicPeriod"/>
            </a:pP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유사 시스템 조사</a:t>
            </a:r>
            <a:endParaRPr lang="en-US" altLang="ko-KR" sz="48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143000" indent="-1143000">
              <a:lnSpc>
                <a:spcPct val="150000"/>
              </a:lnSpc>
              <a:buAutoNum type="arabicPeriod"/>
            </a:pP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기술 학습 계획</a:t>
            </a:r>
            <a:endParaRPr lang="en-US" altLang="ko-KR" sz="48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143000" indent="-1143000">
              <a:lnSpc>
                <a:spcPct val="150000"/>
              </a:lnSpc>
              <a:buAutoNum type="arabicPeriod"/>
            </a:pP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작품 이용사례</a:t>
            </a:r>
          </a:p>
        </p:txBody>
      </p:sp>
    </p:spTree>
    <p:extLst>
      <p:ext uri="{BB962C8B-B14F-4D97-AF65-F5344CB8AC3E}">
        <p14:creationId xmlns:p14="http://schemas.microsoft.com/office/powerpoint/2010/main" val="1539076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91EEC-3F73-372D-7BFB-30BE24237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EE199812-E09D-2A34-DC38-9CC1C30CA8DC}"/>
              </a:ext>
            </a:extLst>
          </p:cNvPr>
          <p:cNvSpPr/>
          <p:nvPr/>
        </p:nvSpPr>
        <p:spPr>
          <a:xfrm>
            <a:off x="1058920" y="1943100"/>
            <a:ext cx="846080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05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ECEF0B-B185-DA23-FC43-D594CBE139B6}"/>
              </a:ext>
            </a:extLst>
          </p:cNvPr>
          <p:cNvSpPr txBox="1"/>
          <p:nvPr/>
        </p:nvSpPr>
        <p:spPr>
          <a:xfrm>
            <a:off x="990600" y="1112103"/>
            <a:ext cx="952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01 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유사 시스템 조사 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80C4393C-1C94-3186-F03F-23687411ABCB}"/>
              </a:ext>
            </a:extLst>
          </p:cNvPr>
          <p:cNvGrpSpPr/>
          <p:nvPr/>
        </p:nvGrpSpPr>
        <p:grpSpPr>
          <a:xfrm>
            <a:off x="9448800" y="2552700"/>
            <a:ext cx="2617746" cy="1752600"/>
            <a:chOff x="3581400" y="3924300"/>
            <a:chExt cx="2617746" cy="175260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67DDB5DB-38C8-7EBB-17DE-74713B1D0A2F}"/>
                </a:ext>
              </a:extLst>
            </p:cNvPr>
            <p:cNvSpPr/>
            <p:nvPr/>
          </p:nvSpPr>
          <p:spPr>
            <a:xfrm>
              <a:off x="3581400" y="3924300"/>
              <a:ext cx="2617746" cy="830998"/>
            </a:xfrm>
            <a:prstGeom prst="roundRect">
              <a:avLst/>
            </a:prstGeom>
            <a:solidFill>
              <a:srgbClr val="FF6F0F"/>
            </a:solidFill>
            <a:ln>
              <a:solidFill>
                <a:srgbClr val="FF6F0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638BF92F-1B75-CA49-F7DD-20C3198E3783}"/>
                </a:ext>
              </a:extLst>
            </p:cNvPr>
            <p:cNvSpPr txBox="1"/>
            <p:nvPr/>
          </p:nvSpPr>
          <p:spPr>
            <a:xfrm>
              <a:off x="4053208" y="4000500"/>
              <a:ext cx="1645838" cy="4693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172"/>
                </a:lnSpc>
                <a:spcBef>
                  <a:spcPct val="0"/>
                </a:spcBef>
              </a:pPr>
              <a:r>
                <a:rPr lang="ko-KR" altLang="en-US" sz="3000" b="1" spc="-126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rPr>
                <a:t>당근 </a:t>
              </a:r>
              <a:r>
                <a:rPr lang="ko-KR" altLang="en-US" sz="3000" spc="-126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rPr>
                <a:t>마켓</a:t>
              </a:r>
              <a:endParaRPr lang="en-US" altLang="ko-KR" sz="3000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DA5651B-0AC8-386C-ED6A-5A04B280BEA8}"/>
                </a:ext>
              </a:extLst>
            </p:cNvPr>
            <p:cNvSpPr/>
            <p:nvPr/>
          </p:nvSpPr>
          <p:spPr>
            <a:xfrm>
              <a:off x="3581400" y="4571153"/>
              <a:ext cx="2617746" cy="110574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6F0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26" name="Picture 2" descr="고객센터">
              <a:extLst>
                <a:ext uri="{FF2B5EF4-FFF2-40B4-BE49-F238E27FC236}">
                  <a16:creationId xmlns:a16="http://schemas.microsoft.com/office/drawing/2014/main" id="{0ED529CF-1880-3085-74FA-C2AB8B4DF4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1016" y="4610100"/>
              <a:ext cx="2278784" cy="1021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28C72F9-28AE-4812-5A25-E1FA4FE3B072}"/>
              </a:ext>
            </a:extLst>
          </p:cNvPr>
          <p:cNvSpPr/>
          <p:nvPr/>
        </p:nvSpPr>
        <p:spPr>
          <a:xfrm>
            <a:off x="12421589" y="2552700"/>
            <a:ext cx="2617746" cy="830998"/>
          </a:xfrm>
          <a:prstGeom prst="roundRect">
            <a:avLst/>
          </a:prstGeom>
          <a:solidFill>
            <a:srgbClr val="FBE043"/>
          </a:solidFill>
          <a:ln>
            <a:solidFill>
              <a:srgbClr val="FBE0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" name="TextBox 11">
            <a:extLst>
              <a:ext uri="{FF2B5EF4-FFF2-40B4-BE49-F238E27FC236}">
                <a16:creationId xmlns:a16="http://schemas.microsoft.com/office/drawing/2014/main" id="{CD2D6BA3-8582-B855-1B9C-89A9F1275F30}"/>
              </a:ext>
            </a:extLst>
          </p:cNvPr>
          <p:cNvSpPr txBox="1"/>
          <p:nvPr/>
        </p:nvSpPr>
        <p:spPr>
          <a:xfrm>
            <a:off x="12783175" y="2628900"/>
            <a:ext cx="1866282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3000" b="1" spc="-126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쉐어토리</a:t>
            </a:r>
            <a:endParaRPr lang="en-US" altLang="ko-KR" sz="3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CEF61DC-38E0-2FFA-9591-8CB94FCA03C1}"/>
              </a:ext>
            </a:extLst>
          </p:cNvPr>
          <p:cNvSpPr/>
          <p:nvPr/>
        </p:nvSpPr>
        <p:spPr>
          <a:xfrm>
            <a:off x="12421589" y="3199553"/>
            <a:ext cx="2617746" cy="1105747"/>
          </a:xfrm>
          <a:prstGeom prst="rect">
            <a:avLst/>
          </a:prstGeom>
          <a:solidFill>
            <a:schemeClr val="bg1"/>
          </a:solidFill>
          <a:ln>
            <a:solidFill>
              <a:srgbClr val="FBE0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303757AA-2851-300F-B441-C51EEAEAF21C}"/>
              </a:ext>
            </a:extLst>
          </p:cNvPr>
          <p:cNvGrpSpPr/>
          <p:nvPr/>
        </p:nvGrpSpPr>
        <p:grpSpPr>
          <a:xfrm>
            <a:off x="6476011" y="2552700"/>
            <a:ext cx="2617746" cy="1752600"/>
            <a:chOff x="7102406" y="2902626"/>
            <a:chExt cx="2617746" cy="17526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D24C6CF2-FB90-D2A1-6D3A-8AB29754B137}"/>
                </a:ext>
              </a:extLst>
            </p:cNvPr>
            <p:cNvSpPr/>
            <p:nvPr/>
          </p:nvSpPr>
          <p:spPr>
            <a:xfrm>
              <a:off x="7102406" y="2902626"/>
              <a:ext cx="2617746" cy="83099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11">
              <a:extLst>
                <a:ext uri="{FF2B5EF4-FFF2-40B4-BE49-F238E27FC236}">
                  <a16:creationId xmlns:a16="http://schemas.microsoft.com/office/drawing/2014/main" id="{C90DE479-27D5-8BB1-347D-D68E0DD56F3D}"/>
                </a:ext>
              </a:extLst>
            </p:cNvPr>
            <p:cNvSpPr txBox="1"/>
            <p:nvPr/>
          </p:nvSpPr>
          <p:spPr>
            <a:xfrm>
              <a:off x="7574214" y="2978826"/>
              <a:ext cx="1645838" cy="4693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172"/>
                </a:lnSpc>
                <a:spcBef>
                  <a:spcPct val="0"/>
                </a:spcBef>
              </a:pPr>
              <a:r>
                <a:rPr lang="ko-KR" altLang="en-US" sz="3000" b="1" spc="-126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rPr>
                <a:t>번개장터</a:t>
              </a:r>
              <a:endParaRPr lang="en-US" altLang="ko-KR" sz="3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45506578-6503-6C67-C496-E09C37E21C3A}"/>
                </a:ext>
              </a:extLst>
            </p:cNvPr>
            <p:cNvSpPr/>
            <p:nvPr/>
          </p:nvSpPr>
          <p:spPr>
            <a:xfrm>
              <a:off x="7102406" y="3549479"/>
              <a:ext cx="2617746" cy="110574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0" name="Picture 6" descr="App Store에서 제공하는 번개장터">
              <a:extLst>
                <a:ext uri="{FF2B5EF4-FFF2-40B4-BE49-F238E27FC236}">
                  <a16:creationId xmlns:a16="http://schemas.microsoft.com/office/drawing/2014/main" id="{95C64163-C70D-B89A-6CA4-FE62CC5276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7449" y="3626129"/>
              <a:ext cx="1907660" cy="9077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E1246D81-E38C-D54C-6D59-E16B74AE97D5}"/>
              </a:ext>
            </a:extLst>
          </p:cNvPr>
          <p:cNvSpPr/>
          <p:nvPr/>
        </p:nvSpPr>
        <p:spPr>
          <a:xfrm>
            <a:off x="3503222" y="2552700"/>
            <a:ext cx="2617746" cy="830998"/>
          </a:xfrm>
          <a:prstGeom prst="roundRect">
            <a:avLst/>
          </a:prstGeom>
          <a:solidFill>
            <a:srgbClr val="04C954"/>
          </a:solidFill>
          <a:ln>
            <a:solidFill>
              <a:srgbClr val="04C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11">
            <a:extLst>
              <a:ext uri="{FF2B5EF4-FFF2-40B4-BE49-F238E27FC236}">
                <a16:creationId xmlns:a16="http://schemas.microsoft.com/office/drawing/2014/main" id="{B169F608-2C08-8604-4E39-CA41CF9050EE}"/>
              </a:ext>
            </a:extLst>
          </p:cNvPr>
          <p:cNvSpPr txBox="1"/>
          <p:nvPr/>
        </p:nvSpPr>
        <p:spPr>
          <a:xfrm>
            <a:off x="3975030" y="2628900"/>
            <a:ext cx="1645838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3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중고나라</a:t>
            </a:r>
            <a:endParaRPr lang="en-US" altLang="ko-KR" sz="3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0F55D87-6AEA-2D14-9639-FC3D97F0408A}"/>
              </a:ext>
            </a:extLst>
          </p:cNvPr>
          <p:cNvSpPr/>
          <p:nvPr/>
        </p:nvSpPr>
        <p:spPr>
          <a:xfrm>
            <a:off x="3503222" y="3199553"/>
            <a:ext cx="2617746" cy="1105747"/>
          </a:xfrm>
          <a:prstGeom prst="rect">
            <a:avLst/>
          </a:prstGeom>
          <a:solidFill>
            <a:schemeClr val="bg1"/>
          </a:solidFill>
          <a:ln>
            <a:solidFill>
              <a:srgbClr val="04C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32" name="Picture 8" descr="중고나라, '카페클리닝' 단행으로 하루 게시글 수 제한…거래 성사에 집중 : 중고나라">
            <a:extLst>
              <a:ext uri="{FF2B5EF4-FFF2-40B4-BE49-F238E27FC236}">
                <a16:creationId xmlns:a16="http://schemas.microsoft.com/office/drawing/2014/main" id="{F467FD6E-9FA2-0306-43CE-F6753171D5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3" t="20295" r="14383" b="22099"/>
          <a:stretch/>
        </p:blipFill>
        <p:spPr bwMode="auto">
          <a:xfrm>
            <a:off x="3812212" y="3296706"/>
            <a:ext cx="1971474" cy="896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직사각형 60">
            <a:extLst>
              <a:ext uri="{FF2B5EF4-FFF2-40B4-BE49-F238E27FC236}">
                <a16:creationId xmlns:a16="http://schemas.microsoft.com/office/drawing/2014/main" id="{642926CD-9036-E22A-6EE0-B46F09930065}"/>
              </a:ext>
            </a:extLst>
          </p:cNvPr>
          <p:cNvSpPr/>
          <p:nvPr/>
        </p:nvSpPr>
        <p:spPr>
          <a:xfrm>
            <a:off x="3489076" y="4457700"/>
            <a:ext cx="2617746" cy="4114800"/>
          </a:xfrm>
          <a:prstGeom prst="rect">
            <a:avLst/>
          </a:prstGeom>
          <a:noFill/>
          <a:ln>
            <a:solidFill>
              <a:srgbClr val="04C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C14A4586-C476-CB8C-2D1F-F371B07F7727}"/>
              </a:ext>
            </a:extLst>
          </p:cNvPr>
          <p:cNvSpPr/>
          <p:nvPr/>
        </p:nvSpPr>
        <p:spPr>
          <a:xfrm>
            <a:off x="6476011" y="4457700"/>
            <a:ext cx="2617746" cy="411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17E4E9C-39A6-EB4F-8D43-82BFB4AFFCBB}"/>
              </a:ext>
            </a:extLst>
          </p:cNvPr>
          <p:cNvSpPr/>
          <p:nvPr/>
        </p:nvSpPr>
        <p:spPr>
          <a:xfrm>
            <a:off x="9434654" y="4457700"/>
            <a:ext cx="2617746" cy="4114800"/>
          </a:xfrm>
          <a:prstGeom prst="rect">
            <a:avLst/>
          </a:prstGeom>
          <a:noFill/>
          <a:ln>
            <a:solidFill>
              <a:srgbClr val="FF6F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4" name="직사각형 1023">
            <a:extLst>
              <a:ext uri="{FF2B5EF4-FFF2-40B4-BE49-F238E27FC236}">
                <a16:creationId xmlns:a16="http://schemas.microsoft.com/office/drawing/2014/main" id="{5523E774-07AA-1A75-62CD-8BD9A7E70466}"/>
              </a:ext>
            </a:extLst>
          </p:cNvPr>
          <p:cNvSpPr/>
          <p:nvPr/>
        </p:nvSpPr>
        <p:spPr>
          <a:xfrm>
            <a:off x="12421589" y="4457700"/>
            <a:ext cx="2617746" cy="4114800"/>
          </a:xfrm>
          <a:prstGeom prst="rect">
            <a:avLst/>
          </a:prstGeom>
          <a:noFill/>
          <a:ln>
            <a:solidFill>
              <a:srgbClr val="FBE0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7" name="TextBox 11">
            <a:extLst>
              <a:ext uri="{FF2B5EF4-FFF2-40B4-BE49-F238E27FC236}">
                <a16:creationId xmlns:a16="http://schemas.microsoft.com/office/drawing/2014/main" id="{EAB4744A-976D-AE1A-CE95-877003CF06CA}"/>
              </a:ext>
            </a:extLst>
          </p:cNvPr>
          <p:cNvSpPr txBox="1"/>
          <p:nvPr/>
        </p:nvSpPr>
        <p:spPr>
          <a:xfrm>
            <a:off x="1833409" y="4626013"/>
            <a:ext cx="1415259" cy="4474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상품검색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1029" name="TextBox 11">
            <a:extLst>
              <a:ext uri="{FF2B5EF4-FFF2-40B4-BE49-F238E27FC236}">
                <a16:creationId xmlns:a16="http://schemas.microsoft.com/office/drawing/2014/main" id="{F5BA363E-769A-DBAA-B98D-73660E522698}"/>
              </a:ext>
            </a:extLst>
          </p:cNvPr>
          <p:cNvSpPr txBox="1"/>
          <p:nvPr/>
        </p:nvSpPr>
        <p:spPr>
          <a:xfrm>
            <a:off x="1833408" y="5229468"/>
            <a:ext cx="1415259" cy="4474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물품 등록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1031" name="TextBox 11">
            <a:extLst>
              <a:ext uri="{FF2B5EF4-FFF2-40B4-BE49-F238E27FC236}">
                <a16:creationId xmlns:a16="http://schemas.microsoft.com/office/drawing/2014/main" id="{AE943ED0-8C0D-EA82-3148-B4639392E260}"/>
              </a:ext>
            </a:extLst>
          </p:cNvPr>
          <p:cNvSpPr txBox="1"/>
          <p:nvPr/>
        </p:nvSpPr>
        <p:spPr>
          <a:xfrm>
            <a:off x="1833407" y="5839068"/>
            <a:ext cx="1415259" cy="4474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카테고리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1033" name="TextBox 11">
            <a:extLst>
              <a:ext uri="{FF2B5EF4-FFF2-40B4-BE49-F238E27FC236}">
                <a16:creationId xmlns:a16="http://schemas.microsoft.com/office/drawing/2014/main" id="{4DF5E36F-BE20-E706-08FC-06D06F2976F5}"/>
              </a:ext>
            </a:extLst>
          </p:cNvPr>
          <p:cNvSpPr txBox="1"/>
          <p:nvPr/>
        </p:nvSpPr>
        <p:spPr>
          <a:xfrm>
            <a:off x="1833405" y="7047207"/>
            <a:ext cx="1415259" cy="4474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커뮤니티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1034" name="TextBox 11">
            <a:extLst>
              <a:ext uri="{FF2B5EF4-FFF2-40B4-BE49-F238E27FC236}">
                <a16:creationId xmlns:a16="http://schemas.microsoft.com/office/drawing/2014/main" id="{8F68CA91-7238-081C-6D43-81C194FBA98D}"/>
              </a:ext>
            </a:extLst>
          </p:cNvPr>
          <p:cNvSpPr txBox="1"/>
          <p:nvPr/>
        </p:nvSpPr>
        <p:spPr>
          <a:xfrm>
            <a:off x="1833406" y="6443752"/>
            <a:ext cx="1415259" cy="4474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채팅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1035" name="TextBox 11">
            <a:extLst>
              <a:ext uri="{FF2B5EF4-FFF2-40B4-BE49-F238E27FC236}">
                <a16:creationId xmlns:a16="http://schemas.microsoft.com/office/drawing/2014/main" id="{7BC76FDF-046A-4EDD-D2EB-D426B5B6F0C1}"/>
              </a:ext>
            </a:extLst>
          </p:cNvPr>
          <p:cNvSpPr txBox="1"/>
          <p:nvPr/>
        </p:nvSpPr>
        <p:spPr>
          <a:xfrm>
            <a:off x="1833405" y="7650662"/>
            <a:ext cx="1415259" cy="4474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경매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1037" name="원형: 비어 있음 1036">
            <a:extLst>
              <a:ext uri="{FF2B5EF4-FFF2-40B4-BE49-F238E27FC236}">
                <a16:creationId xmlns:a16="http://schemas.microsoft.com/office/drawing/2014/main" id="{C2B23B59-C816-D5B2-3C9C-6C033ADA70EC}"/>
              </a:ext>
            </a:extLst>
          </p:cNvPr>
          <p:cNvSpPr/>
          <p:nvPr/>
        </p:nvSpPr>
        <p:spPr>
          <a:xfrm>
            <a:off x="4639837" y="4766359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38" name="원형: 비어 있음 1037">
            <a:extLst>
              <a:ext uri="{FF2B5EF4-FFF2-40B4-BE49-F238E27FC236}">
                <a16:creationId xmlns:a16="http://schemas.microsoft.com/office/drawing/2014/main" id="{4D0D1D9A-5C31-78F1-4213-2C9BE1903574}"/>
              </a:ext>
            </a:extLst>
          </p:cNvPr>
          <p:cNvSpPr/>
          <p:nvPr/>
        </p:nvSpPr>
        <p:spPr>
          <a:xfrm>
            <a:off x="4639837" y="5374558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39" name="원형: 비어 있음 1038">
            <a:extLst>
              <a:ext uri="{FF2B5EF4-FFF2-40B4-BE49-F238E27FC236}">
                <a16:creationId xmlns:a16="http://schemas.microsoft.com/office/drawing/2014/main" id="{BBEB33D5-0491-8F57-F2A4-6EB327C082B4}"/>
              </a:ext>
            </a:extLst>
          </p:cNvPr>
          <p:cNvSpPr/>
          <p:nvPr/>
        </p:nvSpPr>
        <p:spPr>
          <a:xfrm>
            <a:off x="4639837" y="5970763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40" name="원형: 비어 있음 1039">
            <a:extLst>
              <a:ext uri="{FF2B5EF4-FFF2-40B4-BE49-F238E27FC236}">
                <a16:creationId xmlns:a16="http://schemas.microsoft.com/office/drawing/2014/main" id="{4DFF9093-37FE-3639-FEBD-E50E5CAF78AD}"/>
              </a:ext>
            </a:extLst>
          </p:cNvPr>
          <p:cNvSpPr/>
          <p:nvPr/>
        </p:nvSpPr>
        <p:spPr>
          <a:xfrm>
            <a:off x="4639837" y="6588382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42" name="곱하기 기호 1041">
            <a:extLst>
              <a:ext uri="{FF2B5EF4-FFF2-40B4-BE49-F238E27FC236}">
                <a16:creationId xmlns:a16="http://schemas.microsoft.com/office/drawing/2014/main" id="{CAFA77C3-8F7C-8015-A205-0F643A312165}"/>
              </a:ext>
            </a:extLst>
          </p:cNvPr>
          <p:cNvSpPr/>
          <p:nvPr/>
        </p:nvSpPr>
        <p:spPr>
          <a:xfrm>
            <a:off x="4541515" y="7128908"/>
            <a:ext cx="501445" cy="539957"/>
          </a:xfrm>
          <a:prstGeom prst="mathMultiply">
            <a:avLst>
              <a:gd name="adj1" fmla="val 1312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3" name="곱하기 기호 1042">
            <a:extLst>
              <a:ext uri="{FF2B5EF4-FFF2-40B4-BE49-F238E27FC236}">
                <a16:creationId xmlns:a16="http://schemas.microsoft.com/office/drawing/2014/main" id="{295E4BE9-AE06-DC5B-35B0-921155EB1137}"/>
              </a:ext>
            </a:extLst>
          </p:cNvPr>
          <p:cNvSpPr/>
          <p:nvPr/>
        </p:nvSpPr>
        <p:spPr>
          <a:xfrm>
            <a:off x="4547226" y="7734300"/>
            <a:ext cx="501445" cy="539957"/>
          </a:xfrm>
          <a:prstGeom prst="mathMultiply">
            <a:avLst>
              <a:gd name="adj1" fmla="val 1312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4" name="원형: 비어 있음 1043">
            <a:extLst>
              <a:ext uri="{FF2B5EF4-FFF2-40B4-BE49-F238E27FC236}">
                <a16:creationId xmlns:a16="http://schemas.microsoft.com/office/drawing/2014/main" id="{B06320FA-FBB3-5130-74AE-5FC006571495}"/>
              </a:ext>
            </a:extLst>
          </p:cNvPr>
          <p:cNvSpPr/>
          <p:nvPr/>
        </p:nvSpPr>
        <p:spPr>
          <a:xfrm>
            <a:off x="7620000" y="4766359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45" name="원형: 비어 있음 1044">
            <a:extLst>
              <a:ext uri="{FF2B5EF4-FFF2-40B4-BE49-F238E27FC236}">
                <a16:creationId xmlns:a16="http://schemas.microsoft.com/office/drawing/2014/main" id="{D976A5DA-2350-002E-637D-B94C8774208D}"/>
              </a:ext>
            </a:extLst>
          </p:cNvPr>
          <p:cNvSpPr/>
          <p:nvPr/>
        </p:nvSpPr>
        <p:spPr>
          <a:xfrm>
            <a:off x="7620000" y="5374558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46" name="원형: 비어 있음 1045">
            <a:extLst>
              <a:ext uri="{FF2B5EF4-FFF2-40B4-BE49-F238E27FC236}">
                <a16:creationId xmlns:a16="http://schemas.microsoft.com/office/drawing/2014/main" id="{5C4F3872-6C65-2848-9C67-0FEA4049D434}"/>
              </a:ext>
            </a:extLst>
          </p:cNvPr>
          <p:cNvSpPr/>
          <p:nvPr/>
        </p:nvSpPr>
        <p:spPr>
          <a:xfrm>
            <a:off x="7620000" y="5970763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47" name="원형: 비어 있음 1046">
            <a:extLst>
              <a:ext uri="{FF2B5EF4-FFF2-40B4-BE49-F238E27FC236}">
                <a16:creationId xmlns:a16="http://schemas.microsoft.com/office/drawing/2014/main" id="{E325AC85-CD3C-AC70-B1FB-464ACBC53806}"/>
              </a:ext>
            </a:extLst>
          </p:cNvPr>
          <p:cNvSpPr/>
          <p:nvPr/>
        </p:nvSpPr>
        <p:spPr>
          <a:xfrm>
            <a:off x="7620000" y="6588382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48" name="곱하기 기호 1047">
            <a:extLst>
              <a:ext uri="{FF2B5EF4-FFF2-40B4-BE49-F238E27FC236}">
                <a16:creationId xmlns:a16="http://schemas.microsoft.com/office/drawing/2014/main" id="{75E74EEA-6536-C82B-CED1-DFA45A2D85C4}"/>
              </a:ext>
            </a:extLst>
          </p:cNvPr>
          <p:cNvSpPr/>
          <p:nvPr/>
        </p:nvSpPr>
        <p:spPr>
          <a:xfrm>
            <a:off x="7521678" y="7128908"/>
            <a:ext cx="501445" cy="539957"/>
          </a:xfrm>
          <a:prstGeom prst="mathMultiply">
            <a:avLst>
              <a:gd name="adj1" fmla="val 1312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9" name="곱하기 기호 1048">
            <a:extLst>
              <a:ext uri="{FF2B5EF4-FFF2-40B4-BE49-F238E27FC236}">
                <a16:creationId xmlns:a16="http://schemas.microsoft.com/office/drawing/2014/main" id="{FB04E24D-3E71-1009-6E0E-B4DEA0864A85}"/>
              </a:ext>
            </a:extLst>
          </p:cNvPr>
          <p:cNvSpPr/>
          <p:nvPr/>
        </p:nvSpPr>
        <p:spPr>
          <a:xfrm>
            <a:off x="7527389" y="7734300"/>
            <a:ext cx="501445" cy="539957"/>
          </a:xfrm>
          <a:prstGeom prst="mathMultiply">
            <a:avLst>
              <a:gd name="adj1" fmla="val 1312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0" name="원형: 비어 있음 1049">
            <a:extLst>
              <a:ext uri="{FF2B5EF4-FFF2-40B4-BE49-F238E27FC236}">
                <a16:creationId xmlns:a16="http://schemas.microsoft.com/office/drawing/2014/main" id="{C678EBB1-941D-606E-B628-FBB28550ED14}"/>
              </a:ext>
            </a:extLst>
          </p:cNvPr>
          <p:cNvSpPr/>
          <p:nvPr/>
        </p:nvSpPr>
        <p:spPr>
          <a:xfrm>
            <a:off x="10632598" y="4762500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51" name="원형: 비어 있음 1050">
            <a:extLst>
              <a:ext uri="{FF2B5EF4-FFF2-40B4-BE49-F238E27FC236}">
                <a16:creationId xmlns:a16="http://schemas.microsoft.com/office/drawing/2014/main" id="{476B2E55-C590-1B10-D13C-6887AB5F5705}"/>
              </a:ext>
            </a:extLst>
          </p:cNvPr>
          <p:cNvSpPr/>
          <p:nvPr/>
        </p:nvSpPr>
        <p:spPr>
          <a:xfrm>
            <a:off x="10632598" y="5370699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52" name="원형: 비어 있음 1051">
            <a:extLst>
              <a:ext uri="{FF2B5EF4-FFF2-40B4-BE49-F238E27FC236}">
                <a16:creationId xmlns:a16="http://schemas.microsoft.com/office/drawing/2014/main" id="{9FCC37CE-BBF4-4D58-19D5-30EF6E5DC90F}"/>
              </a:ext>
            </a:extLst>
          </p:cNvPr>
          <p:cNvSpPr/>
          <p:nvPr/>
        </p:nvSpPr>
        <p:spPr>
          <a:xfrm>
            <a:off x="10632598" y="5966904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53" name="원형: 비어 있음 1052">
            <a:extLst>
              <a:ext uri="{FF2B5EF4-FFF2-40B4-BE49-F238E27FC236}">
                <a16:creationId xmlns:a16="http://schemas.microsoft.com/office/drawing/2014/main" id="{5D8835E8-6F72-8705-3E24-C448FC2A7ACC}"/>
              </a:ext>
            </a:extLst>
          </p:cNvPr>
          <p:cNvSpPr/>
          <p:nvPr/>
        </p:nvSpPr>
        <p:spPr>
          <a:xfrm>
            <a:off x="10632598" y="6584523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55" name="곱하기 기호 1054">
            <a:extLst>
              <a:ext uri="{FF2B5EF4-FFF2-40B4-BE49-F238E27FC236}">
                <a16:creationId xmlns:a16="http://schemas.microsoft.com/office/drawing/2014/main" id="{E9FF25C8-21D3-EED2-0360-21D170336FEC}"/>
              </a:ext>
            </a:extLst>
          </p:cNvPr>
          <p:cNvSpPr/>
          <p:nvPr/>
        </p:nvSpPr>
        <p:spPr>
          <a:xfrm>
            <a:off x="10539987" y="7730441"/>
            <a:ext cx="501445" cy="539957"/>
          </a:xfrm>
          <a:prstGeom prst="mathMultiply">
            <a:avLst>
              <a:gd name="adj1" fmla="val 1312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6" name="원형: 비어 있음 1055">
            <a:extLst>
              <a:ext uri="{FF2B5EF4-FFF2-40B4-BE49-F238E27FC236}">
                <a16:creationId xmlns:a16="http://schemas.microsoft.com/office/drawing/2014/main" id="{10E1A9E8-424C-B134-74C3-69B36AAEF4C0}"/>
              </a:ext>
            </a:extLst>
          </p:cNvPr>
          <p:cNvSpPr/>
          <p:nvPr/>
        </p:nvSpPr>
        <p:spPr>
          <a:xfrm>
            <a:off x="13563600" y="4762500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57" name="원형: 비어 있음 1056">
            <a:extLst>
              <a:ext uri="{FF2B5EF4-FFF2-40B4-BE49-F238E27FC236}">
                <a16:creationId xmlns:a16="http://schemas.microsoft.com/office/drawing/2014/main" id="{316C53E9-67B3-3B25-E18F-A6B3DE34F5DD}"/>
              </a:ext>
            </a:extLst>
          </p:cNvPr>
          <p:cNvSpPr/>
          <p:nvPr/>
        </p:nvSpPr>
        <p:spPr>
          <a:xfrm>
            <a:off x="13563600" y="5370699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58" name="원형: 비어 있음 1057">
            <a:extLst>
              <a:ext uri="{FF2B5EF4-FFF2-40B4-BE49-F238E27FC236}">
                <a16:creationId xmlns:a16="http://schemas.microsoft.com/office/drawing/2014/main" id="{12E710F7-5DAC-98F4-989E-0D194DE978C5}"/>
              </a:ext>
            </a:extLst>
          </p:cNvPr>
          <p:cNvSpPr/>
          <p:nvPr/>
        </p:nvSpPr>
        <p:spPr>
          <a:xfrm>
            <a:off x="13563600" y="5966904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59" name="원형: 비어 있음 1058">
            <a:extLst>
              <a:ext uri="{FF2B5EF4-FFF2-40B4-BE49-F238E27FC236}">
                <a16:creationId xmlns:a16="http://schemas.microsoft.com/office/drawing/2014/main" id="{BDD82BE5-6B5A-046A-44B1-2295CC78E868}"/>
              </a:ext>
            </a:extLst>
          </p:cNvPr>
          <p:cNvSpPr/>
          <p:nvPr/>
        </p:nvSpPr>
        <p:spPr>
          <a:xfrm>
            <a:off x="13563600" y="6584523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62" name="원형: 비어 있음 1061">
            <a:extLst>
              <a:ext uri="{FF2B5EF4-FFF2-40B4-BE49-F238E27FC236}">
                <a16:creationId xmlns:a16="http://schemas.microsoft.com/office/drawing/2014/main" id="{1F72CD1B-5BA7-B357-96A1-4FDC7BA543D4}"/>
              </a:ext>
            </a:extLst>
          </p:cNvPr>
          <p:cNvSpPr/>
          <p:nvPr/>
        </p:nvSpPr>
        <p:spPr>
          <a:xfrm>
            <a:off x="13563600" y="7202142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63" name="원형: 비어 있음 1062">
            <a:extLst>
              <a:ext uri="{FF2B5EF4-FFF2-40B4-BE49-F238E27FC236}">
                <a16:creationId xmlns:a16="http://schemas.microsoft.com/office/drawing/2014/main" id="{E3DB3C38-EFC4-DDF8-7F2B-1F40582675FF}"/>
              </a:ext>
            </a:extLst>
          </p:cNvPr>
          <p:cNvSpPr/>
          <p:nvPr/>
        </p:nvSpPr>
        <p:spPr>
          <a:xfrm>
            <a:off x="13563600" y="7844915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64" name="원형: 비어 있음 1063">
            <a:extLst>
              <a:ext uri="{FF2B5EF4-FFF2-40B4-BE49-F238E27FC236}">
                <a16:creationId xmlns:a16="http://schemas.microsoft.com/office/drawing/2014/main" id="{B0EF3C8E-9DAC-E43B-1D53-F8DA0FB108E5}"/>
              </a:ext>
            </a:extLst>
          </p:cNvPr>
          <p:cNvSpPr/>
          <p:nvPr/>
        </p:nvSpPr>
        <p:spPr>
          <a:xfrm>
            <a:off x="10632598" y="7159939"/>
            <a:ext cx="304800" cy="311008"/>
          </a:xfrm>
          <a:prstGeom prst="donut">
            <a:avLst>
              <a:gd name="adj" fmla="val 10881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DA3D96BD-CD4D-C57E-04AA-328D89CC953F}"/>
              </a:ext>
            </a:extLst>
          </p:cNvPr>
          <p:cNvSpPr/>
          <p:nvPr/>
        </p:nvSpPr>
        <p:spPr>
          <a:xfrm>
            <a:off x="13324557" y="3427284"/>
            <a:ext cx="647082" cy="647082"/>
          </a:xfrm>
          <a:prstGeom prst="ellipse">
            <a:avLst/>
          </a:prstGeom>
          <a:solidFill>
            <a:srgbClr val="F6E266"/>
          </a:solidFill>
          <a:ln w="101600">
            <a:noFill/>
          </a:ln>
          <a:scene3d>
            <a:camera prst="perspectiveLeft"/>
            <a:lightRig rig="flat" dir="t"/>
          </a:scene3d>
          <a:sp3d extrusionH="381000" contourW="44450">
            <a:extrusionClr>
              <a:srgbClr val="F1D333"/>
            </a:extrusionClr>
            <a:contourClr>
              <a:schemeClr val="tx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C3C993D-79A2-142B-0379-088A38C71147}"/>
              </a:ext>
            </a:extLst>
          </p:cNvPr>
          <p:cNvGrpSpPr/>
          <p:nvPr/>
        </p:nvGrpSpPr>
        <p:grpSpPr>
          <a:xfrm>
            <a:off x="13483782" y="3557635"/>
            <a:ext cx="397516" cy="374954"/>
            <a:chOff x="4542180" y="798099"/>
            <a:chExt cx="994160" cy="937735"/>
          </a:xfrm>
        </p:grpSpPr>
        <p:pic>
          <p:nvPicPr>
            <p:cNvPr id="5" name="Picture 2" descr="My Letter S Personal 포스터">
              <a:extLst>
                <a:ext uri="{FF2B5EF4-FFF2-40B4-BE49-F238E27FC236}">
                  <a16:creationId xmlns:a16="http://schemas.microsoft.com/office/drawing/2014/main" id="{35036F1C-E79B-15E7-E9E9-FCEC13D820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8133" b="74800" l="9888" r="89925">
                          <a14:foregroundMark x1="48507" y1="74800" x2="48507" y2="748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37" t="15053" r="29737" b="23660"/>
            <a:stretch/>
          </p:blipFill>
          <p:spPr bwMode="auto">
            <a:xfrm>
              <a:off x="4542180" y="798099"/>
              <a:ext cx="589765" cy="937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My Letter S Personal 포스터">
              <a:extLst>
                <a:ext uri="{FF2B5EF4-FFF2-40B4-BE49-F238E27FC236}">
                  <a16:creationId xmlns:a16="http://schemas.microsoft.com/office/drawing/2014/main" id="{EE63F724-60B8-07B4-922B-13B44E0E29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8133" b="74800" l="9888" r="89925">
                          <a14:foregroundMark x1="48507" y1="74800" x2="48507" y2="748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37" t="15053" r="29737" b="23660"/>
            <a:stretch/>
          </p:blipFill>
          <p:spPr bwMode="auto">
            <a:xfrm>
              <a:off x="4946575" y="798099"/>
              <a:ext cx="589765" cy="937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78706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03F99-AB14-1E4A-EC1D-893087C76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75B6333F-F88F-7834-30A2-D7A1E6512CA6}"/>
              </a:ext>
            </a:extLst>
          </p:cNvPr>
          <p:cNvSpPr/>
          <p:nvPr/>
        </p:nvSpPr>
        <p:spPr>
          <a:xfrm>
            <a:off x="1058920" y="1943100"/>
            <a:ext cx="846080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05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65C46A-DB5D-98F7-9980-6958A2C73038}"/>
              </a:ext>
            </a:extLst>
          </p:cNvPr>
          <p:cNvSpPr txBox="1"/>
          <p:nvPr/>
        </p:nvSpPr>
        <p:spPr>
          <a:xfrm>
            <a:off x="990600" y="1112103"/>
            <a:ext cx="784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02 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기술 학습 계획</a:t>
            </a:r>
          </a:p>
        </p:txBody>
      </p:sp>
      <p:pic>
        <p:nvPicPr>
          <p:cNvPr id="3" name="Object 50">
            <a:extLst>
              <a:ext uri="{FF2B5EF4-FFF2-40B4-BE49-F238E27FC236}">
                <a16:creationId xmlns:a16="http://schemas.microsoft.com/office/drawing/2014/main" id="{F17426B3-395B-E03F-319B-52153BA4A9D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414700" y="5568177"/>
            <a:ext cx="7619048" cy="64095"/>
          </a:xfrm>
          <a:prstGeom prst="rect">
            <a:avLst/>
          </a:prstGeom>
        </p:spPr>
      </p:pic>
      <p:grpSp>
        <p:nvGrpSpPr>
          <p:cNvPr id="4" name="Group 16">
            <a:extLst>
              <a:ext uri="{FF2B5EF4-FFF2-40B4-BE49-F238E27FC236}">
                <a16:creationId xmlns:a16="http://schemas.microsoft.com/office/drawing/2014/main" id="{D89B224B-09D3-111E-377B-98F7DBC9F9E2}"/>
              </a:ext>
            </a:extLst>
          </p:cNvPr>
          <p:cNvGrpSpPr/>
          <p:nvPr/>
        </p:nvGrpSpPr>
        <p:grpSpPr>
          <a:xfrm>
            <a:off x="2895600" y="7727097"/>
            <a:ext cx="3733800" cy="1447800"/>
            <a:chOff x="0" y="0"/>
            <a:chExt cx="812800" cy="812800"/>
          </a:xfrm>
        </p:grpSpPr>
        <p:sp>
          <p:nvSpPr>
            <p:cNvPr id="5" name="Freeform 17">
              <a:extLst>
                <a:ext uri="{FF2B5EF4-FFF2-40B4-BE49-F238E27FC236}">
                  <a16:creationId xmlns:a16="http://schemas.microsoft.com/office/drawing/2014/main" id="{5ABC17E7-5F10-2FEA-2FDE-9BF176A918C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E2DE"/>
            </a:solidFill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en-US" altLang="ko-KR" sz="30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FRONT-END</a:t>
              </a:r>
              <a:endParaRPr lang="ko-KR" altLang="en-US" sz="3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7" name="TextBox 18">
              <a:extLst>
                <a:ext uri="{FF2B5EF4-FFF2-40B4-BE49-F238E27FC236}">
                  <a16:creationId xmlns:a16="http://schemas.microsoft.com/office/drawing/2014/main" id="{2E824980-C433-E274-A000-74585CD750D0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4"/>
                </a:lnSpc>
              </a:pPr>
              <a:endParaRPr sz="2400"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grpSp>
        <p:nvGrpSpPr>
          <p:cNvPr id="12" name="Group 16">
            <a:extLst>
              <a:ext uri="{FF2B5EF4-FFF2-40B4-BE49-F238E27FC236}">
                <a16:creationId xmlns:a16="http://schemas.microsoft.com/office/drawing/2014/main" id="{897D7B5E-A01F-FD6A-4B32-26BF1A2F85FC}"/>
              </a:ext>
            </a:extLst>
          </p:cNvPr>
          <p:cNvGrpSpPr/>
          <p:nvPr/>
        </p:nvGrpSpPr>
        <p:grpSpPr>
          <a:xfrm>
            <a:off x="11819048" y="7727097"/>
            <a:ext cx="3733800" cy="1447800"/>
            <a:chOff x="0" y="0"/>
            <a:chExt cx="812800" cy="812800"/>
          </a:xfrm>
        </p:grpSpPr>
        <p:sp>
          <p:nvSpPr>
            <p:cNvPr id="13" name="Freeform 17">
              <a:extLst>
                <a:ext uri="{FF2B5EF4-FFF2-40B4-BE49-F238E27FC236}">
                  <a16:creationId xmlns:a16="http://schemas.microsoft.com/office/drawing/2014/main" id="{45EDD4B8-D989-5331-A4A8-053D9F8BB05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E2DE"/>
            </a:solidFill>
            <a:ln w="38100" cap="sq">
              <a:solidFill>
                <a:srgbClr val="263035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en-US" altLang="ko-KR" sz="30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BACK-END</a:t>
              </a:r>
              <a:endParaRPr lang="ko-KR" altLang="en-US" sz="3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4" name="TextBox 18">
              <a:extLst>
                <a:ext uri="{FF2B5EF4-FFF2-40B4-BE49-F238E27FC236}">
                  <a16:creationId xmlns:a16="http://schemas.microsoft.com/office/drawing/2014/main" id="{FC4751A7-AADD-64AF-8375-57DB79FA77AA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84"/>
                </a:lnSpc>
              </a:pPr>
              <a:endParaRPr sz="2400"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pic>
        <p:nvPicPr>
          <p:cNvPr id="2050" name="Picture 2" descr="React png images | PNGWing">
            <a:extLst>
              <a:ext uri="{FF2B5EF4-FFF2-40B4-BE49-F238E27FC236}">
                <a16:creationId xmlns:a16="http://schemas.microsoft.com/office/drawing/2014/main" id="{04686EA3-B899-903D-7984-347663B08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167" b="95833" l="10000" r="90000">
                        <a14:foregroundMark x1="29722" y1="5833" x2="29722" y2="5833"/>
                        <a14:foregroundMark x1="60556" y1="4444" x2="60556" y2="4444"/>
                        <a14:foregroundMark x1="35000" y1="4444" x2="35000" y2="4444"/>
                        <a14:foregroundMark x1="49444" y1="36667" x2="48611" y2="37222"/>
                        <a14:foregroundMark x1="13889" y1="84444" x2="13889" y2="84444"/>
                        <a14:foregroundMark x1="24444" y1="95833" x2="24444" y2="95833"/>
                        <a14:foregroundMark x1="31944" y1="90556" x2="31944" y2="90556"/>
                        <a14:foregroundMark x1="50278" y1="91111" x2="50278" y2="91111"/>
                        <a14:foregroundMark x1="67222" y1="86667" x2="67222" y2="86667"/>
                        <a14:foregroundMark x1="83056" y1="84167" x2="83056" y2="84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173" y="3771900"/>
            <a:ext cx="2424320" cy="242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그림 20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D6ECC80-B3F1-3F0E-6EF3-CC2A2E6EAD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1149" y="3645639"/>
            <a:ext cx="2840741" cy="1491389"/>
          </a:xfrm>
          <a:prstGeom prst="rect">
            <a:avLst/>
          </a:prstGeom>
        </p:spPr>
      </p:pic>
      <p:pic>
        <p:nvPicPr>
          <p:cNvPr id="23" name="그림 22" descr="그래픽, 폰트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A2AC801-6328-793A-578B-0C4D5F7E67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244" y="2025221"/>
            <a:ext cx="1691864" cy="1486989"/>
          </a:xfrm>
          <a:prstGeom prst="rect">
            <a:avLst/>
          </a:prstGeom>
        </p:spPr>
      </p:pic>
      <p:pic>
        <p:nvPicPr>
          <p:cNvPr id="27" name="그림 26" descr="그래픽, 폰트, 그래픽 디자인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8BF98AE-0466-6152-D8A7-E174FE4475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5023" y="1662648"/>
            <a:ext cx="2491647" cy="1868736"/>
          </a:xfrm>
          <a:prstGeom prst="rect">
            <a:avLst/>
          </a:prstGeom>
        </p:spPr>
      </p:pic>
      <p:pic>
        <p:nvPicPr>
          <p:cNvPr id="1026" name="Picture 2" descr="Firebase] 1. 혁신적인 백엔드플랫폼 파이어베이스(Firebase) — Steemit">
            <a:extLst>
              <a:ext uri="{FF2B5EF4-FFF2-40B4-BE49-F238E27FC236}">
                <a16:creationId xmlns:a16="http://schemas.microsoft.com/office/drawing/2014/main" id="{623FB7C8-4E1F-6C90-1156-1D4177F95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6670" y="3820885"/>
            <a:ext cx="2799190" cy="11663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oopcode.co | all softwares you need for your business">
            <a:extLst>
              <a:ext uri="{FF2B5EF4-FFF2-40B4-BE49-F238E27FC236}">
                <a16:creationId xmlns:a16="http://schemas.microsoft.com/office/drawing/2014/main" id="{E2F86D5A-6C4D-E96B-338C-49B27711A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8631" y="5486672"/>
            <a:ext cx="1708348" cy="17083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 descr="스크린샷, 그래픽, 원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3ACEC3-1B86-235A-F0C5-CD8DA32729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21520" y="5486672"/>
            <a:ext cx="1689298" cy="16892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그림 8" descr="스크린샷, 그래픽, 디자인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D576DB-F0A7-2764-6AFE-18A9B516E22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594" y="5489465"/>
            <a:ext cx="1858297" cy="16585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그림 10" descr="그래픽, 창의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28A98B-BEFD-AB42-9DD3-84ACCBB81D0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459" y="3904699"/>
            <a:ext cx="1849440" cy="18494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그림 14" descr="예술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2EF1AE-4807-E305-E85F-8282D97F832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311106" y="1820157"/>
            <a:ext cx="1491745" cy="149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32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4E22C-AC46-7236-C5FF-560D0F1E1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9DCAB223-AC76-3303-E6B3-AB83B69167D5}"/>
              </a:ext>
            </a:extLst>
          </p:cNvPr>
          <p:cNvSpPr/>
          <p:nvPr/>
        </p:nvSpPr>
        <p:spPr>
          <a:xfrm>
            <a:off x="1058920" y="1943100"/>
            <a:ext cx="846080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05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FB97DB-81C4-B151-8DFE-691296526B1C}"/>
              </a:ext>
            </a:extLst>
          </p:cNvPr>
          <p:cNvSpPr txBox="1"/>
          <p:nvPr/>
        </p:nvSpPr>
        <p:spPr>
          <a:xfrm>
            <a:off x="990600" y="1112103"/>
            <a:ext cx="784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03 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작품 이용 사례 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9C4E4A7-425F-AE39-5B87-D26E110B1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717650"/>
              </p:ext>
            </p:extLst>
          </p:nvPr>
        </p:nvGraphicFramePr>
        <p:xfrm>
          <a:off x="3733800" y="2552700"/>
          <a:ext cx="12420600" cy="60198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140200">
                  <a:extLst>
                    <a:ext uri="{9D8B030D-6E8A-4147-A177-3AD203B41FA5}">
                      <a16:colId xmlns:a16="http://schemas.microsoft.com/office/drawing/2014/main" val="4053883082"/>
                    </a:ext>
                  </a:extLst>
                </a:gridCol>
                <a:gridCol w="4140200">
                  <a:extLst>
                    <a:ext uri="{9D8B030D-6E8A-4147-A177-3AD203B41FA5}">
                      <a16:colId xmlns:a16="http://schemas.microsoft.com/office/drawing/2014/main" val="148032942"/>
                    </a:ext>
                  </a:extLst>
                </a:gridCol>
                <a:gridCol w="4140200">
                  <a:extLst>
                    <a:ext uri="{9D8B030D-6E8A-4147-A177-3AD203B41FA5}">
                      <a16:colId xmlns:a16="http://schemas.microsoft.com/office/drawing/2014/main" val="2822077248"/>
                    </a:ext>
                  </a:extLst>
                </a:gridCol>
              </a:tblGrid>
              <a:tr h="2006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상품을 가격 흥정 없이 </a:t>
                      </a:r>
                      <a:endParaRPr lang="en-US" altLang="ko-KR" dirty="0">
                        <a:ln>
                          <a:solidFill>
                            <a:schemeClr val="accent1">
                              <a:shade val="15000"/>
                              <a:alpha val="20000"/>
                            </a:schemeClr>
                          </a:solidFill>
                        </a:ln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판매하고 싶음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일상에서의 재미있는 경험을</a:t>
                      </a:r>
                      <a:endParaRPr lang="en-US" altLang="ko-KR" dirty="0">
                        <a:ln>
                          <a:solidFill>
                            <a:schemeClr val="accent1">
                              <a:shade val="15000"/>
                              <a:alpha val="20000"/>
                            </a:schemeClr>
                          </a:solidFill>
                        </a:ln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공유하고 싶음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중고상품 거래를 하고 싶음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597186"/>
                  </a:ext>
                </a:extLst>
              </a:tr>
              <a:tr h="2006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경매 페이지로 이동하여</a:t>
                      </a:r>
                      <a:endParaRPr lang="en-US" altLang="ko-KR" dirty="0">
                        <a:ln>
                          <a:solidFill>
                            <a:schemeClr val="accent1">
                              <a:shade val="15000"/>
                              <a:alpha val="20000"/>
                            </a:schemeClr>
                          </a:solidFill>
                        </a:ln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상품 등록</a:t>
                      </a:r>
                      <a:endParaRPr lang="en-US" altLang="ko-KR" dirty="0">
                        <a:ln>
                          <a:solidFill>
                            <a:schemeClr val="accent1">
                              <a:shade val="15000"/>
                              <a:alpha val="20000"/>
                            </a:schemeClr>
                          </a:solidFill>
                        </a:ln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게시판 페이지로 이동하여</a:t>
                      </a:r>
                      <a:endParaRPr lang="en-US" altLang="ko-KR" dirty="0">
                        <a:ln>
                          <a:solidFill>
                            <a:schemeClr val="accent1">
                              <a:shade val="15000"/>
                              <a:alpha val="20000"/>
                            </a:schemeClr>
                          </a:solidFill>
                        </a:ln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글 작성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판매자와 </a:t>
                      </a:r>
                      <a:r>
                        <a:rPr lang="ko-KR" altLang="en-US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채팅하여</a:t>
                      </a:r>
                      <a:r>
                        <a:rPr lang="ko-KR" altLang="en-US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 거래하거나</a:t>
                      </a:r>
                      <a:endParaRPr lang="en-US" altLang="ko-KR" dirty="0">
                        <a:ln>
                          <a:solidFill>
                            <a:schemeClr val="accent1">
                              <a:shade val="15000"/>
                              <a:alpha val="20000"/>
                            </a:schemeClr>
                          </a:solidFill>
                        </a:ln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안전거래로 사이트의</a:t>
                      </a:r>
                      <a:endParaRPr lang="en-US" altLang="ko-KR" dirty="0">
                        <a:ln>
                          <a:solidFill>
                            <a:schemeClr val="accent1">
                              <a:shade val="15000"/>
                              <a:alpha val="20000"/>
                            </a:schemeClr>
                          </a:solidFill>
                        </a:ln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결제시스템으로 결제</a:t>
                      </a:r>
                      <a:endParaRPr lang="en-US" altLang="ko-KR" dirty="0">
                        <a:ln>
                          <a:solidFill>
                            <a:schemeClr val="accent1">
                              <a:shade val="15000"/>
                              <a:alpha val="20000"/>
                            </a:schemeClr>
                          </a:solidFill>
                        </a:ln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0493297"/>
                  </a:ext>
                </a:extLst>
              </a:tr>
              <a:tr h="2006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낙찰된 가격으로 </a:t>
                      </a:r>
                      <a:endParaRPr lang="en-US" altLang="ko-KR" dirty="0">
                        <a:ln>
                          <a:solidFill>
                            <a:schemeClr val="accent1">
                              <a:shade val="15000"/>
                              <a:alpha val="20000"/>
                            </a:schemeClr>
                          </a:solidFill>
                        </a:ln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소비자가 상품 구매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방문자가 </a:t>
                      </a:r>
                      <a:r>
                        <a:rPr lang="ko-KR" altLang="en-US" dirty="0" err="1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게시글에</a:t>
                      </a:r>
                      <a:endParaRPr lang="en-US" altLang="ko-KR" dirty="0">
                        <a:ln>
                          <a:solidFill>
                            <a:schemeClr val="accent1">
                              <a:shade val="15000"/>
                              <a:alpha val="20000"/>
                            </a:schemeClr>
                          </a:solidFill>
                        </a:ln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추천</a:t>
                      </a:r>
                      <a:r>
                        <a:rPr lang="en-US" altLang="ko-KR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/</a:t>
                      </a:r>
                      <a:r>
                        <a:rPr lang="ko-KR" altLang="en-US" dirty="0" err="1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비추천</a:t>
                      </a:r>
                      <a:endParaRPr lang="en-US" altLang="ko-KR" dirty="0">
                        <a:ln>
                          <a:solidFill>
                            <a:schemeClr val="accent1">
                              <a:shade val="15000"/>
                              <a:alpha val="20000"/>
                            </a:schemeClr>
                          </a:solidFill>
                        </a:ln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혹은 신고를 함</a:t>
                      </a:r>
                      <a:endParaRPr lang="en-US" altLang="ko-KR" dirty="0">
                        <a:ln>
                          <a:solidFill>
                            <a:schemeClr val="accent1">
                              <a:shade val="15000"/>
                              <a:alpha val="20000"/>
                            </a:schemeClr>
                          </a:solidFill>
                        </a:ln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1">
                                <a:shade val="15000"/>
                                <a:alpha val="20000"/>
                              </a:schemeClr>
                            </a:solidFill>
                          </a:ln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안전하게 중고상품 구매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2034739"/>
                  </a:ext>
                </a:extLst>
              </a:tr>
            </a:tbl>
          </a:graphicData>
        </a:graphic>
      </p:graphicFrame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E4AD813-3396-3B01-5462-6645B8D0A565}"/>
              </a:ext>
            </a:extLst>
          </p:cNvPr>
          <p:cNvSpPr/>
          <p:nvPr/>
        </p:nvSpPr>
        <p:spPr>
          <a:xfrm>
            <a:off x="1942875" y="2970053"/>
            <a:ext cx="2057850" cy="95730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n>
                  <a:solidFill>
                    <a:schemeClr val="accent1">
                      <a:shade val="15000"/>
                      <a:alpha val="20000"/>
                    </a:schemeClr>
                  </a:solidFill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상황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9D109F5-3817-0136-DB0E-3BA06DA282CE}"/>
              </a:ext>
            </a:extLst>
          </p:cNvPr>
          <p:cNvSpPr/>
          <p:nvPr/>
        </p:nvSpPr>
        <p:spPr>
          <a:xfrm>
            <a:off x="1942875" y="5083947"/>
            <a:ext cx="2057850" cy="95730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n>
                  <a:solidFill>
                    <a:schemeClr val="accent1">
                      <a:shade val="15000"/>
                      <a:alpha val="20000"/>
                    </a:schemeClr>
                  </a:solidFill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행동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52C9717-6941-42C0-5410-4187ABCC61F3}"/>
              </a:ext>
            </a:extLst>
          </p:cNvPr>
          <p:cNvSpPr/>
          <p:nvPr/>
        </p:nvSpPr>
        <p:spPr>
          <a:xfrm>
            <a:off x="1942875" y="7350241"/>
            <a:ext cx="2057850" cy="95730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n>
                  <a:solidFill>
                    <a:schemeClr val="accent1">
                      <a:shade val="15000"/>
                      <a:alpha val="20000"/>
                    </a:schemeClr>
                  </a:solidFill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기능</a:t>
            </a:r>
          </a:p>
        </p:txBody>
      </p:sp>
    </p:spTree>
    <p:extLst>
      <p:ext uri="{BB962C8B-B14F-4D97-AF65-F5344CB8AC3E}">
        <p14:creationId xmlns:p14="http://schemas.microsoft.com/office/powerpoint/2010/main" val="1432225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64070-FEBA-7863-D0D4-5536F7E8A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7E929FEF-4418-9491-9529-85BD0FB327B1}"/>
              </a:ext>
            </a:extLst>
          </p:cNvPr>
          <p:cNvSpPr txBox="1"/>
          <p:nvPr/>
        </p:nvSpPr>
        <p:spPr>
          <a:xfrm>
            <a:off x="1789995" y="1401008"/>
            <a:ext cx="9868605" cy="1141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25"/>
              </a:lnSpc>
              <a:spcBef>
                <a:spcPct val="0"/>
              </a:spcBef>
            </a:pPr>
            <a:r>
              <a:rPr 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03  </a:t>
            </a:r>
            <a:r>
              <a:rPr lang="ko-KR" alt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시스템</a:t>
            </a:r>
            <a:endParaRPr lang="en-US" sz="7500" b="1" spc="-27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D9838F4A-F993-7A55-869C-979322CE34B5}"/>
              </a:ext>
            </a:extLst>
          </p:cNvPr>
          <p:cNvSpPr/>
          <p:nvPr/>
        </p:nvSpPr>
        <p:spPr>
          <a:xfrm flipH="1">
            <a:off x="1789995" y="2591633"/>
            <a:ext cx="1135883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011649-6142-4D17-14F1-018F70A00C97}"/>
              </a:ext>
            </a:extLst>
          </p:cNvPr>
          <p:cNvSpPr txBox="1"/>
          <p:nvPr/>
        </p:nvSpPr>
        <p:spPr>
          <a:xfrm>
            <a:off x="5181600" y="4455394"/>
            <a:ext cx="8382000" cy="2135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lnSpc>
                <a:spcPct val="150000"/>
              </a:lnSpc>
              <a:buAutoNum type="arabicPeriod"/>
            </a:pP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시스템 개발 환경</a:t>
            </a:r>
            <a:endParaRPr lang="en-US" altLang="ko-KR" sz="48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143000" indent="-1143000">
              <a:lnSpc>
                <a:spcPct val="150000"/>
              </a:lnSpc>
              <a:buAutoNum type="arabicPeriod"/>
            </a:pP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시스템 구성도</a:t>
            </a:r>
          </a:p>
        </p:txBody>
      </p:sp>
    </p:spTree>
    <p:extLst>
      <p:ext uri="{BB962C8B-B14F-4D97-AF65-F5344CB8AC3E}">
        <p14:creationId xmlns:p14="http://schemas.microsoft.com/office/powerpoint/2010/main" val="1842466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2EA8F-2DB3-CF83-5659-E0B3DF931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CE6DD3D1-2B70-5ECF-9614-CF05A76196CB}"/>
              </a:ext>
            </a:extLst>
          </p:cNvPr>
          <p:cNvSpPr/>
          <p:nvPr/>
        </p:nvSpPr>
        <p:spPr>
          <a:xfrm>
            <a:off x="1058920" y="1943100"/>
            <a:ext cx="846080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05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E09316-17D0-1832-A18B-79F7F315442E}"/>
              </a:ext>
            </a:extLst>
          </p:cNvPr>
          <p:cNvSpPr txBox="1"/>
          <p:nvPr/>
        </p:nvSpPr>
        <p:spPr>
          <a:xfrm>
            <a:off x="990600" y="1112103"/>
            <a:ext cx="784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01 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개발환경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D80C619-AD56-0DAF-C9C5-59FA8D496631}"/>
              </a:ext>
            </a:extLst>
          </p:cNvPr>
          <p:cNvSpPr/>
          <p:nvPr/>
        </p:nvSpPr>
        <p:spPr>
          <a:xfrm>
            <a:off x="2533650" y="3519639"/>
            <a:ext cx="13315950" cy="5402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A808A8-0C08-695C-1D1E-889271D5C4FF}"/>
              </a:ext>
            </a:extLst>
          </p:cNvPr>
          <p:cNvSpPr/>
          <p:nvPr/>
        </p:nvSpPr>
        <p:spPr>
          <a:xfrm>
            <a:off x="2667000" y="3179713"/>
            <a:ext cx="1676400" cy="685798"/>
          </a:xfrm>
          <a:prstGeom prst="rect">
            <a:avLst/>
          </a:prstGeom>
          <a:solidFill>
            <a:srgbClr val="F6F6F6"/>
          </a:solidFill>
          <a:ln>
            <a:solidFill>
              <a:srgbClr val="F6F6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 descr="그래픽, 폰트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857E92E-840C-B900-EA0E-08207305EB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2476500"/>
            <a:ext cx="1600200" cy="14064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6115BFA-50B8-41FD-98CF-CC8470B4A44B}"/>
              </a:ext>
            </a:extLst>
          </p:cNvPr>
          <p:cNvSpPr/>
          <p:nvPr/>
        </p:nvSpPr>
        <p:spPr>
          <a:xfrm>
            <a:off x="3124200" y="4656089"/>
            <a:ext cx="2670184" cy="32831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9E0BF5F-A179-93B1-494F-94396F6CC0D2}"/>
              </a:ext>
            </a:extLst>
          </p:cNvPr>
          <p:cNvSpPr/>
          <p:nvPr/>
        </p:nvSpPr>
        <p:spPr>
          <a:xfrm>
            <a:off x="3581400" y="4503118"/>
            <a:ext cx="1752600" cy="456252"/>
          </a:xfrm>
          <a:prstGeom prst="rect">
            <a:avLst/>
          </a:prstGeom>
          <a:solidFill>
            <a:srgbClr val="F6F6F6"/>
          </a:solidFill>
          <a:ln>
            <a:solidFill>
              <a:srgbClr val="F6F6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615E53B8-36C5-C1D8-3BBE-8D9BCEB940A8}"/>
              </a:ext>
            </a:extLst>
          </p:cNvPr>
          <p:cNvSpPr txBox="1"/>
          <p:nvPr/>
        </p:nvSpPr>
        <p:spPr>
          <a:xfrm>
            <a:off x="3352800" y="4304304"/>
            <a:ext cx="2153660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3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운영체제</a:t>
            </a:r>
            <a:endParaRPr lang="en-US" sz="3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6D3A5EF-DCEA-E11E-3F01-3A3C8C068714}"/>
              </a:ext>
            </a:extLst>
          </p:cNvPr>
          <p:cNvSpPr/>
          <p:nvPr/>
        </p:nvSpPr>
        <p:spPr>
          <a:xfrm>
            <a:off x="6276976" y="4656089"/>
            <a:ext cx="2670184" cy="32831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4FE9E07-25C5-048C-FDFE-F048A4A8DA82}"/>
              </a:ext>
            </a:extLst>
          </p:cNvPr>
          <p:cNvSpPr/>
          <p:nvPr/>
        </p:nvSpPr>
        <p:spPr>
          <a:xfrm>
            <a:off x="6734176" y="4503118"/>
            <a:ext cx="1752600" cy="456252"/>
          </a:xfrm>
          <a:prstGeom prst="rect">
            <a:avLst/>
          </a:prstGeom>
          <a:solidFill>
            <a:srgbClr val="F6F6F6"/>
          </a:solidFill>
          <a:ln>
            <a:solidFill>
              <a:srgbClr val="F6F6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TextBox 11">
            <a:extLst>
              <a:ext uri="{FF2B5EF4-FFF2-40B4-BE49-F238E27FC236}">
                <a16:creationId xmlns:a16="http://schemas.microsoft.com/office/drawing/2014/main" id="{2376C639-2A4A-558D-CB8A-6AAE48F5E872}"/>
              </a:ext>
            </a:extLst>
          </p:cNvPr>
          <p:cNvSpPr txBox="1"/>
          <p:nvPr/>
        </p:nvSpPr>
        <p:spPr>
          <a:xfrm>
            <a:off x="6505576" y="4304304"/>
            <a:ext cx="2153660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3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개발도구</a:t>
            </a:r>
            <a:endParaRPr lang="en-US" sz="3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CCE9F6C-1184-7C74-82C7-F5BFC6340ADC}"/>
              </a:ext>
            </a:extLst>
          </p:cNvPr>
          <p:cNvSpPr/>
          <p:nvPr/>
        </p:nvSpPr>
        <p:spPr>
          <a:xfrm>
            <a:off x="9398019" y="4656089"/>
            <a:ext cx="2670184" cy="32831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1AEE23D-0EAE-840F-81E4-87A1FB2EA12D}"/>
              </a:ext>
            </a:extLst>
          </p:cNvPr>
          <p:cNvSpPr/>
          <p:nvPr/>
        </p:nvSpPr>
        <p:spPr>
          <a:xfrm>
            <a:off x="9855219" y="4503118"/>
            <a:ext cx="1752600" cy="456252"/>
          </a:xfrm>
          <a:prstGeom prst="rect">
            <a:avLst/>
          </a:prstGeom>
          <a:solidFill>
            <a:srgbClr val="F6F6F6"/>
          </a:solidFill>
          <a:ln>
            <a:solidFill>
              <a:srgbClr val="F6F6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TextBox 11">
            <a:extLst>
              <a:ext uri="{FF2B5EF4-FFF2-40B4-BE49-F238E27FC236}">
                <a16:creationId xmlns:a16="http://schemas.microsoft.com/office/drawing/2014/main" id="{83FD454D-25E5-2B35-909A-6F99F20C3F71}"/>
              </a:ext>
            </a:extLst>
          </p:cNvPr>
          <p:cNvSpPr txBox="1"/>
          <p:nvPr/>
        </p:nvSpPr>
        <p:spPr>
          <a:xfrm>
            <a:off x="9626619" y="4304304"/>
            <a:ext cx="2153660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3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개발언어</a:t>
            </a:r>
            <a:endParaRPr lang="en-US" sz="3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FF99BD7-3626-005A-EA0A-864875B0B723}"/>
              </a:ext>
            </a:extLst>
          </p:cNvPr>
          <p:cNvSpPr/>
          <p:nvPr/>
        </p:nvSpPr>
        <p:spPr>
          <a:xfrm>
            <a:off x="12531211" y="4656089"/>
            <a:ext cx="2670184" cy="32831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967DF2C-3D03-73B2-A8FB-1082A2CD5217}"/>
              </a:ext>
            </a:extLst>
          </p:cNvPr>
          <p:cNvSpPr/>
          <p:nvPr/>
        </p:nvSpPr>
        <p:spPr>
          <a:xfrm>
            <a:off x="12988411" y="4503118"/>
            <a:ext cx="1752600" cy="456252"/>
          </a:xfrm>
          <a:prstGeom prst="rect">
            <a:avLst/>
          </a:prstGeom>
          <a:solidFill>
            <a:srgbClr val="F6F6F6"/>
          </a:solidFill>
          <a:ln>
            <a:solidFill>
              <a:srgbClr val="F6F6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29F36FB9-A27D-C96D-4D32-3D84F16A6258}"/>
              </a:ext>
            </a:extLst>
          </p:cNvPr>
          <p:cNvSpPr txBox="1"/>
          <p:nvPr/>
        </p:nvSpPr>
        <p:spPr>
          <a:xfrm>
            <a:off x="12759811" y="4304304"/>
            <a:ext cx="2153660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en-US" sz="3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DB</a:t>
            </a:r>
          </a:p>
        </p:txBody>
      </p:sp>
      <p:pic>
        <p:nvPicPr>
          <p:cNvPr id="41" name="그림 40" descr="다채로움, 스크린샷, 직사각형, 사각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3338C75-C83C-E56C-0907-C7F91073D5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631" y="5612555"/>
            <a:ext cx="1523998" cy="1523998"/>
          </a:xfrm>
          <a:prstGeom prst="rect">
            <a:avLst/>
          </a:prstGeom>
        </p:spPr>
      </p:pic>
      <p:pic>
        <p:nvPicPr>
          <p:cNvPr id="46" name="Picture 2" descr="React png images | PNGWing">
            <a:extLst>
              <a:ext uri="{FF2B5EF4-FFF2-40B4-BE49-F238E27FC236}">
                <a16:creationId xmlns:a16="http://schemas.microsoft.com/office/drawing/2014/main" id="{A741D472-47C6-9D57-A208-1C044EE6D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167" b="95833" l="10000" r="90000">
                        <a14:foregroundMark x1="29722" y1="5833" x2="29722" y2="5833"/>
                        <a14:foregroundMark x1="60556" y1="4444" x2="60556" y2="4444"/>
                        <a14:foregroundMark x1="35000" y1="4444" x2="35000" y2="4444"/>
                        <a14:foregroundMark x1="49444" y1="36667" x2="48611" y2="37222"/>
                        <a14:foregroundMark x1="13889" y1="84444" x2="13889" y2="84444"/>
                        <a14:foregroundMark x1="24444" y1="95833" x2="24444" y2="95833"/>
                        <a14:foregroundMark x1="31944" y1="90556" x2="31944" y2="90556"/>
                        <a14:foregroundMark x1="50278" y1="91111" x2="50278" y2="91111"/>
                        <a14:foregroundMark x1="67222" y1="86667" x2="67222" y2="86667"/>
                        <a14:foregroundMark x1="83056" y1="84167" x2="83056" y2="84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5158184"/>
            <a:ext cx="1114188" cy="1114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그림 46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85440F1-7A1D-CCBA-63E2-573ACBAB51D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064" y="6558051"/>
            <a:ext cx="1827676" cy="959530"/>
          </a:xfrm>
          <a:prstGeom prst="rect">
            <a:avLst/>
          </a:prstGeom>
        </p:spPr>
      </p:pic>
      <p:pic>
        <p:nvPicPr>
          <p:cNvPr id="48" name="그림 47" descr="그래픽, 폰트, 그래픽 디자인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79DA127-D140-962E-E7F9-19D349F5B49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2067" y="4972477"/>
            <a:ext cx="1608954" cy="1206715"/>
          </a:xfrm>
          <a:prstGeom prst="rect">
            <a:avLst/>
          </a:prstGeom>
        </p:spPr>
      </p:pic>
      <p:sp>
        <p:nvSpPr>
          <p:cNvPr id="49" name="Freeform 11">
            <a:extLst>
              <a:ext uri="{FF2B5EF4-FFF2-40B4-BE49-F238E27FC236}">
                <a16:creationId xmlns:a16="http://schemas.microsoft.com/office/drawing/2014/main" id="{017D43E8-2EE0-CA32-31FC-5D9ACF6DE9D5}"/>
              </a:ext>
            </a:extLst>
          </p:cNvPr>
          <p:cNvSpPr/>
          <p:nvPr/>
        </p:nvSpPr>
        <p:spPr>
          <a:xfrm>
            <a:off x="11223369" y="5338878"/>
            <a:ext cx="415792" cy="773374"/>
          </a:xfrm>
          <a:custGeom>
            <a:avLst/>
            <a:gdLst/>
            <a:ahLst/>
            <a:cxnLst/>
            <a:rect l="l" t="t" r="r" b="b"/>
            <a:pathLst>
              <a:path w="1000052" h="1860098">
                <a:moveTo>
                  <a:pt x="0" y="0"/>
                </a:moveTo>
                <a:lnTo>
                  <a:pt x="1000053" y="0"/>
                </a:lnTo>
                <a:lnTo>
                  <a:pt x="1000053" y="1860098"/>
                </a:lnTo>
                <a:lnTo>
                  <a:pt x="0" y="18600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7" name="그림 6" descr="로고, 그래픽, 상징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CB8B6FE-82DE-64DA-C083-27487B52F95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586" y="5496504"/>
            <a:ext cx="1752599" cy="1752599"/>
          </a:xfrm>
          <a:prstGeom prst="rect">
            <a:avLst/>
          </a:prstGeom>
        </p:spPr>
      </p:pic>
      <p:pic>
        <p:nvPicPr>
          <p:cNvPr id="3" name="그림 2" descr="예술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3DEFF8-8ED5-9AEB-F66B-41E666E927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07402" y="6326442"/>
            <a:ext cx="1491745" cy="149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58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832F6-E71B-85E9-FD92-EFC4DDB70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그룹 43">
            <a:extLst>
              <a:ext uri="{FF2B5EF4-FFF2-40B4-BE49-F238E27FC236}">
                <a16:creationId xmlns:a16="http://schemas.microsoft.com/office/drawing/2014/main" id="{76DD038C-476A-11EF-128A-20224A5A711C}"/>
              </a:ext>
            </a:extLst>
          </p:cNvPr>
          <p:cNvGrpSpPr/>
          <p:nvPr/>
        </p:nvGrpSpPr>
        <p:grpSpPr>
          <a:xfrm>
            <a:off x="3373913" y="4928318"/>
            <a:ext cx="2798288" cy="3492037"/>
            <a:chOff x="2355725" y="3501248"/>
            <a:chExt cx="2798288" cy="3492037"/>
          </a:xfrm>
        </p:grpSpPr>
        <p:pic>
          <p:nvPicPr>
            <p:cNvPr id="7" name="Picture 2" descr="React png images | PNGWing">
              <a:extLst>
                <a:ext uri="{FF2B5EF4-FFF2-40B4-BE49-F238E27FC236}">
                  <a16:creationId xmlns:a16="http://schemas.microsoft.com/office/drawing/2014/main" id="{9AE3E26A-CB01-12C7-0A25-C6703F791F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4167" b="95833" l="10000" r="90000">
                          <a14:foregroundMark x1="29722" y1="5833" x2="29722" y2="5833"/>
                          <a14:foregroundMark x1="60556" y1="4444" x2="60556" y2="4444"/>
                          <a14:foregroundMark x1="35000" y1="4444" x2="35000" y2="4444"/>
                          <a14:foregroundMark x1="49444" y1="36667" x2="48611" y2="37222"/>
                          <a14:foregroundMark x1="13889" y1="84444" x2="13889" y2="84444"/>
                          <a14:foregroundMark x1="24444" y1="95833" x2="24444" y2="95833"/>
                          <a14:foregroundMark x1="31944" y1="90556" x2="31944" y2="90556"/>
                          <a14:foregroundMark x1="50278" y1="91111" x2="50278" y2="91111"/>
                          <a14:foregroundMark x1="67222" y1="86667" x2="67222" y2="86667"/>
                          <a14:foregroundMark x1="83056" y1="84167" x2="83056" y2="841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2249" y="4518516"/>
              <a:ext cx="1926860" cy="1926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44F20CC-7AC9-7420-DB1F-32ABA5C1F7C8}"/>
                </a:ext>
              </a:extLst>
            </p:cNvPr>
            <p:cNvSpPr/>
            <p:nvPr/>
          </p:nvSpPr>
          <p:spPr>
            <a:xfrm>
              <a:off x="2355725" y="3970607"/>
              <a:ext cx="2798288" cy="3022678"/>
            </a:xfrm>
            <a:prstGeom prst="rect">
              <a:avLst/>
            </a:prstGeom>
            <a:noFill/>
            <a:ln w="57150">
              <a:solidFill>
                <a:srgbClr val="FBE04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0CEBE262-B189-E771-543B-C358302497E8}"/>
                </a:ext>
              </a:extLst>
            </p:cNvPr>
            <p:cNvSpPr txBox="1"/>
            <p:nvPr/>
          </p:nvSpPr>
          <p:spPr>
            <a:xfrm>
              <a:off x="2648849" y="3501248"/>
              <a:ext cx="2153660" cy="4693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172"/>
                </a:lnSpc>
                <a:spcBef>
                  <a:spcPct val="0"/>
                </a:spcBef>
              </a:pPr>
              <a:r>
                <a:rPr lang="en-US" altLang="ko-KR" sz="3000" b="1" spc="1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rPr>
                <a:t>FRONT</a:t>
              </a:r>
              <a:endParaRPr lang="en-US" sz="3000" b="1" spc="1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3E6F28E8-62DF-B3EA-3063-58A8E9DD1B26}"/>
              </a:ext>
            </a:extLst>
          </p:cNvPr>
          <p:cNvGrpSpPr/>
          <p:nvPr/>
        </p:nvGrpSpPr>
        <p:grpSpPr>
          <a:xfrm>
            <a:off x="7635246" y="4928318"/>
            <a:ext cx="2798288" cy="3537685"/>
            <a:chOff x="9800929" y="3211395"/>
            <a:chExt cx="2798288" cy="3537685"/>
          </a:xfrm>
        </p:grpSpPr>
        <p:pic>
          <p:nvPicPr>
            <p:cNvPr id="21" name="그림 20" descr="폰트, 그래픽, 로고, 그래픽 디자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C05D16FA-EA92-4C4A-FE79-878E7A56C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3540" y="4613194"/>
              <a:ext cx="2379225" cy="1249093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93D0AB2-D345-6DFF-3242-48F6F86205A2}"/>
                </a:ext>
              </a:extLst>
            </p:cNvPr>
            <p:cNvSpPr/>
            <p:nvPr/>
          </p:nvSpPr>
          <p:spPr>
            <a:xfrm>
              <a:off x="9800929" y="3726402"/>
              <a:ext cx="2798288" cy="3022678"/>
            </a:xfrm>
            <a:prstGeom prst="rect">
              <a:avLst/>
            </a:prstGeom>
            <a:noFill/>
            <a:ln w="57150">
              <a:solidFill>
                <a:srgbClr val="FBE04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TextBox 11">
              <a:extLst>
                <a:ext uri="{FF2B5EF4-FFF2-40B4-BE49-F238E27FC236}">
                  <a16:creationId xmlns:a16="http://schemas.microsoft.com/office/drawing/2014/main" id="{C815BDD7-6938-457B-4D59-C36E0270CB3B}"/>
                </a:ext>
              </a:extLst>
            </p:cNvPr>
            <p:cNvSpPr txBox="1"/>
            <p:nvPr/>
          </p:nvSpPr>
          <p:spPr>
            <a:xfrm>
              <a:off x="10167010" y="3211395"/>
              <a:ext cx="2153660" cy="4693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172"/>
                </a:lnSpc>
                <a:spcBef>
                  <a:spcPct val="0"/>
                </a:spcBef>
              </a:pPr>
              <a:r>
                <a:rPr lang="en-US" altLang="ko-KR" sz="3000" b="1" spc="1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rPr>
                <a:t>BACK</a:t>
              </a:r>
              <a:endParaRPr lang="en-US" sz="3000" b="1" spc="1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472CE813-69CF-D8D6-6534-CBB7822081E6}"/>
              </a:ext>
            </a:extLst>
          </p:cNvPr>
          <p:cNvGrpSpPr/>
          <p:nvPr/>
        </p:nvGrpSpPr>
        <p:grpSpPr>
          <a:xfrm>
            <a:off x="12192000" y="4852118"/>
            <a:ext cx="2967422" cy="3720382"/>
            <a:chOff x="13744523" y="3501247"/>
            <a:chExt cx="2967422" cy="3720382"/>
          </a:xfrm>
        </p:grpSpPr>
        <p:pic>
          <p:nvPicPr>
            <p:cNvPr id="22" name="그림 21" descr="그래픽, 폰트, 그래픽 디자인, 로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6CFEAED9-30C2-F034-DF5E-77DB980F1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09421" y="4200062"/>
              <a:ext cx="1900031" cy="1425024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F3880C89-136D-C3E9-4C92-8E9ED7EEF5C5}"/>
                </a:ext>
              </a:extLst>
            </p:cNvPr>
            <p:cNvSpPr/>
            <p:nvPr/>
          </p:nvSpPr>
          <p:spPr>
            <a:xfrm>
              <a:off x="13744523" y="4016254"/>
              <a:ext cx="2967422" cy="3205375"/>
            </a:xfrm>
            <a:prstGeom prst="rect">
              <a:avLst/>
            </a:prstGeom>
            <a:noFill/>
            <a:ln w="57150">
              <a:solidFill>
                <a:srgbClr val="FBE04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5" name="그림 34" descr="예술, 스크린샷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FAA6677-045A-37F8-12E9-1318AA387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917756" y="5776824"/>
              <a:ext cx="1308020" cy="1308020"/>
            </a:xfrm>
            <a:prstGeom prst="rect">
              <a:avLst/>
            </a:prstGeom>
          </p:spPr>
        </p:pic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13AA9DB0-2A91-8C2C-F71C-12D76DD2613B}"/>
                </a:ext>
              </a:extLst>
            </p:cNvPr>
            <p:cNvSpPr txBox="1"/>
            <p:nvPr/>
          </p:nvSpPr>
          <p:spPr>
            <a:xfrm>
              <a:off x="14182606" y="3501247"/>
              <a:ext cx="2153660" cy="4693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172"/>
                </a:lnSpc>
                <a:spcBef>
                  <a:spcPct val="0"/>
                </a:spcBef>
              </a:pPr>
              <a:r>
                <a:rPr lang="en-US" altLang="ko-KR" sz="3000" b="1" spc="1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solidFill>
                    <a:srgbClr val="263035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  <a:cs typeface="Nanum Square Bold"/>
                  <a:sym typeface="Nanum Square Bold"/>
                </a:rPr>
                <a:t>DB</a:t>
              </a:r>
              <a:endParaRPr lang="en-US" sz="3000" b="1" spc="1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endParaRPr>
            </a:p>
          </p:txBody>
        </p:sp>
        <p:pic>
          <p:nvPicPr>
            <p:cNvPr id="41" name="그림 40" descr="스크린샷, 그래픽, 원, 그래픽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1EEBCA4-56B2-6E3D-90BC-54AD9A556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259437" y="5776824"/>
              <a:ext cx="1418846" cy="1418846"/>
            </a:xfrm>
            <a:prstGeom prst="rect">
              <a:avLst/>
            </a:prstGeom>
          </p:spPr>
        </p:pic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68406CE-3F14-C53F-8F52-15DB92D6E63E}"/>
              </a:ext>
            </a:extLst>
          </p:cNvPr>
          <p:cNvSpPr/>
          <p:nvPr/>
        </p:nvSpPr>
        <p:spPr>
          <a:xfrm>
            <a:off x="2428438" y="2414554"/>
            <a:ext cx="13573562" cy="6760344"/>
          </a:xfrm>
          <a:prstGeom prst="rect">
            <a:avLst/>
          </a:prstGeom>
          <a:noFill/>
          <a:ln w="57150">
            <a:solidFill>
              <a:srgbClr val="FBE0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0" name="그림 59" descr="스크린샷, 그래픽, 디자인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838DF8-D880-5703-375D-E001F4A9315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178" y="2894421"/>
            <a:ext cx="1858297" cy="1658530"/>
          </a:xfrm>
          <a:prstGeom prst="rect">
            <a:avLst/>
          </a:prstGeom>
        </p:spPr>
      </p:pic>
      <p:pic>
        <p:nvPicPr>
          <p:cNvPr id="62" name="그림 61" descr="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92E81B-2695-FB91-E2BA-9DAB0A1A58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5219" y="2758673"/>
            <a:ext cx="1933918" cy="1933918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EA26AB8-728A-513B-4BA8-F7D338DE11B6}"/>
              </a:ext>
            </a:extLst>
          </p:cNvPr>
          <p:cNvCxnSpPr>
            <a:cxnSpLocks/>
          </p:cNvCxnSpPr>
          <p:nvPr/>
        </p:nvCxnSpPr>
        <p:spPr>
          <a:xfrm>
            <a:off x="6168611" y="6875370"/>
            <a:ext cx="1466635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4274BB1-82BE-A19B-F2D8-4F9665B6E22C}"/>
              </a:ext>
            </a:extLst>
          </p:cNvPr>
          <p:cNvCxnSpPr>
            <a:cxnSpLocks/>
            <a:stCxn id="15" idx="3"/>
            <a:endCxn id="27" idx="1"/>
          </p:cNvCxnSpPr>
          <p:nvPr/>
        </p:nvCxnSpPr>
        <p:spPr>
          <a:xfrm>
            <a:off x="10433534" y="6954664"/>
            <a:ext cx="1758466" cy="15149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11">
            <a:extLst>
              <a:ext uri="{FF2B5EF4-FFF2-40B4-BE49-F238E27FC236}">
                <a16:creationId xmlns:a16="http://schemas.microsoft.com/office/drawing/2014/main" id="{010C3A32-46F3-A498-7790-98DC75921D9D}"/>
              </a:ext>
            </a:extLst>
          </p:cNvPr>
          <p:cNvSpPr txBox="1"/>
          <p:nvPr/>
        </p:nvSpPr>
        <p:spPr>
          <a:xfrm>
            <a:off x="6479199" y="1866951"/>
            <a:ext cx="5110381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en-US" altLang="ko-KR" sz="3000" b="1" spc="1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SYSTEM</a:t>
            </a:r>
            <a:endParaRPr lang="en-US" sz="3000" b="1" spc="1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943E4383-4806-6EC6-4569-74926011E9FC}"/>
              </a:ext>
            </a:extLst>
          </p:cNvPr>
          <p:cNvSpPr/>
          <p:nvPr/>
        </p:nvSpPr>
        <p:spPr>
          <a:xfrm>
            <a:off x="1058920" y="1943100"/>
            <a:ext cx="846080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05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9EA532-DEDE-D755-5FCE-C1A2C7471C23}"/>
              </a:ext>
            </a:extLst>
          </p:cNvPr>
          <p:cNvSpPr txBox="1"/>
          <p:nvPr/>
        </p:nvSpPr>
        <p:spPr>
          <a:xfrm>
            <a:off x="990600" y="1112103"/>
            <a:ext cx="6172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02 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시스템 구성도</a:t>
            </a:r>
          </a:p>
        </p:txBody>
      </p:sp>
    </p:spTree>
    <p:extLst>
      <p:ext uri="{BB962C8B-B14F-4D97-AF65-F5344CB8AC3E}">
        <p14:creationId xmlns:p14="http://schemas.microsoft.com/office/powerpoint/2010/main" val="324752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5605C-4D80-107E-A04A-42EA8380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9307AA72-BD44-096C-C5D7-06656660CBE1}"/>
              </a:ext>
            </a:extLst>
          </p:cNvPr>
          <p:cNvSpPr txBox="1"/>
          <p:nvPr/>
        </p:nvSpPr>
        <p:spPr>
          <a:xfrm>
            <a:off x="1789995" y="1401008"/>
            <a:ext cx="8477003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25"/>
              </a:lnSpc>
              <a:spcBef>
                <a:spcPct val="0"/>
              </a:spcBef>
            </a:pPr>
            <a:r>
              <a:rPr 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04  </a:t>
            </a:r>
            <a:r>
              <a:rPr lang="ko-KR" alt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일정 계획</a:t>
            </a:r>
            <a:endParaRPr lang="en-US" sz="7500" b="1" spc="-27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7E3580C6-FF46-9753-911A-15D0AF35622D}"/>
              </a:ext>
            </a:extLst>
          </p:cNvPr>
          <p:cNvSpPr/>
          <p:nvPr/>
        </p:nvSpPr>
        <p:spPr>
          <a:xfrm flipH="1">
            <a:off x="1789995" y="2591633"/>
            <a:ext cx="1135883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FAE4B2-FADD-5AD5-C78D-0FB089E4B406}"/>
              </a:ext>
            </a:extLst>
          </p:cNvPr>
          <p:cNvSpPr txBox="1"/>
          <p:nvPr/>
        </p:nvSpPr>
        <p:spPr>
          <a:xfrm>
            <a:off x="5181600" y="3839603"/>
            <a:ext cx="8382000" cy="3243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lnSpc>
                <a:spcPct val="150000"/>
              </a:lnSpc>
              <a:buAutoNum type="arabicPeriod"/>
            </a:pP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프로토타입 계획</a:t>
            </a:r>
            <a:endParaRPr lang="en-US" altLang="ko-KR" sz="48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143000" indent="-1143000">
              <a:lnSpc>
                <a:spcPct val="150000"/>
              </a:lnSpc>
              <a:buAutoNum type="arabicPeriod"/>
            </a:pP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작업 일정</a:t>
            </a:r>
            <a:endParaRPr lang="en-US" altLang="ko-KR" sz="48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143000" indent="-1143000">
              <a:lnSpc>
                <a:spcPct val="150000"/>
              </a:lnSpc>
              <a:buAutoNum type="arabicPeriod"/>
            </a:pP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역할 분담</a:t>
            </a:r>
          </a:p>
        </p:txBody>
      </p:sp>
    </p:spTree>
    <p:extLst>
      <p:ext uri="{BB962C8B-B14F-4D97-AF65-F5344CB8AC3E}">
        <p14:creationId xmlns:p14="http://schemas.microsoft.com/office/powerpoint/2010/main" val="1249026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1AA32-35E5-C860-0990-2065D82D3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ED21E1D4-8DAA-7A7D-5B09-7B2655AADD6D}"/>
              </a:ext>
            </a:extLst>
          </p:cNvPr>
          <p:cNvSpPr/>
          <p:nvPr/>
        </p:nvSpPr>
        <p:spPr>
          <a:xfrm>
            <a:off x="1058920" y="1943100"/>
            <a:ext cx="846080" cy="0"/>
          </a:xfrm>
          <a:prstGeom prst="line">
            <a:avLst/>
          </a:prstGeom>
          <a:ln w="38100" cap="flat">
            <a:solidFill>
              <a:srgbClr val="2630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105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FF68A4-1AB8-FF26-638C-3FD606C1482A}"/>
              </a:ext>
            </a:extLst>
          </p:cNvPr>
          <p:cNvSpPr txBox="1"/>
          <p:nvPr/>
        </p:nvSpPr>
        <p:spPr>
          <a:xfrm>
            <a:off x="990600" y="1112103"/>
            <a:ext cx="784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01 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프로토타입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7BF674-AFB6-B245-5361-67528D1749EB}"/>
              </a:ext>
            </a:extLst>
          </p:cNvPr>
          <p:cNvSpPr/>
          <p:nvPr/>
        </p:nvSpPr>
        <p:spPr>
          <a:xfrm>
            <a:off x="13716000" y="2552752"/>
            <a:ext cx="2670184" cy="32831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>
                    <a:alpha val="20000"/>
                  </a:schemeClr>
                </a:solidFill>
              </a:ln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F4472D-4326-F2F8-D106-6824E17C0B4D}"/>
              </a:ext>
            </a:extLst>
          </p:cNvPr>
          <p:cNvSpPr/>
          <p:nvPr/>
        </p:nvSpPr>
        <p:spPr>
          <a:xfrm>
            <a:off x="14173200" y="2399781"/>
            <a:ext cx="1752600" cy="456252"/>
          </a:xfrm>
          <a:prstGeom prst="rect">
            <a:avLst/>
          </a:prstGeom>
          <a:solidFill>
            <a:srgbClr val="F6F6F6"/>
          </a:solidFill>
          <a:ln>
            <a:solidFill>
              <a:srgbClr val="F6F6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>
                    <a:alpha val="20000"/>
                  </a:schemeClr>
                </a:solidFill>
              </a:ln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7BBB7551-65CB-CE0C-9606-EA2ECF5A8763}"/>
              </a:ext>
            </a:extLst>
          </p:cNvPr>
          <p:cNvSpPr txBox="1"/>
          <p:nvPr/>
        </p:nvSpPr>
        <p:spPr>
          <a:xfrm>
            <a:off x="13944600" y="2200967"/>
            <a:ext cx="2153660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en-US" altLang="ko-KR" sz="3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1</a:t>
            </a:r>
            <a:r>
              <a:rPr lang="ko-KR" altLang="en-US" sz="3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학기</a:t>
            </a:r>
            <a:endParaRPr lang="en-US" sz="3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3D8FDA8-8C26-E2AD-079D-A2C7252232D3}"/>
              </a:ext>
            </a:extLst>
          </p:cNvPr>
          <p:cNvSpPr/>
          <p:nvPr/>
        </p:nvSpPr>
        <p:spPr>
          <a:xfrm>
            <a:off x="13716000" y="6286500"/>
            <a:ext cx="2670184" cy="27139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>
                    <a:alpha val="20000"/>
                  </a:schemeClr>
                </a:solidFill>
              </a:ln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AA00D8-5A1D-B041-D64D-05A01EEE02F0}"/>
              </a:ext>
            </a:extLst>
          </p:cNvPr>
          <p:cNvSpPr/>
          <p:nvPr/>
        </p:nvSpPr>
        <p:spPr>
          <a:xfrm>
            <a:off x="14173200" y="6133529"/>
            <a:ext cx="1752600" cy="456252"/>
          </a:xfrm>
          <a:prstGeom prst="rect">
            <a:avLst/>
          </a:prstGeom>
          <a:solidFill>
            <a:srgbClr val="F6F6F6"/>
          </a:solidFill>
          <a:ln>
            <a:solidFill>
              <a:srgbClr val="F6F6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>
                    <a:alpha val="20000"/>
                  </a:schemeClr>
                </a:solidFill>
              </a:ln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8F29402E-157D-209C-DA84-EBFFB975D3A7}"/>
              </a:ext>
            </a:extLst>
          </p:cNvPr>
          <p:cNvSpPr txBox="1"/>
          <p:nvPr/>
        </p:nvSpPr>
        <p:spPr>
          <a:xfrm>
            <a:off x="13944600" y="5934715"/>
            <a:ext cx="2153660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en-US" altLang="ko-KR" sz="3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2</a:t>
            </a:r>
            <a:r>
              <a:rPr lang="ko-KR" altLang="en-US" sz="3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학기</a:t>
            </a:r>
            <a:endParaRPr lang="en-US" sz="3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E87F3E-FBE0-43F7-32B5-00969D8BCD5A}"/>
              </a:ext>
            </a:extLst>
          </p:cNvPr>
          <p:cNvSpPr txBox="1"/>
          <p:nvPr/>
        </p:nvSpPr>
        <p:spPr>
          <a:xfrm>
            <a:off x="13944600" y="2968251"/>
            <a:ext cx="2286000" cy="225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로고 및 메인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DB</a:t>
            </a: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구상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메인 페이지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회원관리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중고거래 사이트 기능구현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DABC4E-D414-194C-A9D5-59F0B9D11000}"/>
              </a:ext>
            </a:extLst>
          </p:cNvPr>
          <p:cNvSpPr txBox="1"/>
          <p:nvPr/>
        </p:nvSpPr>
        <p:spPr>
          <a:xfrm>
            <a:off x="13944600" y="6541571"/>
            <a:ext cx="2286000" cy="225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커뮤니티 페이지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경매시스템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AI </a:t>
            </a: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추천 검색기능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영어버전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추가기능 구현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0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유지보수</a:t>
            </a:r>
            <a:endParaRPr lang="en-US" altLang="ko-KR" sz="2000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13007F2-9EA4-436D-18F3-80C75A4C5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526" y="2200967"/>
            <a:ext cx="8371780" cy="70724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8010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D2909-EB23-C238-3FE7-41DF265A3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4800CC6-58A0-043C-76CF-143ED5C9C1A2}"/>
              </a:ext>
            </a:extLst>
          </p:cNvPr>
          <p:cNvGraphicFramePr>
            <a:graphicFrameLocks noGrp="1"/>
          </p:cNvGraphicFramePr>
          <p:nvPr/>
        </p:nvGraphicFramePr>
        <p:xfrm>
          <a:off x="647692" y="2162175"/>
          <a:ext cx="16992608" cy="740092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817812">
                  <a:extLst>
                    <a:ext uri="{9D8B030D-6E8A-4147-A177-3AD203B41FA5}">
                      <a16:colId xmlns:a16="http://schemas.microsoft.com/office/drawing/2014/main" val="1306523136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2501421171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1540531405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3602177195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3181728867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202715914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1434439135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336528572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920177850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530416495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1359794757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2588804835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3303744951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2386204257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3272650377"/>
                    </a:ext>
                  </a:extLst>
                </a:gridCol>
              </a:tblGrid>
              <a:tr h="620967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중간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en-US" altLang="ko-KR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기말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en-US" altLang="ko-KR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3520985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DB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450416"/>
                  </a:ext>
                </a:extLst>
              </a:tr>
              <a:tr h="6464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로그인</a:t>
                      </a:r>
                      <a:r>
                        <a:rPr lang="en-US" altLang="ko-KR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회원가입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971375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사이트페이지</a:t>
                      </a:r>
                      <a:endParaRPr lang="en-US" altLang="ko-KR" sz="1300" b="1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2250355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상품등록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390695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안전거래</a:t>
                      </a:r>
                      <a:endParaRPr lang="en-US" altLang="ko-KR" sz="1300" b="1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3097935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위치기반 검색</a:t>
                      </a:r>
                      <a:endParaRPr lang="en-US" altLang="ko-KR" sz="1300" b="1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460042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포인트 충전 및</a:t>
                      </a:r>
                      <a:endParaRPr lang="en-US" altLang="ko-KR" sz="1300" b="1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결제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242917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채팅기능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304467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 err="1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알림전송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8599155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 err="1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상품정렬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605873"/>
                  </a:ext>
                </a:extLst>
              </a:tr>
              <a:tr h="54476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카테고리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66748"/>
                  </a:ext>
                </a:extLst>
              </a:tr>
            </a:tbl>
          </a:graphicData>
        </a:graphic>
      </p:graphicFrame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BFB1F79-7A73-733D-29B8-E5EB64665949}"/>
              </a:ext>
            </a:extLst>
          </p:cNvPr>
          <p:cNvSpPr/>
          <p:nvPr/>
        </p:nvSpPr>
        <p:spPr>
          <a:xfrm>
            <a:off x="2505061" y="3555343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OAuth2</a:t>
            </a:r>
          </a:p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로그인 구현 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BC398B4-54EA-D950-4CF8-4705F4DCC0A4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514710" y="3748460"/>
            <a:ext cx="2162180" cy="21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5731932-A618-DB36-88E6-E809A17105EC}"/>
              </a:ext>
            </a:extLst>
          </p:cNvPr>
          <p:cNvSpPr/>
          <p:nvPr/>
        </p:nvSpPr>
        <p:spPr>
          <a:xfrm>
            <a:off x="2505061" y="2917403"/>
            <a:ext cx="2082813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DB </a:t>
            </a:r>
            <a:r>
              <a:rPr lang="ko-KR" altLang="en-US" sz="1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설계 및 관리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46E03DB-69A6-07C2-7E37-04FC9DC123D1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4587874" y="3112666"/>
            <a:ext cx="11942763" cy="260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6100CE5-8D8B-C7BE-E4C7-C4F6459226FF}"/>
              </a:ext>
            </a:extLst>
          </p:cNvPr>
          <p:cNvSpPr/>
          <p:nvPr/>
        </p:nvSpPr>
        <p:spPr>
          <a:xfrm>
            <a:off x="7915270" y="3555343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프로젝트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결합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B6B835CF-1783-3308-37E8-E3E62E2A10F0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8924919" y="3748460"/>
            <a:ext cx="3295648" cy="21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B6D70745-D13C-6639-E754-12DEC25E4889}"/>
              </a:ext>
            </a:extLst>
          </p:cNvPr>
          <p:cNvSpPr/>
          <p:nvPr/>
        </p:nvSpPr>
        <p:spPr>
          <a:xfrm>
            <a:off x="4667241" y="4807370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DB</a:t>
            </a:r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기반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상품등록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83EEAF3D-4AD7-5C27-C7A1-CBA6C66FF1DC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5676890" y="5000487"/>
            <a:ext cx="1104900" cy="21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ACC1568-7463-4B6A-9D62-5541FFF24E0E}"/>
              </a:ext>
            </a:extLst>
          </p:cNvPr>
          <p:cNvSpPr/>
          <p:nvPr/>
        </p:nvSpPr>
        <p:spPr>
          <a:xfrm>
            <a:off x="7915270" y="4807370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AWS</a:t>
            </a:r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 </a:t>
            </a:r>
            <a:r>
              <a:rPr lang="en-US" altLang="ko-KR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S3</a:t>
            </a:r>
          </a:p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물품등록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D319B6A-B647-A621-64A0-0703E43922D8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8924919" y="5000487"/>
            <a:ext cx="2200281" cy="21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0CE36234-8F0F-4D7D-795A-43097ABE14C0}"/>
              </a:ext>
            </a:extLst>
          </p:cNvPr>
          <p:cNvSpPr/>
          <p:nvPr/>
        </p:nvSpPr>
        <p:spPr>
          <a:xfrm>
            <a:off x="4667241" y="4152900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홈페이지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136B6135-2CD1-029B-E4B3-E5907D93C01B}"/>
              </a:ext>
            </a:extLst>
          </p:cNvPr>
          <p:cNvCxnSpPr>
            <a:cxnSpLocks/>
          </p:cNvCxnSpPr>
          <p:nvPr/>
        </p:nvCxnSpPr>
        <p:spPr>
          <a:xfrm>
            <a:off x="5676890" y="4348163"/>
            <a:ext cx="3333753" cy="52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" name="사각형: 둥근 모서리 1025">
            <a:extLst>
              <a:ext uri="{FF2B5EF4-FFF2-40B4-BE49-F238E27FC236}">
                <a16:creationId xmlns:a16="http://schemas.microsoft.com/office/drawing/2014/main" id="{17DCFBA6-5167-B3E4-F073-7E2C327E740D}"/>
              </a:ext>
            </a:extLst>
          </p:cNvPr>
          <p:cNvSpPr/>
          <p:nvPr/>
        </p:nvSpPr>
        <p:spPr>
          <a:xfrm>
            <a:off x="9001120" y="6038221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위치기반</a:t>
            </a:r>
          </a:p>
        </p:txBody>
      </p:sp>
      <p:sp>
        <p:nvSpPr>
          <p:cNvPr id="1031" name="사각형: 둥근 모서리 1030">
            <a:extLst>
              <a:ext uri="{FF2B5EF4-FFF2-40B4-BE49-F238E27FC236}">
                <a16:creationId xmlns:a16="http://schemas.microsoft.com/office/drawing/2014/main" id="{C7755E87-C766-5B5F-503C-A825E2ABF0FD}"/>
              </a:ext>
            </a:extLst>
          </p:cNvPr>
          <p:cNvSpPr/>
          <p:nvPr/>
        </p:nvSpPr>
        <p:spPr>
          <a:xfrm>
            <a:off x="9010643" y="4152900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상품등록 페이지</a:t>
            </a:r>
          </a:p>
        </p:txBody>
      </p:sp>
      <p:sp>
        <p:nvSpPr>
          <p:cNvPr id="1037" name="사각형: 둥근 모서리 1036">
            <a:extLst>
              <a:ext uri="{FF2B5EF4-FFF2-40B4-BE49-F238E27FC236}">
                <a16:creationId xmlns:a16="http://schemas.microsoft.com/office/drawing/2014/main" id="{3762DD6F-7C33-D01D-553E-F55DC3E37B44}"/>
              </a:ext>
            </a:extLst>
          </p:cNvPr>
          <p:cNvSpPr/>
          <p:nvPr/>
        </p:nvSpPr>
        <p:spPr>
          <a:xfrm>
            <a:off x="11170437" y="4152900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상세정보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페이지</a:t>
            </a:r>
          </a:p>
        </p:txBody>
      </p:sp>
      <p:sp>
        <p:nvSpPr>
          <p:cNvPr id="1038" name="사각형: 둥근 모서리 1037">
            <a:extLst>
              <a:ext uri="{FF2B5EF4-FFF2-40B4-BE49-F238E27FC236}">
                <a16:creationId xmlns:a16="http://schemas.microsoft.com/office/drawing/2014/main" id="{8E1B5E7C-8A8F-A88B-BB97-EE728DA4AFF0}"/>
              </a:ext>
            </a:extLst>
          </p:cNvPr>
          <p:cNvSpPr/>
          <p:nvPr/>
        </p:nvSpPr>
        <p:spPr>
          <a:xfrm>
            <a:off x="7915270" y="6650052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포인트 충전</a:t>
            </a:r>
          </a:p>
        </p:txBody>
      </p:sp>
      <p:cxnSp>
        <p:nvCxnSpPr>
          <p:cNvPr id="1039" name="직선 화살표 연결선 1038">
            <a:extLst>
              <a:ext uri="{FF2B5EF4-FFF2-40B4-BE49-F238E27FC236}">
                <a16:creationId xmlns:a16="http://schemas.microsoft.com/office/drawing/2014/main" id="{85BF0BE0-36CF-4681-408E-62D16C072CC5}"/>
              </a:ext>
            </a:extLst>
          </p:cNvPr>
          <p:cNvCxnSpPr>
            <a:cxnSpLocks/>
          </p:cNvCxnSpPr>
          <p:nvPr/>
        </p:nvCxnSpPr>
        <p:spPr>
          <a:xfrm>
            <a:off x="8934445" y="6845315"/>
            <a:ext cx="10763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사각형: 둥근 모서리 1045">
            <a:extLst>
              <a:ext uri="{FF2B5EF4-FFF2-40B4-BE49-F238E27FC236}">
                <a16:creationId xmlns:a16="http://schemas.microsoft.com/office/drawing/2014/main" id="{84FF4E04-4631-A989-2109-6F415BD57B2C}"/>
              </a:ext>
            </a:extLst>
          </p:cNvPr>
          <p:cNvSpPr/>
          <p:nvPr/>
        </p:nvSpPr>
        <p:spPr>
          <a:xfrm>
            <a:off x="10086972" y="6650052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상품결제</a:t>
            </a:r>
          </a:p>
        </p:txBody>
      </p:sp>
      <p:cxnSp>
        <p:nvCxnSpPr>
          <p:cNvPr id="1047" name="직선 화살표 연결선 1046">
            <a:extLst>
              <a:ext uri="{FF2B5EF4-FFF2-40B4-BE49-F238E27FC236}">
                <a16:creationId xmlns:a16="http://schemas.microsoft.com/office/drawing/2014/main" id="{849B71E9-CE47-5313-1DE6-A19DF15FFB74}"/>
              </a:ext>
            </a:extLst>
          </p:cNvPr>
          <p:cNvCxnSpPr>
            <a:cxnSpLocks/>
          </p:cNvCxnSpPr>
          <p:nvPr/>
        </p:nvCxnSpPr>
        <p:spPr>
          <a:xfrm>
            <a:off x="11096621" y="6845315"/>
            <a:ext cx="10763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사각형: 둥근 모서리 1047">
            <a:extLst>
              <a:ext uri="{FF2B5EF4-FFF2-40B4-BE49-F238E27FC236}">
                <a16:creationId xmlns:a16="http://schemas.microsoft.com/office/drawing/2014/main" id="{4EBC3ED2-6360-6953-D648-435C5A1F9478}"/>
              </a:ext>
            </a:extLst>
          </p:cNvPr>
          <p:cNvSpPr/>
          <p:nvPr/>
        </p:nvSpPr>
        <p:spPr>
          <a:xfrm>
            <a:off x="10086972" y="4152900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상품목록 페이지</a:t>
            </a:r>
          </a:p>
        </p:txBody>
      </p:sp>
      <p:sp>
        <p:nvSpPr>
          <p:cNvPr id="1050" name="사각형: 둥근 모서리 1049">
            <a:extLst>
              <a:ext uri="{FF2B5EF4-FFF2-40B4-BE49-F238E27FC236}">
                <a16:creationId xmlns:a16="http://schemas.microsoft.com/office/drawing/2014/main" id="{36682BD9-3E5B-006A-ADCD-C4DE37DD3BC0}"/>
              </a:ext>
            </a:extLst>
          </p:cNvPr>
          <p:cNvSpPr/>
          <p:nvPr/>
        </p:nvSpPr>
        <p:spPr>
          <a:xfrm>
            <a:off x="12258672" y="4152900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마이페이지</a:t>
            </a:r>
          </a:p>
        </p:txBody>
      </p:sp>
      <p:cxnSp>
        <p:nvCxnSpPr>
          <p:cNvPr id="1051" name="직선 화살표 연결선 1050">
            <a:extLst>
              <a:ext uri="{FF2B5EF4-FFF2-40B4-BE49-F238E27FC236}">
                <a16:creationId xmlns:a16="http://schemas.microsoft.com/office/drawing/2014/main" id="{FCC11D5D-D7C4-322B-BE3F-3DB837BF7AD5}"/>
              </a:ext>
            </a:extLst>
          </p:cNvPr>
          <p:cNvCxnSpPr>
            <a:cxnSpLocks/>
          </p:cNvCxnSpPr>
          <p:nvPr/>
        </p:nvCxnSpPr>
        <p:spPr>
          <a:xfrm>
            <a:off x="10009579" y="6229087"/>
            <a:ext cx="1076321" cy="41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사각형: 둥근 모서리 1057">
            <a:extLst>
              <a:ext uri="{FF2B5EF4-FFF2-40B4-BE49-F238E27FC236}">
                <a16:creationId xmlns:a16="http://schemas.microsoft.com/office/drawing/2014/main" id="{1D011EDD-E013-EE98-C9BB-74BBBC207F16}"/>
              </a:ext>
            </a:extLst>
          </p:cNvPr>
          <p:cNvSpPr/>
          <p:nvPr/>
        </p:nvSpPr>
        <p:spPr>
          <a:xfrm>
            <a:off x="7915270" y="727270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실시간채팅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cxnSp>
        <p:nvCxnSpPr>
          <p:cNvPr id="1059" name="직선 화살표 연결선 1058">
            <a:extLst>
              <a:ext uri="{FF2B5EF4-FFF2-40B4-BE49-F238E27FC236}">
                <a16:creationId xmlns:a16="http://schemas.microsoft.com/office/drawing/2014/main" id="{88A22AED-C452-6AF1-030F-A5368547FE3B}"/>
              </a:ext>
            </a:extLst>
          </p:cNvPr>
          <p:cNvCxnSpPr>
            <a:cxnSpLocks/>
            <a:stCxn id="1058" idx="3"/>
          </p:cNvCxnSpPr>
          <p:nvPr/>
        </p:nvCxnSpPr>
        <p:spPr>
          <a:xfrm>
            <a:off x="8924919" y="7467967"/>
            <a:ext cx="324564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3" name="사각형: 둥근 모서리 1062">
            <a:extLst>
              <a:ext uri="{FF2B5EF4-FFF2-40B4-BE49-F238E27FC236}">
                <a16:creationId xmlns:a16="http://schemas.microsoft.com/office/drawing/2014/main" id="{08CC1E41-ED43-6339-3494-3E3D1E674DE0}"/>
              </a:ext>
            </a:extLst>
          </p:cNvPr>
          <p:cNvSpPr/>
          <p:nvPr/>
        </p:nvSpPr>
        <p:spPr>
          <a:xfrm>
            <a:off x="12258672" y="7904882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메일서비스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1068" name="사각형: 둥근 모서리 1067">
            <a:extLst>
              <a:ext uri="{FF2B5EF4-FFF2-40B4-BE49-F238E27FC236}">
                <a16:creationId xmlns:a16="http://schemas.microsoft.com/office/drawing/2014/main" id="{77A63DF0-65ED-F44A-5FD0-906010D8EE08}"/>
              </a:ext>
            </a:extLst>
          </p:cNvPr>
          <p:cNvSpPr/>
          <p:nvPr/>
        </p:nvSpPr>
        <p:spPr>
          <a:xfrm>
            <a:off x="14424023" y="4152900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관심있는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상품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1070" name="사각형: 둥근 모서리 1069">
            <a:extLst>
              <a:ext uri="{FF2B5EF4-FFF2-40B4-BE49-F238E27FC236}">
                <a16:creationId xmlns:a16="http://schemas.microsoft.com/office/drawing/2014/main" id="{A40EBECC-AC3E-CDB1-BB59-2C2F16FC12A0}"/>
              </a:ext>
            </a:extLst>
          </p:cNvPr>
          <p:cNvSpPr/>
          <p:nvPr/>
        </p:nvSpPr>
        <p:spPr>
          <a:xfrm>
            <a:off x="13342133" y="414850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구매내역</a:t>
            </a:r>
            <a:r>
              <a:rPr lang="en-US" altLang="ko-KR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/</a:t>
            </a:r>
          </a:p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판매내역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cxnSp>
        <p:nvCxnSpPr>
          <p:cNvPr id="1072" name="직선 화살표 연결선 1071">
            <a:extLst>
              <a:ext uri="{FF2B5EF4-FFF2-40B4-BE49-F238E27FC236}">
                <a16:creationId xmlns:a16="http://schemas.microsoft.com/office/drawing/2014/main" id="{ADC4AD2C-2442-D565-C03D-52A553164945}"/>
              </a:ext>
            </a:extLst>
          </p:cNvPr>
          <p:cNvCxnSpPr>
            <a:cxnSpLocks/>
          </p:cNvCxnSpPr>
          <p:nvPr/>
        </p:nvCxnSpPr>
        <p:spPr>
          <a:xfrm>
            <a:off x="13308796" y="8095749"/>
            <a:ext cx="10763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3" name="사각형: 둥근 모서리 1072">
            <a:extLst>
              <a:ext uri="{FF2B5EF4-FFF2-40B4-BE49-F238E27FC236}">
                <a16:creationId xmlns:a16="http://schemas.microsoft.com/office/drawing/2014/main" id="{A70CA0D7-1896-0EB6-73AF-3B8E36D93DC6}"/>
              </a:ext>
            </a:extLst>
          </p:cNvPr>
          <p:cNvSpPr/>
          <p:nvPr/>
        </p:nvSpPr>
        <p:spPr>
          <a:xfrm>
            <a:off x="11170437" y="7904882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FCM</a:t>
            </a:r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구현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1074" name="사각형: 둥근 모서리 1073">
            <a:extLst>
              <a:ext uri="{FF2B5EF4-FFF2-40B4-BE49-F238E27FC236}">
                <a16:creationId xmlns:a16="http://schemas.microsoft.com/office/drawing/2014/main" id="{7C8D03FF-B94F-9374-A9CF-8115D8C755C5}"/>
              </a:ext>
            </a:extLst>
          </p:cNvPr>
          <p:cNvSpPr/>
          <p:nvPr/>
        </p:nvSpPr>
        <p:spPr>
          <a:xfrm>
            <a:off x="11170437" y="853851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관심상품 정렬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84E95E5-A9D9-40BF-B777-FCB78CA04BCF}"/>
              </a:ext>
            </a:extLst>
          </p:cNvPr>
          <p:cNvSpPr/>
          <p:nvPr/>
        </p:nvSpPr>
        <p:spPr>
          <a:xfrm>
            <a:off x="12258672" y="727270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읽음처리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7FFA020-F256-FA98-3291-FBADF256AF29}"/>
              </a:ext>
            </a:extLst>
          </p:cNvPr>
          <p:cNvSpPr/>
          <p:nvPr/>
        </p:nvSpPr>
        <p:spPr>
          <a:xfrm>
            <a:off x="13342133" y="727270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알림 </a:t>
            </a:r>
            <a:r>
              <a:rPr lang="ko-KR" altLang="en-US" sz="1000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뱃지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06089C2-0416-F9EE-DA15-9122366FD671}"/>
              </a:ext>
            </a:extLst>
          </p:cNvPr>
          <p:cNvSpPr/>
          <p:nvPr/>
        </p:nvSpPr>
        <p:spPr>
          <a:xfrm>
            <a:off x="11170437" y="4822621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위치 등록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C4ECF67-E877-4991-61CF-242DB7BC05E6}"/>
              </a:ext>
            </a:extLst>
          </p:cNvPr>
          <p:cNvSpPr/>
          <p:nvPr/>
        </p:nvSpPr>
        <p:spPr>
          <a:xfrm>
            <a:off x="11170437" y="6028891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오타대응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2CA4EF3-7DB0-4083-FC4D-14021DC8B994}"/>
              </a:ext>
            </a:extLst>
          </p:cNvPr>
          <p:cNvSpPr/>
          <p:nvPr/>
        </p:nvSpPr>
        <p:spPr>
          <a:xfrm>
            <a:off x="12258672" y="6038221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자동완성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AE3BDF6-5A19-02E7-C1CE-3EA84E37B061}"/>
              </a:ext>
            </a:extLst>
          </p:cNvPr>
          <p:cNvCxnSpPr>
            <a:cxnSpLocks/>
          </p:cNvCxnSpPr>
          <p:nvPr/>
        </p:nvCxnSpPr>
        <p:spPr>
          <a:xfrm>
            <a:off x="13311174" y="6224015"/>
            <a:ext cx="1071566" cy="101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C8F29C8-4E33-14D5-8778-6EBF776E1DF0}"/>
              </a:ext>
            </a:extLst>
          </p:cNvPr>
          <p:cNvSpPr/>
          <p:nvPr/>
        </p:nvSpPr>
        <p:spPr>
          <a:xfrm>
            <a:off x="12258672" y="853851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조회수 정렬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FCFBB9A-4C37-E2B7-8078-F21B5DAC1769}"/>
              </a:ext>
            </a:extLst>
          </p:cNvPr>
          <p:cNvSpPr/>
          <p:nvPr/>
        </p:nvSpPr>
        <p:spPr>
          <a:xfrm>
            <a:off x="13342133" y="8534118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최신순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E5C02C6-542C-852D-08AE-865F498E6170}"/>
              </a:ext>
            </a:extLst>
          </p:cNvPr>
          <p:cNvSpPr/>
          <p:nvPr/>
        </p:nvSpPr>
        <p:spPr>
          <a:xfrm>
            <a:off x="14424023" y="853851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관심상품 조회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FADA73D-BB54-364B-FC63-FE0094064362}"/>
              </a:ext>
            </a:extLst>
          </p:cNvPr>
          <p:cNvSpPr/>
          <p:nvPr/>
        </p:nvSpPr>
        <p:spPr>
          <a:xfrm>
            <a:off x="14424023" y="9085079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카테고리 추천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642DC7C-4B6B-7822-49C4-FC8CEBC1B80F}"/>
              </a:ext>
            </a:extLst>
          </p:cNvPr>
          <p:cNvSpPr/>
          <p:nvPr/>
        </p:nvSpPr>
        <p:spPr>
          <a:xfrm>
            <a:off x="13342133" y="9085786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카테고리 정렬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E8F7B4E-4CE7-04E8-4552-5EA18B5060C2}"/>
              </a:ext>
            </a:extLst>
          </p:cNvPr>
          <p:cNvSpPr/>
          <p:nvPr/>
        </p:nvSpPr>
        <p:spPr>
          <a:xfrm>
            <a:off x="12258672" y="5429583"/>
            <a:ext cx="2093110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MockAPI</a:t>
            </a:r>
            <a:r>
              <a:rPr lang="en-US" altLang="ko-KR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 </a:t>
            </a:r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배송구현 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9EEA7F5-D16C-EB6B-887D-FAC12D0C1D92}"/>
              </a:ext>
            </a:extLst>
          </p:cNvPr>
          <p:cNvSpPr/>
          <p:nvPr/>
        </p:nvSpPr>
        <p:spPr>
          <a:xfrm>
            <a:off x="5750709" y="7279848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프론트구현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F7F6A3C-3A5C-A295-3054-9B87D6EA9E06}"/>
              </a:ext>
            </a:extLst>
          </p:cNvPr>
          <p:cNvSpPr/>
          <p:nvPr/>
        </p:nvSpPr>
        <p:spPr>
          <a:xfrm>
            <a:off x="7915270" y="909337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프론트구현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E988B8-E442-45EC-964C-AEE0B3ACBD7C}"/>
              </a:ext>
            </a:extLst>
          </p:cNvPr>
          <p:cNvSpPr txBox="1"/>
          <p:nvPr/>
        </p:nvSpPr>
        <p:spPr>
          <a:xfrm>
            <a:off x="990600" y="1121688"/>
            <a:ext cx="784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02 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작업일정 </a:t>
            </a:r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– 1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학기</a:t>
            </a:r>
          </a:p>
        </p:txBody>
      </p:sp>
    </p:spTree>
    <p:extLst>
      <p:ext uri="{BB962C8B-B14F-4D97-AF65-F5344CB8AC3E}">
        <p14:creationId xmlns:p14="http://schemas.microsoft.com/office/powerpoint/2010/main" val="3389556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46A96-9DFF-5F50-8CB8-A2527717E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050846-93A1-79B8-816B-A6614949ADDC}"/>
              </a:ext>
            </a:extLst>
          </p:cNvPr>
          <p:cNvSpPr txBox="1"/>
          <p:nvPr/>
        </p:nvSpPr>
        <p:spPr>
          <a:xfrm>
            <a:off x="990600" y="1121688"/>
            <a:ext cx="784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작업일정 </a:t>
            </a:r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– 2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학기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2C1412A-7E04-34D8-8A4F-52BBE7476599}"/>
              </a:ext>
            </a:extLst>
          </p:cNvPr>
          <p:cNvGraphicFramePr>
            <a:graphicFrameLocks noGrp="1"/>
          </p:cNvGraphicFramePr>
          <p:nvPr/>
        </p:nvGraphicFramePr>
        <p:xfrm>
          <a:off x="647692" y="2577277"/>
          <a:ext cx="16992608" cy="623519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817812">
                  <a:extLst>
                    <a:ext uri="{9D8B030D-6E8A-4147-A177-3AD203B41FA5}">
                      <a16:colId xmlns:a16="http://schemas.microsoft.com/office/drawing/2014/main" val="1306523136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2501421171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1540531405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3602177195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3181728867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202715914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1434439135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336528572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920177850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530416495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1359794757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2588804835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3303744951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2386204257"/>
                    </a:ext>
                  </a:extLst>
                </a:gridCol>
                <a:gridCol w="1083914">
                  <a:extLst>
                    <a:ext uri="{9D8B030D-6E8A-4147-A177-3AD203B41FA5}">
                      <a16:colId xmlns:a16="http://schemas.microsoft.com/office/drawing/2014/main" val="3272650377"/>
                    </a:ext>
                  </a:extLst>
                </a:gridCol>
              </a:tblGrid>
              <a:tr h="620967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b="1" u="none" strike="noStrike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주</a:t>
                      </a:r>
                      <a:endParaRPr lang="ko-KR" altLang="en-US" sz="1200" b="1" i="0" u="none" strike="noStrike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solidFill>
                              <a:prstClr val="black">
                                <a:alpha val="2000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prstClr val="black">
                              <a:alpha val="20000"/>
                            </a:prst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3520985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DB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450416"/>
                  </a:ext>
                </a:extLst>
              </a:tr>
              <a:tr h="64648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사이트페이지</a:t>
                      </a:r>
                      <a:endParaRPr lang="en-US" altLang="ko-KR" sz="1300" b="1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971375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채팅</a:t>
                      </a:r>
                      <a:endParaRPr lang="en-US" altLang="ko-KR" sz="1300" b="1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2250355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i="0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안전거래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390695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후기</a:t>
                      </a:r>
                      <a:endParaRPr lang="en-US" altLang="ko-KR" sz="1300" b="1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3097935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카테고리</a:t>
                      </a:r>
                      <a:endParaRPr lang="en-US" altLang="ko-KR" sz="1300" b="1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460042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i="0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커뮤니티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242917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</a:rPr>
                        <a:t>경매시스템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304467"/>
                  </a:ext>
                </a:extLst>
              </a:tr>
              <a:tr h="620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i="0" u="none" strike="noStrike" kern="1200" dirty="0">
                          <a:ln>
                            <a:solidFill>
                              <a:schemeClr val="tx1">
                                <a:alpha val="2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배포</a:t>
                      </a:r>
                      <a:endParaRPr lang="en-US" altLang="ko-KR" sz="1300" b="1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i="0" u="none" strike="noStrike" kern="120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0810420"/>
                  </a:ext>
                </a:extLst>
              </a:tr>
            </a:tbl>
          </a:graphicData>
        </a:graphic>
      </p:graphicFrame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BD008B0-A3AE-22DD-A7C9-02390E51F305}"/>
              </a:ext>
            </a:extLst>
          </p:cNvPr>
          <p:cNvSpPr/>
          <p:nvPr/>
        </p:nvSpPr>
        <p:spPr>
          <a:xfrm>
            <a:off x="2505061" y="3332505"/>
            <a:ext cx="2082813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DB </a:t>
            </a:r>
            <a:r>
              <a:rPr lang="ko-KR" altLang="en-US" sz="12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설계 및 관리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73C377B-985E-2A71-F64A-E697265F2EF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4587874" y="3527768"/>
            <a:ext cx="8670907" cy="67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D14135E-395C-71CA-6EDD-F4BD69896BC3}"/>
              </a:ext>
            </a:extLst>
          </p:cNvPr>
          <p:cNvSpPr/>
          <p:nvPr/>
        </p:nvSpPr>
        <p:spPr>
          <a:xfrm>
            <a:off x="2505061" y="3950503"/>
            <a:ext cx="2082813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n-ea"/>
              </a:rPr>
              <a:t>경매</a:t>
            </a:r>
            <a:r>
              <a:rPr lang="en-US" altLang="ko-KR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  <a:latin typeface="+mn-ea"/>
              </a:rPr>
              <a:t>커뮤니티 페이지 디자인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24032E2-1BD8-90EE-7BF3-994B8571A2EF}"/>
              </a:ext>
            </a:extLst>
          </p:cNvPr>
          <p:cNvSpPr/>
          <p:nvPr/>
        </p:nvSpPr>
        <p:spPr>
          <a:xfrm>
            <a:off x="5759379" y="3950503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경매 페이지 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94E0A4A-3756-94CE-6434-B661025C2743}"/>
              </a:ext>
            </a:extLst>
          </p:cNvPr>
          <p:cNvCxnSpPr>
            <a:cxnSpLocks/>
          </p:cNvCxnSpPr>
          <p:nvPr/>
        </p:nvCxnSpPr>
        <p:spPr>
          <a:xfrm flipV="1">
            <a:off x="6760358" y="4142345"/>
            <a:ext cx="1104900" cy="21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74D920E-D953-88C8-D11D-5B2C08BE04BE}"/>
              </a:ext>
            </a:extLst>
          </p:cNvPr>
          <p:cNvSpPr/>
          <p:nvPr/>
        </p:nvSpPr>
        <p:spPr>
          <a:xfrm>
            <a:off x="7917630" y="3950503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커뮤니티 페이지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2AD6E20-9FD4-92AF-6726-AEB8FCE255FE}"/>
              </a:ext>
            </a:extLst>
          </p:cNvPr>
          <p:cNvCxnSpPr>
            <a:cxnSpLocks/>
          </p:cNvCxnSpPr>
          <p:nvPr/>
        </p:nvCxnSpPr>
        <p:spPr>
          <a:xfrm flipV="1">
            <a:off x="8918609" y="4146761"/>
            <a:ext cx="1104900" cy="21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DCC3857-38CD-B0D7-6FE8-CE956D557248}"/>
              </a:ext>
            </a:extLst>
          </p:cNvPr>
          <p:cNvSpPr/>
          <p:nvPr/>
        </p:nvSpPr>
        <p:spPr>
          <a:xfrm>
            <a:off x="2502593" y="460131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이미지 업로드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C8E6080-CAB6-4C04-52C1-F2BF720BD5AB}"/>
              </a:ext>
            </a:extLst>
          </p:cNvPr>
          <p:cNvSpPr/>
          <p:nvPr/>
        </p:nvSpPr>
        <p:spPr>
          <a:xfrm>
            <a:off x="3585599" y="460131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장소 전송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7616A9E-1B98-0399-6036-3029B943DFD0}"/>
              </a:ext>
            </a:extLst>
          </p:cNvPr>
          <p:cNvSpPr/>
          <p:nvPr/>
        </p:nvSpPr>
        <p:spPr>
          <a:xfrm>
            <a:off x="4667240" y="460131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신고</a:t>
            </a:r>
            <a:r>
              <a:rPr lang="en-US" altLang="ko-KR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, </a:t>
            </a:r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매너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AC7BE44A-7AA2-5549-B53C-7AD27C70061B}"/>
              </a:ext>
            </a:extLst>
          </p:cNvPr>
          <p:cNvCxnSpPr>
            <a:cxnSpLocks/>
          </p:cNvCxnSpPr>
          <p:nvPr/>
        </p:nvCxnSpPr>
        <p:spPr>
          <a:xfrm>
            <a:off x="5676889" y="4796577"/>
            <a:ext cx="218836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6DDA5DB-8C7B-6181-D511-AFAF5D7AACEE}"/>
              </a:ext>
            </a:extLst>
          </p:cNvPr>
          <p:cNvSpPr/>
          <p:nvPr/>
        </p:nvSpPr>
        <p:spPr>
          <a:xfrm>
            <a:off x="2502593" y="5229937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결제내역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2E5E57C0-2A99-F48E-C4F5-BA2AF01845CB}"/>
              </a:ext>
            </a:extLst>
          </p:cNvPr>
          <p:cNvSpPr/>
          <p:nvPr/>
        </p:nvSpPr>
        <p:spPr>
          <a:xfrm>
            <a:off x="4673600" y="5229937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결제취소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6D764BA7-5315-2EF6-701F-5FEEF206D8B4}"/>
              </a:ext>
            </a:extLst>
          </p:cNvPr>
          <p:cNvSpPr/>
          <p:nvPr/>
        </p:nvSpPr>
        <p:spPr>
          <a:xfrm>
            <a:off x="3585599" y="5229937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배송내역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AA0DD0B9-FF01-6F96-B6E9-56DD5B93F800}"/>
              </a:ext>
            </a:extLst>
          </p:cNvPr>
          <p:cNvSpPr/>
          <p:nvPr/>
        </p:nvSpPr>
        <p:spPr>
          <a:xfrm>
            <a:off x="2502592" y="585149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프론트구현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3F6617F0-85D5-EAE5-56AD-D98EB3B63DC9}"/>
              </a:ext>
            </a:extLst>
          </p:cNvPr>
          <p:cNvSpPr/>
          <p:nvPr/>
        </p:nvSpPr>
        <p:spPr>
          <a:xfrm>
            <a:off x="3585599" y="585149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백엔드구현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475371A-755B-D3FF-4AD9-5C723EF527EB}"/>
              </a:ext>
            </a:extLst>
          </p:cNvPr>
          <p:cNvSpPr/>
          <p:nvPr/>
        </p:nvSpPr>
        <p:spPr>
          <a:xfrm>
            <a:off x="2502592" y="6470595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세분화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C9FE53C3-A89B-203F-8FAD-DD360BEEA7A8}"/>
              </a:ext>
            </a:extLst>
          </p:cNvPr>
          <p:cNvCxnSpPr>
            <a:cxnSpLocks/>
          </p:cNvCxnSpPr>
          <p:nvPr/>
        </p:nvCxnSpPr>
        <p:spPr>
          <a:xfrm>
            <a:off x="3512241" y="6665858"/>
            <a:ext cx="218836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E85FC95-B584-CF57-F707-356993D8855B}"/>
              </a:ext>
            </a:extLst>
          </p:cNvPr>
          <p:cNvSpPr/>
          <p:nvPr/>
        </p:nvSpPr>
        <p:spPr>
          <a:xfrm>
            <a:off x="5741184" y="708173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백엔드구현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28490027-8F07-FCA5-1EE5-E556CAF38FD7}"/>
              </a:ext>
            </a:extLst>
          </p:cNvPr>
          <p:cNvSpPr/>
          <p:nvPr/>
        </p:nvSpPr>
        <p:spPr>
          <a:xfrm>
            <a:off x="6827033" y="7081734"/>
            <a:ext cx="2097885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추천</a:t>
            </a:r>
            <a:r>
              <a:rPr lang="en-US" altLang="ko-KR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·</a:t>
            </a:r>
            <a:r>
              <a:rPr lang="ko-KR" altLang="en-US" sz="1000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비추천</a:t>
            </a:r>
            <a:r>
              <a:rPr lang="en-US" altLang="ko-KR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·</a:t>
            </a:r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신고 기능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277976BB-94AD-5F62-3505-8FB51BA0F705}"/>
              </a:ext>
            </a:extLst>
          </p:cNvPr>
          <p:cNvSpPr/>
          <p:nvPr/>
        </p:nvSpPr>
        <p:spPr>
          <a:xfrm>
            <a:off x="9001104" y="7081734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팔로우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C863FFBA-2FA1-B470-E61C-D371DD94C4AE}"/>
              </a:ext>
            </a:extLst>
          </p:cNvPr>
          <p:cNvSpPr/>
          <p:nvPr/>
        </p:nvSpPr>
        <p:spPr>
          <a:xfrm>
            <a:off x="5741184" y="7692202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백엔드구현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68F7E6C7-3A14-B4F4-F582-D5AB05FD67C4}"/>
              </a:ext>
            </a:extLst>
          </p:cNvPr>
          <p:cNvCxnSpPr>
            <a:cxnSpLocks/>
          </p:cNvCxnSpPr>
          <p:nvPr/>
        </p:nvCxnSpPr>
        <p:spPr>
          <a:xfrm flipV="1">
            <a:off x="6750833" y="7896656"/>
            <a:ext cx="6507948" cy="9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사각형: 둥근 모서리 1023">
            <a:extLst>
              <a:ext uri="{FF2B5EF4-FFF2-40B4-BE49-F238E27FC236}">
                <a16:creationId xmlns:a16="http://schemas.microsoft.com/office/drawing/2014/main" id="{FDB58AF2-5306-8FFC-B292-B1C3B948F062}"/>
              </a:ext>
            </a:extLst>
          </p:cNvPr>
          <p:cNvSpPr/>
          <p:nvPr/>
        </p:nvSpPr>
        <p:spPr>
          <a:xfrm>
            <a:off x="13335000" y="8308976"/>
            <a:ext cx="1009649" cy="390526"/>
          </a:xfrm>
          <a:prstGeom prst="roundRect">
            <a:avLst>
              <a:gd name="adj" fmla="val 50000"/>
            </a:avLst>
          </a:prstGeom>
          <a:solidFill>
            <a:srgbClr val="FBE0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AWS </a:t>
            </a:r>
            <a:r>
              <a:rPr lang="ko-KR" altLang="en-US" sz="1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000000"/>
                </a:solidFill>
              </a:rPr>
              <a:t>배포</a:t>
            </a:r>
            <a:endParaRPr lang="en-US" altLang="ko-KR" sz="1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000000"/>
              </a:solidFill>
            </a:endParaRPr>
          </a:p>
        </p:txBody>
      </p:sp>
      <p:cxnSp>
        <p:nvCxnSpPr>
          <p:cNvPr id="1025" name="직선 화살표 연결선 1024">
            <a:extLst>
              <a:ext uri="{FF2B5EF4-FFF2-40B4-BE49-F238E27FC236}">
                <a16:creationId xmlns:a16="http://schemas.microsoft.com/office/drawing/2014/main" id="{9A6FC53E-31FF-5060-766B-A30E1D930D05}"/>
              </a:ext>
            </a:extLst>
          </p:cNvPr>
          <p:cNvCxnSpPr>
            <a:cxnSpLocks/>
          </p:cNvCxnSpPr>
          <p:nvPr/>
        </p:nvCxnSpPr>
        <p:spPr>
          <a:xfrm>
            <a:off x="14344649" y="8504239"/>
            <a:ext cx="219075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직선 화살표 연결선 1028">
            <a:extLst>
              <a:ext uri="{FF2B5EF4-FFF2-40B4-BE49-F238E27FC236}">
                <a16:creationId xmlns:a16="http://schemas.microsoft.com/office/drawing/2014/main" id="{C03F35B3-8C04-11A3-682B-03BE0535D060}"/>
              </a:ext>
            </a:extLst>
          </p:cNvPr>
          <p:cNvCxnSpPr>
            <a:cxnSpLocks/>
          </p:cNvCxnSpPr>
          <p:nvPr/>
        </p:nvCxnSpPr>
        <p:spPr>
          <a:xfrm>
            <a:off x="10023509" y="7263449"/>
            <a:ext cx="218836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직선 화살표 연결선 1029">
            <a:extLst>
              <a:ext uri="{FF2B5EF4-FFF2-40B4-BE49-F238E27FC236}">
                <a16:creationId xmlns:a16="http://schemas.microsoft.com/office/drawing/2014/main" id="{814E72AD-7BE9-F502-F6F7-975C6E77D2A8}"/>
              </a:ext>
            </a:extLst>
          </p:cNvPr>
          <p:cNvCxnSpPr>
            <a:cxnSpLocks/>
          </p:cNvCxnSpPr>
          <p:nvPr/>
        </p:nvCxnSpPr>
        <p:spPr>
          <a:xfrm>
            <a:off x="4589064" y="6046757"/>
            <a:ext cx="218836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977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FA896-6251-D7E1-A706-C1F8E22E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DFFA16F3-AFBC-1D72-540E-89E14DC92199}"/>
              </a:ext>
            </a:extLst>
          </p:cNvPr>
          <p:cNvSpPr txBox="1"/>
          <p:nvPr/>
        </p:nvSpPr>
        <p:spPr>
          <a:xfrm>
            <a:off x="1789995" y="1401008"/>
            <a:ext cx="8477003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25"/>
              </a:lnSpc>
              <a:spcBef>
                <a:spcPct val="0"/>
              </a:spcBef>
            </a:pPr>
            <a:r>
              <a:rPr lang="ko-KR" altLang="en-US" sz="7500" b="1" spc="-27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  <a:cs typeface="Nanum Square Bold"/>
                <a:sym typeface="Nanum Square Bold"/>
              </a:rPr>
              <a:t>작업</a:t>
            </a:r>
            <a:endParaRPr lang="en-US" sz="7500" b="1" spc="-27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동녘B" panose="02030600000101010101" pitchFamily="18" charset="-127"/>
              <a:ea typeface="HY동녘B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C2547-353D-5ACD-12B9-FC0B1FAB1F40}"/>
              </a:ext>
            </a:extLst>
          </p:cNvPr>
          <p:cNvSpPr txBox="1"/>
          <p:nvPr/>
        </p:nvSpPr>
        <p:spPr>
          <a:xfrm>
            <a:off x="1181100" y="4229100"/>
            <a:ext cx="15925800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Figma -&gt; </a:t>
            </a:r>
            <a:r>
              <a:rPr lang="en-US" altLang="ko-KR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hlinkClick r:id="rId2"/>
              </a:rPr>
              <a:t>https://www.figma.com/design/D9T4EyLoqucIE84OUfJtGo/%ED%8C%80%ED%94%8C?node-id=0-1&amp;m=dev&amp;t=XZtHh7pj1x7lROHu-1</a:t>
            </a:r>
            <a:endParaRPr lang="en-US" altLang="ko-KR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0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Notion -&gt; </a:t>
            </a:r>
            <a:r>
              <a:rPr lang="en-US" altLang="ko-KR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hlinkClick r:id="rId3"/>
              </a:rPr>
              <a:t>https://www.notion.so/1b4fe9b4b8cc804cbbd9d08591ce9e58?pvs=4</a:t>
            </a:r>
            <a:endParaRPr lang="ko-KR" altLang="en-US" sz="3000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5971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2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1FE80D-5C7F-E00B-B7A0-DAFF0EA6EB06}"/>
              </a:ext>
            </a:extLst>
          </p:cNvPr>
          <p:cNvSpPr txBox="1"/>
          <p:nvPr/>
        </p:nvSpPr>
        <p:spPr>
          <a:xfrm>
            <a:off x="990600" y="1112103"/>
            <a:ext cx="784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03 </a:t>
            </a:r>
            <a:r>
              <a:rPr lang="ko-KR" altLang="en-US" sz="4800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동녘B" panose="02030600000101010101" pitchFamily="18" charset="-127"/>
                <a:ea typeface="HY동녘B" panose="02030600000101010101" pitchFamily="18" charset="-127"/>
              </a:rPr>
              <a:t>역할분담</a:t>
            </a:r>
          </a:p>
        </p:txBody>
      </p:sp>
      <p:pic>
        <p:nvPicPr>
          <p:cNvPr id="4" name="그림 3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D93A630-6999-3992-2FBD-D379C651D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99" y="2857500"/>
            <a:ext cx="2438400" cy="2438400"/>
          </a:xfrm>
          <a:prstGeom prst="rect">
            <a:avLst/>
          </a:prstGeom>
        </p:spPr>
      </p:pic>
      <p:sp>
        <p:nvSpPr>
          <p:cNvPr id="25" name="TextBox 11">
            <a:extLst>
              <a:ext uri="{FF2B5EF4-FFF2-40B4-BE49-F238E27FC236}">
                <a16:creationId xmlns:a16="http://schemas.microsoft.com/office/drawing/2014/main" id="{F001247F-404B-DB0A-89A8-D1DCAE46BC6F}"/>
              </a:ext>
            </a:extLst>
          </p:cNvPr>
          <p:cNvSpPr txBox="1"/>
          <p:nvPr/>
        </p:nvSpPr>
        <p:spPr>
          <a:xfrm>
            <a:off x="2733164" y="5572125"/>
            <a:ext cx="1704470" cy="547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3506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전여욱</a:t>
            </a:r>
            <a:endParaRPr lang="en-US" sz="3506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pic>
        <p:nvPicPr>
          <p:cNvPr id="27" name="그림 26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BA09236-E4FF-AD53-162E-15C86D22B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466" y="2857500"/>
            <a:ext cx="2438400" cy="2438400"/>
          </a:xfrm>
          <a:prstGeom prst="rect">
            <a:avLst/>
          </a:prstGeom>
        </p:spPr>
      </p:pic>
      <p:sp>
        <p:nvSpPr>
          <p:cNvPr id="28" name="TextBox 11">
            <a:extLst>
              <a:ext uri="{FF2B5EF4-FFF2-40B4-BE49-F238E27FC236}">
                <a16:creationId xmlns:a16="http://schemas.microsoft.com/office/drawing/2014/main" id="{67B14E12-EB79-10C6-CB43-67136D2B19A2}"/>
              </a:ext>
            </a:extLst>
          </p:cNvPr>
          <p:cNvSpPr txBox="1"/>
          <p:nvPr/>
        </p:nvSpPr>
        <p:spPr>
          <a:xfrm>
            <a:off x="6262431" y="5572125"/>
            <a:ext cx="1704470" cy="547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3506" b="1" spc="-126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김신성</a:t>
            </a:r>
            <a:endParaRPr lang="en-US" sz="3506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pic>
        <p:nvPicPr>
          <p:cNvPr id="29" name="그림 28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F5F5F99-1D95-A741-38A7-105A9DAE9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733" y="2857500"/>
            <a:ext cx="2438400" cy="2438400"/>
          </a:xfrm>
          <a:prstGeom prst="rect">
            <a:avLst/>
          </a:prstGeom>
        </p:spPr>
      </p:pic>
      <p:sp>
        <p:nvSpPr>
          <p:cNvPr id="30" name="TextBox 11">
            <a:extLst>
              <a:ext uri="{FF2B5EF4-FFF2-40B4-BE49-F238E27FC236}">
                <a16:creationId xmlns:a16="http://schemas.microsoft.com/office/drawing/2014/main" id="{5DA55014-E16C-B237-6BDE-1211CF6FF411}"/>
              </a:ext>
            </a:extLst>
          </p:cNvPr>
          <p:cNvSpPr txBox="1"/>
          <p:nvPr/>
        </p:nvSpPr>
        <p:spPr>
          <a:xfrm>
            <a:off x="9791698" y="5572125"/>
            <a:ext cx="1704470" cy="547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3506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김준성</a:t>
            </a:r>
            <a:endParaRPr lang="en-US" sz="3506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pic>
        <p:nvPicPr>
          <p:cNvPr id="31" name="그림 30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202FAF4-690C-C541-9DCF-8B79687D7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0" y="2857500"/>
            <a:ext cx="2438400" cy="2438400"/>
          </a:xfrm>
          <a:prstGeom prst="rect">
            <a:avLst/>
          </a:prstGeom>
        </p:spPr>
      </p:pic>
      <p:sp>
        <p:nvSpPr>
          <p:cNvPr id="32" name="TextBox 11">
            <a:extLst>
              <a:ext uri="{FF2B5EF4-FFF2-40B4-BE49-F238E27FC236}">
                <a16:creationId xmlns:a16="http://schemas.microsoft.com/office/drawing/2014/main" id="{BDEDE662-B76D-C0B8-145F-3C7DFEDF53DB}"/>
              </a:ext>
            </a:extLst>
          </p:cNvPr>
          <p:cNvSpPr txBox="1"/>
          <p:nvPr/>
        </p:nvSpPr>
        <p:spPr>
          <a:xfrm>
            <a:off x="13320965" y="5572125"/>
            <a:ext cx="1704470" cy="547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3506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주현서</a:t>
            </a:r>
            <a:endParaRPr lang="en-US" sz="3506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33" name="TextBox 11">
            <a:extLst>
              <a:ext uri="{FF2B5EF4-FFF2-40B4-BE49-F238E27FC236}">
                <a16:creationId xmlns:a16="http://schemas.microsoft.com/office/drawing/2014/main" id="{C2013D42-4BC1-8855-3392-0E77D57AFAC1}"/>
              </a:ext>
            </a:extLst>
          </p:cNvPr>
          <p:cNvSpPr txBox="1"/>
          <p:nvPr/>
        </p:nvSpPr>
        <p:spPr>
          <a:xfrm>
            <a:off x="2661216" y="6524625"/>
            <a:ext cx="1838836" cy="547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en-US" sz="3506" b="1" spc="-126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BackEnd</a:t>
            </a:r>
            <a:endParaRPr lang="en-US" sz="3506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B8BD9740-E412-1D79-90ED-73545EF5C7C4}"/>
              </a:ext>
            </a:extLst>
          </p:cNvPr>
          <p:cNvSpPr txBox="1"/>
          <p:nvPr/>
        </p:nvSpPr>
        <p:spPr>
          <a:xfrm>
            <a:off x="6195248" y="6533394"/>
            <a:ext cx="1838836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en-US" sz="3506" b="1" spc="-126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FrontEnd</a:t>
            </a:r>
            <a:endParaRPr lang="en-US" sz="3506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47B10B83-6A40-8992-5287-85B567C14239}"/>
              </a:ext>
            </a:extLst>
          </p:cNvPr>
          <p:cNvSpPr txBox="1"/>
          <p:nvPr/>
        </p:nvSpPr>
        <p:spPr>
          <a:xfrm>
            <a:off x="9724515" y="6524625"/>
            <a:ext cx="1838836" cy="547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en-US" sz="3506" b="1" spc="-126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BackEnd</a:t>
            </a:r>
            <a:endParaRPr lang="en-US" sz="3506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36" name="TextBox 11">
            <a:extLst>
              <a:ext uri="{FF2B5EF4-FFF2-40B4-BE49-F238E27FC236}">
                <a16:creationId xmlns:a16="http://schemas.microsoft.com/office/drawing/2014/main" id="{7C589C0C-2786-0F46-9F0B-364E1C1D769F}"/>
              </a:ext>
            </a:extLst>
          </p:cNvPr>
          <p:cNvSpPr txBox="1"/>
          <p:nvPr/>
        </p:nvSpPr>
        <p:spPr>
          <a:xfrm>
            <a:off x="13249273" y="6524625"/>
            <a:ext cx="1838836" cy="547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en-US" sz="3506" b="1" spc="-126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BackEnd</a:t>
            </a:r>
            <a:endParaRPr lang="en-US" sz="3506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37" name="TextBox 11">
            <a:extLst>
              <a:ext uri="{FF2B5EF4-FFF2-40B4-BE49-F238E27FC236}">
                <a16:creationId xmlns:a16="http://schemas.microsoft.com/office/drawing/2014/main" id="{D294EBE3-241A-6F6B-8593-40991BDBF64E}"/>
              </a:ext>
            </a:extLst>
          </p:cNvPr>
          <p:cNvSpPr txBox="1"/>
          <p:nvPr/>
        </p:nvSpPr>
        <p:spPr>
          <a:xfrm>
            <a:off x="2680015" y="7003469"/>
            <a:ext cx="1838836" cy="47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en-US" sz="2400" b="1" spc="-126" dirty="0" err="1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FrontEnd</a:t>
            </a:r>
            <a:endParaRPr lang="en-US" sz="3506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sp>
        <p:nvSpPr>
          <p:cNvPr id="38" name="TextBox 11">
            <a:extLst>
              <a:ext uri="{FF2B5EF4-FFF2-40B4-BE49-F238E27FC236}">
                <a16:creationId xmlns:a16="http://schemas.microsoft.com/office/drawing/2014/main" id="{7E7493E3-EAA7-96EC-DD2D-E20ED1393F76}"/>
              </a:ext>
            </a:extLst>
          </p:cNvPr>
          <p:cNvSpPr txBox="1"/>
          <p:nvPr/>
        </p:nvSpPr>
        <p:spPr>
          <a:xfrm>
            <a:off x="2598798" y="7499690"/>
            <a:ext cx="1838836" cy="456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72"/>
              </a:lnSpc>
              <a:spcBef>
                <a:spcPct val="0"/>
              </a:spcBef>
            </a:pPr>
            <a:r>
              <a:rPr lang="ko-KR" altLang="en-US" sz="2400" b="1" spc="-126" dirty="0">
                <a:ln>
                  <a:solidFill>
                    <a:schemeClr val="tx1">
                      <a:alpha val="20000"/>
                    </a:scheme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팀장</a:t>
            </a:r>
            <a:endParaRPr lang="en-US" sz="3506" b="1" spc="-126" dirty="0">
              <a:ln>
                <a:solidFill>
                  <a:schemeClr val="tx1">
                    <a:alpha val="20000"/>
                  </a:schemeClr>
                </a:solidFill>
              </a:ln>
              <a:solidFill>
                <a:srgbClr val="263035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Nanum Square Bold"/>
              <a:sym typeface="Nanum Square Bold"/>
            </a:endParaRPr>
          </a:p>
        </p:txBody>
      </p:sp>
      <p:pic>
        <p:nvPicPr>
          <p:cNvPr id="40" name="그림 39" descr="상징, 폰트, 그래픽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5700312-39CC-E6C6-6072-0F1663F40A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8060986"/>
            <a:ext cx="991718" cy="991718"/>
          </a:xfrm>
          <a:prstGeom prst="rect">
            <a:avLst/>
          </a:prstGeom>
        </p:spPr>
      </p:pic>
      <p:pic>
        <p:nvPicPr>
          <p:cNvPr id="42" name="그림 41" descr="만화 영화, 클립아트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169513D-1DA2-9625-A345-832F1C36EB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202" y="8105655"/>
            <a:ext cx="902380" cy="902380"/>
          </a:xfrm>
          <a:prstGeom prst="rect">
            <a:avLst/>
          </a:prstGeom>
        </p:spPr>
      </p:pic>
      <p:pic>
        <p:nvPicPr>
          <p:cNvPr id="44" name="그림 43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DF710FC-9236-648D-D2F9-E4F9EC04AFF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606" y="7886700"/>
            <a:ext cx="1294796" cy="12947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2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38638" y="4241116"/>
            <a:ext cx="10010724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25"/>
              </a:lnSpc>
              <a:spcBef>
                <a:spcPct val="0"/>
              </a:spcBef>
            </a:pPr>
            <a:r>
              <a:rPr lang="en-US" sz="8000" b="1" spc="-270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22608" y="5480098"/>
            <a:ext cx="4642785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49"/>
              </a:lnSpc>
            </a:pPr>
            <a:r>
              <a:rPr lang="en-US" sz="4000" b="1" spc="-104" dirty="0" err="1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감사합니다</a:t>
            </a:r>
            <a:r>
              <a:rPr lang="en-US" sz="4000" b="1" spc="-104" dirty="0">
                <a:ln>
                  <a:solidFill>
                    <a:srgbClr val="263035">
                      <a:alpha val="20000"/>
                    </a:srgbClr>
                  </a:solidFill>
                </a:ln>
                <a:solidFill>
                  <a:srgbClr val="263035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anum Square Bold"/>
                <a:sym typeface="Nanum Square Bold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786</Words>
  <Application>Microsoft Office PowerPoint</Application>
  <PresentationFormat>사용자 지정</PresentationFormat>
  <Paragraphs>288</Paragraphs>
  <Slides>23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HY동녘B</vt:lpstr>
      <vt:lpstr>Arial</vt:lpstr>
      <vt:lpstr>맑은 고딕</vt:lpstr>
      <vt:lpstr>HY헤드라인M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쉐어토리_프로젝트</dc:title>
  <dc:creator>Jeon</dc:creator>
  <cp:lastModifiedBy>전여욱</cp:lastModifiedBy>
  <cp:revision>143</cp:revision>
  <dcterms:created xsi:type="dcterms:W3CDTF">2006-08-16T00:00:00Z</dcterms:created>
  <dcterms:modified xsi:type="dcterms:W3CDTF">2025-06-14T09:19:53Z</dcterms:modified>
  <dc:identifier>DAGiLDO1SRM</dc:identifier>
</cp:coreProperties>
</file>