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305" r:id="rId5"/>
    <p:sldId id="284" r:id="rId6"/>
    <p:sldId id="306" r:id="rId7"/>
    <p:sldId id="288" r:id="rId8"/>
    <p:sldId id="307" r:id="rId9"/>
    <p:sldId id="290" r:id="rId10"/>
    <p:sldId id="291" r:id="rId11"/>
    <p:sldId id="292" r:id="rId12"/>
    <p:sldId id="293" r:id="rId13"/>
    <p:sldId id="308" r:id="rId14"/>
    <p:sldId id="294" r:id="rId15"/>
    <p:sldId id="276" r:id="rId16"/>
    <p:sldId id="312" r:id="rId17"/>
    <p:sldId id="310" r:id="rId18"/>
    <p:sldId id="309" r:id="rId19"/>
    <p:sldId id="259" r:id="rId20"/>
    <p:sldId id="266" r:id="rId21"/>
  </p:sldIdLst>
  <p:sldSz cx="18288000" cy="10287000"/>
  <p:notesSz cx="6858000" cy="9144000"/>
  <p:embeddedFontLst>
    <p:embeddedFont>
      <p:font typeface="HY동녘B" panose="020B0600000101010101" charset="-127"/>
      <p:regular r:id="rId23"/>
    </p:embeddedFont>
    <p:embeddedFont>
      <p:font typeface="HY헤드라인M" panose="02030600000101010101" pitchFamily="18" charset="-127"/>
      <p:regular r:id="rId24"/>
    </p:embeddedFont>
    <p:embeddedFont>
      <p:font typeface="맑은 고딕" panose="020B0503020000020004" pitchFamily="50" charset="-127"/>
      <p:regular r:id="rId25"/>
      <p:bold r:id="rId26"/>
    </p:embeddedFont>
    <p:embeddedFont>
      <p:font typeface="함초롬돋움" panose="02030504000101010101" pitchFamily="18" charset="-127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E166"/>
    <a:srgbClr val="F6F6F6"/>
    <a:srgbClr val="A2AFC0"/>
    <a:srgbClr val="BACADA"/>
    <a:srgbClr val="F58C42"/>
    <a:srgbClr val="039BC6"/>
    <a:srgbClr val="FFFFFF"/>
    <a:srgbClr val="263035"/>
    <a:srgbClr val="1E1F22"/>
    <a:srgbClr val="FBE0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7" d="100"/>
          <a:sy n="97" d="100"/>
        </p:scale>
        <p:origin x="114" y="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21" d="100"/>
          <a:sy n="121" d="100"/>
        </p:scale>
        <p:origin x="502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837F0F-85D2-48B2-932B-5A71F9BCD2FE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EA0AE-EE4A-4989-B433-A9E690743A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629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EA0AE-EE4A-4989-B433-A9E690743A6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936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532E7-5909-3857-D76E-AA1BF1551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100CF2-902F-B5AC-2F6C-EE7D71B90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F41394-3C90-0920-4DF8-139A45ABD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C2E064-BB33-5BAD-A0F0-F94106CE5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EA0AE-EE4A-4989-B433-A9E690743A6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296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C758B-9BDE-1B85-8BDC-3BEC28B66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88C818-1BBA-CDBC-B318-4CC85184E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341118-6176-0C5C-F037-87690B967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E87E5D-2E72-BC26-7B92-FC0F02233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EA0AE-EE4A-4989-B433-A9E690743A6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091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E83EF-865F-9B18-60B0-9BE23E429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7C5DDD-5D28-7333-6574-9640452CC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0D9743-3246-09C9-91C7-8158CFD08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29F30D-9A65-41FB-6C1E-670087AB73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EA0AE-EE4A-4989-B433-A9E690743A6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635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3" name="Group 2">
            <a:extLst>
              <a:ext uri="{FF2B5EF4-FFF2-40B4-BE49-F238E27FC236}">
                <a16:creationId xmlns:a16="http://schemas.microsoft.com/office/drawing/2014/main" id="{E2FF1F74-25BE-0762-A559-D133A73494D5}"/>
              </a:ext>
            </a:extLst>
          </p:cNvPr>
          <p:cNvGrpSpPr/>
          <p:nvPr userDrawn="1"/>
        </p:nvGrpSpPr>
        <p:grpSpPr>
          <a:xfrm>
            <a:off x="641182" y="703794"/>
            <a:ext cx="17005635" cy="8879412"/>
            <a:chOff x="0" y="0"/>
            <a:chExt cx="4478850" cy="2338611"/>
          </a:xfrm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3AEEF90C-999C-40F4-AD91-8E7B91AF190C}"/>
                </a:ext>
              </a:extLst>
            </p:cNvPr>
            <p:cNvSpPr/>
            <p:nvPr/>
          </p:nvSpPr>
          <p:spPr>
            <a:xfrm>
              <a:off x="0" y="0"/>
              <a:ext cx="4478850" cy="2338611"/>
            </a:xfrm>
            <a:custGeom>
              <a:avLst/>
              <a:gdLst/>
              <a:ahLst/>
              <a:cxnLst/>
              <a:rect l="l" t="t" r="r" b="b"/>
              <a:pathLst>
                <a:path w="4478850" h="2338611">
                  <a:moveTo>
                    <a:pt x="9105" y="0"/>
                  </a:moveTo>
                  <a:lnTo>
                    <a:pt x="4469745" y="0"/>
                  </a:lnTo>
                  <a:cubicBezTo>
                    <a:pt x="4472160" y="0"/>
                    <a:pt x="4474476" y="959"/>
                    <a:pt x="4476183" y="2667"/>
                  </a:cubicBezTo>
                  <a:cubicBezTo>
                    <a:pt x="4477891" y="4374"/>
                    <a:pt x="4478850" y="6690"/>
                    <a:pt x="4478850" y="9105"/>
                  </a:cubicBezTo>
                  <a:lnTo>
                    <a:pt x="4478850" y="2329505"/>
                  </a:lnTo>
                  <a:cubicBezTo>
                    <a:pt x="4478850" y="2334534"/>
                    <a:pt x="4474774" y="2338611"/>
                    <a:pt x="4469745" y="2338611"/>
                  </a:cubicBezTo>
                  <a:lnTo>
                    <a:pt x="9105" y="2338611"/>
                  </a:lnTo>
                  <a:cubicBezTo>
                    <a:pt x="4077" y="2338611"/>
                    <a:pt x="0" y="2334534"/>
                    <a:pt x="0" y="2329505"/>
                  </a:cubicBezTo>
                  <a:lnTo>
                    <a:pt x="0" y="9105"/>
                  </a:lnTo>
                  <a:cubicBezTo>
                    <a:pt x="0" y="4077"/>
                    <a:pt x="4077" y="0"/>
                    <a:pt x="9105" y="0"/>
                  </a:cubicBez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4">
              <a:extLst>
                <a:ext uri="{FF2B5EF4-FFF2-40B4-BE49-F238E27FC236}">
                  <a16:creationId xmlns:a16="http://schemas.microsoft.com/office/drawing/2014/main" id="{FDDA664A-1441-1CAB-ADAC-1DC5FFE92D22}"/>
                </a:ext>
              </a:extLst>
            </p:cNvPr>
            <p:cNvSpPr txBox="1"/>
            <p:nvPr/>
          </p:nvSpPr>
          <p:spPr>
            <a:xfrm>
              <a:off x="0" y="-9525"/>
              <a:ext cx="4478850" cy="23481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4"/>
                </a:lnSpc>
              </a:pPr>
              <a:endParaRPr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microsoft.com/office/2007/relationships/hdphoto" Target="../media/hdphoto5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microsoft.com/office/2007/relationships/hdphoto" Target="../media/hdphoto4.wdp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0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8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9.png"/><Relationship Id="rId5" Type="http://schemas.openxmlformats.org/officeDocument/2006/relationships/image" Target="../media/image23.png"/><Relationship Id="rId10" Type="http://schemas.microsoft.com/office/2007/relationships/hdphoto" Target="../media/hdphoto6.wdp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3.39.215.194/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VoXTd5blJgY?si=LpNHrh7y3gf7x5sA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1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1182" y="667629"/>
            <a:ext cx="17005635" cy="891557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84"/>
              </a:lnSpc>
            </a:pPr>
            <a:endParaRPr>
              <a:solidFill>
                <a:srgbClr val="263035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05000" y="2171700"/>
            <a:ext cx="8611653" cy="2879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892"/>
              </a:lnSpc>
            </a:pPr>
            <a:r>
              <a:rPr lang="en-US" altLang="ko-KR" sz="10000" spc="-359" dirty="0" err="1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동녘B" panose="020B0600000101010101" charset="-127"/>
                <a:ea typeface="HY동녘B" panose="020B0600000101010101" charset="-127"/>
                <a:cs typeface="Nanum Square"/>
                <a:sym typeface="Nanum Square"/>
              </a:rPr>
              <a:t>ShareStroy</a:t>
            </a:r>
            <a:endParaRPr lang="en-US" altLang="ko-KR" sz="10000" spc="-359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동녘B" panose="020B0600000101010101" charset="-127"/>
              <a:ea typeface="HY동녘B" panose="020B0600000101010101" charset="-127"/>
              <a:cs typeface="Nanum Square"/>
              <a:sym typeface="Nanum Square"/>
            </a:endParaRPr>
          </a:p>
          <a:p>
            <a:pPr algn="l">
              <a:lnSpc>
                <a:spcPts val="11892"/>
              </a:lnSpc>
            </a:pPr>
            <a:r>
              <a:rPr lang="ko-KR" altLang="en-US" sz="8000" spc="-359" dirty="0" err="1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동녘B" panose="020B0600000101010101" charset="-127"/>
                <a:ea typeface="HY동녘B" panose="020B0600000101010101" charset="-127"/>
                <a:cs typeface="Nanum Square"/>
                <a:sym typeface="Nanum Square"/>
              </a:rPr>
              <a:t>쉐어토리</a:t>
            </a:r>
            <a:endParaRPr lang="en-US" altLang="ko-KR" sz="8000" spc="-359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동녘B" panose="020B0600000101010101" charset="-127"/>
              <a:ea typeface="HY동녘B" panose="020B0600000101010101" charset="-127"/>
              <a:cs typeface="Nanum Square"/>
              <a:sym typeface="Nanum Squar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972800" y="7962900"/>
            <a:ext cx="5317153" cy="345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17"/>
              </a:lnSpc>
              <a:spcBef>
                <a:spcPct val="0"/>
              </a:spcBef>
            </a:pPr>
            <a:r>
              <a:rPr lang="en-US" sz="2199" b="1" spc="-79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+mn-ea"/>
                <a:cs typeface="Nanum Square"/>
                <a:sym typeface="Nanum Square"/>
              </a:rPr>
              <a:t>YD_</a:t>
            </a:r>
            <a:r>
              <a:rPr lang="ko-KR" altLang="en-US" sz="2199" b="1" spc="-79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+mn-ea"/>
                <a:cs typeface="Nanum Square"/>
                <a:sym typeface="Nanum Square"/>
              </a:rPr>
              <a:t>졸업작품</a:t>
            </a:r>
            <a:endParaRPr lang="en-US" sz="2199" b="1" spc="-79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+mn-ea"/>
              <a:cs typeface="Nanum Square"/>
              <a:sym typeface="Nanum Squa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E8A951-4C04-A720-2F02-5A530494FDEE}"/>
              </a:ext>
            </a:extLst>
          </p:cNvPr>
          <p:cNvSpPr txBox="1"/>
          <p:nvPr/>
        </p:nvSpPr>
        <p:spPr>
          <a:xfrm>
            <a:off x="12115801" y="5841424"/>
            <a:ext cx="4800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물건을 나누고 경험을 공유하다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E405EDC-9915-852A-3AE4-8AAF09948F79}"/>
              </a:ext>
            </a:extLst>
          </p:cNvPr>
          <p:cNvGrpSpPr/>
          <p:nvPr/>
        </p:nvGrpSpPr>
        <p:grpSpPr>
          <a:xfrm>
            <a:off x="9829800" y="5764028"/>
            <a:ext cx="1894072" cy="1894072"/>
            <a:chOff x="9829800" y="6056704"/>
            <a:chExt cx="1894072" cy="1894072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E311598-E5B8-CC4D-4D59-9BB1C0344363}"/>
                </a:ext>
              </a:extLst>
            </p:cNvPr>
            <p:cNvSpPr/>
            <p:nvPr/>
          </p:nvSpPr>
          <p:spPr>
            <a:xfrm>
              <a:off x="9829800" y="6056704"/>
              <a:ext cx="1894072" cy="1894072"/>
            </a:xfrm>
            <a:prstGeom prst="ellipse">
              <a:avLst/>
            </a:prstGeom>
            <a:solidFill>
              <a:srgbClr val="F6E266"/>
            </a:solidFill>
            <a:ln w="101600">
              <a:noFill/>
            </a:ln>
            <a:scene3d>
              <a:camera prst="perspectiveLeft"/>
              <a:lightRig rig="flat" dir="t"/>
            </a:scene3d>
            <a:sp3d extrusionH="381000" contourW="44450">
              <a:extrusionClr>
                <a:srgbClr val="F1D333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84D05CA4-CA9D-0E56-5458-B919C61AD788}"/>
                </a:ext>
              </a:extLst>
            </p:cNvPr>
            <p:cNvGrpSpPr/>
            <p:nvPr/>
          </p:nvGrpSpPr>
          <p:grpSpPr>
            <a:xfrm>
              <a:off x="10229493" y="6449262"/>
              <a:ext cx="1163570" cy="1097530"/>
              <a:chOff x="4542180" y="798099"/>
              <a:chExt cx="994160" cy="937735"/>
            </a:xfrm>
          </p:grpSpPr>
          <p:pic>
            <p:nvPicPr>
              <p:cNvPr id="9" name="Picture 2" descr="My Letter S Personal 포스터">
                <a:extLst>
                  <a:ext uri="{FF2B5EF4-FFF2-40B4-BE49-F238E27FC236}">
                    <a16:creationId xmlns:a16="http://schemas.microsoft.com/office/drawing/2014/main" id="{3D2120FA-391E-19C1-732C-9206E099B0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8133" b="74800" l="9888" r="89925">
                            <a14:foregroundMark x1="48507" y1="74800" x2="48507" y2="7480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37" t="15053" r="29737" b="23660"/>
              <a:stretch/>
            </p:blipFill>
            <p:spPr bwMode="auto">
              <a:xfrm>
                <a:off x="4542180" y="798099"/>
                <a:ext cx="589765" cy="9377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2" descr="My Letter S Personal 포스터">
                <a:extLst>
                  <a:ext uri="{FF2B5EF4-FFF2-40B4-BE49-F238E27FC236}">
                    <a16:creationId xmlns:a16="http://schemas.microsoft.com/office/drawing/2014/main" id="{E8CC6889-7FFA-A751-41C6-78188EF069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8133" b="74800" l="9888" r="89925">
                            <a14:foregroundMark x1="48507" y1="74800" x2="48507" y2="7480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37" t="15053" r="29737" b="23660"/>
              <a:stretch/>
            </p:blipFill>
            <p:spPr bwMode="auto">
              <a:xfrm>
                <a:off x="4946575" y="798099"/>
                <a:ext cx="589765" cy="9377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2" name="TextBox 7">
            <a:extLst>
              <a:ext uri="{FF2B5EF4-FFF2-40B4-BE49-F238E27FC236}">
                <a16:creationId xmlns:a16="http://schemas.microsoft.com/office/drawing/2014/main" id="{CDC20C3A-7E0A-1F70-5CB0-2E7704DC3CA6}"/>
              </a:ext>
            </a:extLst>
          </p:cNvPr>
          <p:cNvSpPr txBox="1"/>
          <p:nvPr/>
        </p:nvSpPr>
        <p:spPr>
          <a:xfrm>
            <a:off x="10970342" y="8308594"/>
            <a:ext cx="5317153" cy="345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17"/>
              </a:lnSpc>
              <a:spcBef>
                <a:spcPct val="0"/>
              </a:spcBef>
            </a:pPr>
            <a:r>
              <a:rPr lang="ko-KR" altLang="en-US" sz="2199" b="1" spc="-79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+mn-ea"/>
                <a:cs typeface="Nanum Square"/>
                <a:sym typeface="Nanum Square"/>
              </a:rPr>
              <a:t>팀 </a:t>
            </a:r>
            <a:r>
              <a:rPr lang="en-US" altLang="ko-KR" sz="2199" b="1" spc="-79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+mn-ea"/>
                <a:cs typeface="Nanum Square"/>
                <a:sym typeface="Nanum Square"/>
              </a:rPr>
              <a:t>: Dream</a:t>
            </a:r>
            <a:endParaRPr lang="en-US" sz="2199" b="1" spc="-79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+mn-ea"/>
              <a:cs typeface="Nanum Square"/>
              <a:sym typeface="Nanum Squar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1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1182" y="667629"/>
            <a:ext cx="17005635" cy="891557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84"/>
              </a:lnSpc>
            </a:pPr>
            <a:endParaRPr>
              <a:solidFill>
                <a:srgbClr val="263035"/>
              </a:solidFill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411724" y="1412204"/>
            <a:ext cx="5386725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25"/>
              </a:lnSpc>
              <a:spcBef>
                <a:spcPct val="0"/>
              </a:spcBef>
            </a:pPr>
            <a:r>
              <a:rPr lang="en-US" sz="7500" b="1" spc="-270" dirty="0"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Contents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6238502-BA6C-304A-4337-497923E240D9}"/>
              </a:ext>
            </a:extLst>
          </p:cNvPr>
          <p:cNvGrpSpPr/>
          <p:nvPr/>
        </p:nvGrpSpPr>
        <p:grpSpPr>
          <a:xfrm>
            <a:off x="3810000" y="3543300"/>
            <a:ext cx="11419710" cy="4663874"/>
            <a:chOff x="3591690" y="3654027"/>
            <a:chExt cx="11419710" cy="4663874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266EADB7-36B3-DE57-FD12-25074529B438}"/>
                </a:ext>
              </a:extLst>
            </p:cNvPr>
            <p:cNvGrpSpPr/>
            <p:nvPr/>
          </p:nvGrpSpPr>
          <p:grpSpPr>
            <a:xfrm>
              <a:off x="3603623" y="3654027"/>
              <a:ext cx="3146097" cy="2022484"/>
              <a:chOff x="3440109" y="3654416"/>
              <a:chExt cx="3146097" cy="2022484"/>
            </a:xfrm>
          </p:grpSpPr>
          <p:grpSp>
            <p:nvGrpSpPr>
              <p:cNvPr id="5" name="Group 5"/>
              <p:cNvGrpSpPr/>
              <p:nvPr/>
            </p:nvGrpSpPr>
            <p:grpSpPr>
              <a:xfrm>
                <a:off x="3440109" y="3654416"/>
                <a:ext cx="791665" cy="791665"/>
                <a:chOff x="0" y="0"/>
                <a:chExt cx="812800" cy="812800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5E166"/>
                </a:solidFill>
                <a:ln w="28575">
                  <a:solidFill>
                    <a:schemeClr val="tx1"/>
                  </a:solidFill>
                </a:ln>
              </p:spPr>
              <p:txBody>
                <a:bodyPr anchor="ctr"/>
                <a:lstStyle/>
                <a:p>
                  <a:pPr algn="ctr"/>
                  <a:r>
                    <a:rPr lang="en-US" altLang="ko-KR" sz="2400" b="1" dirty="0">
                      <a:ln>
                        <a:solidFill>
                          <a:schemeClr val="tx1">
                            <a:alpha val="20000"/>
                          </a:schemeClr>
                        </a:solidFill>
                      </a:ln>
                      <a:solidFill>
                        <a:srgbClr val="263035"/>
                      </a:solidFill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01</a:t>
                  </a:r>
                  <a:endParaRPr lang="ko-KR" altLang="en-US" sz="2400" b="1" dirty="0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endParaRPr>
                </a:p>
              </p:txBody>
            </p:sp>
            <p:sp>
              <p:nvSpPr>
                <p:cNvPr id="7" name="TextBox 7"/>
                <p:cNvSpPr txBox="1"/>
                <p:nvPr/>
              </p:nvSpPr>
              <p:spPr>
                <a:xfrm>
                  <a:off x="76200" y="66675"/>
                  <a:ext cx="660400" cy="6699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84"/>
                    </a:lnSpc>
                  </a:pPr>
                  <a:endParaRPr sz="1400" dirty="0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endParaRPr>
                </a:p>
              </p:txBody>
            </p:sp>
          </p:grpSp>
          <p:sp>
            <p:nvSpPr>
              <p:cNvPr id="11" name="TextBox 11"/>
              <p:cNvSpPr txBox="1"/>
              <p:nvPr/>
            </p:nvSpPr>
            <p:spPr>
              <a:xfrm>
                <a:off x="4261271" y="3807477"/>
                <a:ext cx="2324935" cy="46499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4172"/>
                  </a:lnSpc>
                  <a:spcBef>
                    <a:spcPct val="0"/>
                  </a:spcBef>
                </a:pPr>
                <a:r>
                  <a:rPr lang="en-US" sz="2400" b="1" spc="-126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프로젝</a:t>
                </a:r>
                <a:r>
                  <a:rPr lang="ko-KR" altLang="en-US" sz="2400" b="1" spc="-126" dirty="0" err="1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트</a:t>
                </a:r>
                <a:endParaRPr lang="en-US" sz="2400" b="1" spc="-126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endParaRPr>
              </a:p>
            </p:txBody>
          </p:sp>
          <p:sp>
            <p:nvSpPr>
              <p:cNvPr id="41" name="TextBox 11">
                <a:extLst>
                  <a:ext uri="{FF2B5EF4-FFF2-40B4-BE49-F238E27FC236}">
                    <a16:creationId xmlns:a16="http://schemas.microsoft.com/office/drawing/2014/main" id="{17214094-D7E2-63BB-856F-E1816054BA14}"/>
                  </a:ext>
                </a:extLst>
              </p:cNvPr>
              <p:cNvSpPr txBox="1"/>
              <p:nvPr/>
            </p:nvSpPr>
            <p:spPr>
              <a:xfrm>
                <a:off x="3815658" y="4363784"/>
                <a:ext cx="2621440" cy="131311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571500" lvl="0" indent="-571500" algn="l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ko-KR" altLang="en-US" sz="2000" b="1" spc="-126" dirty="0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프로젝트 개요</a:t>
                </a:r>
                <a:endParaRPr lang="en-US" altLang="ko-KR" sz="2000" b="1" spc="-126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endParaRPr>
              </a:p>
              <a:p>
                <a:pPr marL="571500" lvl="0" indent="-571500" algn="l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ko-KR" altLang="en-US" sz="2000" b="1" spc="-126" dirty="0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유사 서비스 분석</a:t>
                </a:r>
                <a:endParaRPr lang="en-US" altLang="ko-KR" sz="2000" b="1" spc="-126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endParaRPr>
              </a:p>
              <a:p>
                <a:pPr marL="571500" lvl="0" indent="-571500" algn="l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ko-KR" altLang="en-US" sz="2000" b="1" spc="-126" dirty="0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프로젝트 목적</a:t>
                </a:r>
                <a:endParaRPr lang="en-US" altLang="ko-KR" sz="2000" b="1" spc="-126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endParaRPr>
              </a:p>
            </p:txBody>
          </p: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D2875093-2B5C-C90D-5FBF-458AEE8C72FF}"/>
                </a:ext>
              </a:extLst>
            </p:cNvPr>
            <p:cNvGrpSpPr/>
            <p:nvPr/>
          </p:nvGrpSpPr>
          <p:grpSpPr>
            <a:xfrm>
              <a:off x="7595530" y="3654027"/>
              <a:ext cx="3282654" cy="1566452"/>
              <a:chOff x="7309146" y="3653638"/>
              <a:chExt cx="3282654" cy="1566452"/>
            </a:xfrm>
          </p:grpSpPr>
          <p:sp>
            <p:nvSpPr>
              <p:cNvPr id="43" name="TextBox 11">
                <a:extLst>
                  <a:ext uri="{FF2B5EF4-FFF2-40B4-BE49-F238E27FC236}">
                    <a16:creationId xmlns:a16="http://schemas.microsoft.com/office/drawing/2014/main" id="{17CA9E24-7028-0D5E-3D82-85714D46B1F1}"/>
                  </a:ext>
                </a:extLst>
              </p:cNvPr>
              <p:cNvSpPr txBox="1"/>
              <p:nvPr/>
            </p:nvSpPr>
            <p:spPr>
              <a:xfrm>
                <a:off x="7783158" y="4368638"/>
                <a:ext cx="2808642" cy="85145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571500" lvl="0" indent="-571500" algn="l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ko-KR" altLang="en-US" sz="2000" b="1" dirty="0"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기능리스트</a:t>
                </a:r>
                <a:endParaRPr lang="en-US" altLang="ko-KR" sz="2000" b="1" dirty="0"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endParaRPr>
              </a:p>
              <a:p>
                <a:pPr marL="571500" lvl="0" indent="-571500" algn="l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ko-KR" altLang="en-US" sz="2000" b="1" dirty="0"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구현된 기능</a:t>
                </a:r>
                <a:endParaRPr lang="en-US" altLang="ko-KR" sz="2000" b="1" dirty="0"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endParaRPr>
              </a:p>
            </p:txBody>
          </p:sp>
          <p:grpSp>
            <p:nvGrpSpPr>
              <p:cNvPr id="10" name="Group 5">
                <a:extLst>
                  <a:ext uri="{FF2B5EF4-FFF2-40B4-BE49-F238E27FC236}">
                    <a16:creationId xmlns:a16="http://schemas.microsoft.com/office/drawing/2014/main" id="{EF9C2433-1C55-8C87-0B0B-893B736DC618}"/>
                  </a:ext>
                </a:extLst>
              </p:cNvPr>
              <p:cNvGrpSpPr/>
              <p:nvPr/>
            </p:nvGrpSpPr>
            <p:grpSpPr>
              <a:xfrm>
                <a:off x="7309146" y="3653638"/>
                <a:ext cx="869845" cy="791665"/>
                <a:chOff x="76200" y="0"/>
                <a:chExt cx="893067" cy="812800"/>
              </a:xfrm>
            </p:grpSpPr>
            <p:sp>
              <p:nvSpPr>
                <p:cNvPr id="12" name="Freeform 6">
                  <a:extLst>
                    <a:ext uri="{FF2B5EF4-FFF2-40B4-BE49-F238E27FC236}">
                      <a16:creationId xmlns:a16="http://schemas.microsoft.com/office/drawing/2014/main" id="{295B62B0-4CA6-1FC2-D8CC-6BA3407517D1}"/>
                    </a:ext>
                  </a:extLst>
                </p:cNvPr>
                <p:cNvSpPr/>
                <p:nvPr/>
              </p:nvSpPr>
              <p:spPr>
                <a:xfrm>
                  <a:off x="156467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5E166"/>
                </a:solidFill>
                <a:ln w="28575">
                  <a:solidFill>
                    <a:schemeClr val="tx1"/>
                  </a:solidFill>
                </a:ln>
              </p:spPr>
              <p:txBody>
                <a:bodyPr anchor="ctr"/>
                <a:lstStyle/>
                <a:p>
                  <a:pPr algn="ctr"/>
                  <a:r>
                    <a:rPr lang="en-US" altLang="ko-KR" sz="2400" b="1" dirty="0">
                      <a:ln>
                        <a:solidFill>
                          <a:schemeClr val="tx1">
                            <a:alpha val="20000"/>
                          </a:schemeClr>
                        </a:solidFill>
                      </a:ln>
                      <a:solidFill>
                        <a:srgbClr val="263035"/>
                      </a:solidFill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02</a:t>
                  </a:r>
                  <a:endParaRPr lang="ko-KR" altLang="en-US" sz="2400" b="1" dirty="0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endParaRPr>
                </a:p>
              </p:txBody>
            </p:sp>
            <p:sp>
              <p:nvSpPr>
                <p:cNvPr id="16" name="TextBox 7">
                  <a:extLst>
                    <a:ext uri="{FF2B5EF4-FFF2-40B4-BE49-F238E27FC236}">
                      <a16:creationId xmlns:a16="http://schemas.microsoft.com/office/drawing/2014/main" id="{F7CF8614-DF99-C5E7-4B67-4AF644B5621E}"/>
                    </a:ext>
                  </a:extLst>
                </p:cNvPr>
                <p:cNvSpPr txBox="1"/>
                <p:nvPr/>
              </p:nvSpPr>
              <p:spPr>
                <a:xfrm>
                  <a:off x="76200" y="66675"/>
                  <a:ext cx="660400" cy="6699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84"/>
                    </a:lnSpc>
                  </a:pPr>
                  <a:endParaRPr sz="1400" dirty="0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endParaRPr>
                </a:p>
              </p:txBody>
            </p:sp>
          </p:grpSp>
          <p:sp>
            <p:nvSpPr>
              <p:cNvPr id="17" name="TextBox 11">
                <a:extLst>
                  <a:ext uri="{FF2B5EF4-FFF2-40B4-BE49-F238E27FC236}">
                    <a16:creationId xmlns:a16="http://schemas.microsoft.com/office/drawing/2014/main" id="{F32C133F-1BAE-D555-644B-5713581CC931}"/>
                  </a:ext>
                </a:extLst>
              </p:cNvPr>
              <p:cNvSpPr txBox="1"/>
              <p:nvPr/>
            </p:nvSpPr>
            <p:spPr>
              <a:xfrm>
                <a:off x="8253211" y="3812331"/>
                <a:ext cx="1610264" cy="46499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4172"/>
                  </a:lnSpc>
                  <a:spcBef>
                    <a:spcPct val="0"/>
                  </a:spcBef>
                </a:pPr>
                <a:r>
                  <a:rPr lang="ko-KR" altLang="en-US" sz="2400" b="1" spc="-126" dirty="0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기능</a:t>
                </a:r>
                <a:endParaRPr lang="en-US" sz="2400" b="1" spc="-126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endParaRP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F957C464-8BC2-A894-B192-78CB19E4957A}"/>
                </a:ext>
              </a:extLst>
            </p:cNvPr>
            <p:cNvGrpSpPr/>
            <p:nvPr/>
          </p:nvGrpSpPr>
          <p:grpSpPr>
            <a:xfrm>
              <a:off x="11723994" y="3654027"/>
              <a:ext cx="3287406" cy="1578256"/>
              <a:chOff x="11560480" y="3654416"/>
              <a:chExt cx="3287406" cy="1578256"/>
            </a:xfrm>
          </p:grpSpPr>
          <p:grpSp>
            <p:nvGrpSpPr>
              <p:cNvPr id="18" name="Group 5">
                <a:extLst>
                  <a:ext uri="{FF2B5EF4-FFF2-40B4-BE49-F238E27FC236}">
                    <a16:creationId xmlns:a16="http://schemas.microsoft.com/office/drawing/2014/main" id="{B989804E-A8DA-A2CB-772F-678BCC21A8D2}"/>
                  </a:ext>
                </a:extLst>
              </p:cNvPr>
              <p:cNvGrpSpPr/>
              <p:nvPr/>
            </p:nvGrpSpPr>
            <p:grpSpPr>
              <a:xfrm>
                <a:off x="11560480" y="3654416"/>
                <a:ext cx="791665" cy="791665"/>
                <a:chOff x="0" y="0"/>
                <a:chExt cx="812800" cy="812800"/>
              </a:xfrm>
            </p:grpSpPr>
            <p:sp>
              <p:nvSpPr>
                <p:cNvPr id="20" name="Freeform 6">
                  <a:extLst>
                    <a:ext uri="{FF2B5EF4-FFF2-40B4-BE49-F238E27FC236}">
                      <a16:creationId xmlns:a16="http://schemas.microsoft.com/office/drawing/2014/main" id="{1BF0AE9A-347B-F766-B3ED-C321E57BADB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5E166"/>
                </a:solidFill>
                <a:ln w="28575">
                  <a:solidFill>
                    <a:schemeClr val="tx1"/>
                  </a:solidFill>
                </a:ln>
              </p:spPr>
              <p:txBody>
                <a:bodyPr anchor="ctr"/>
                <a:lstStyle/>
                <a:p>
                  <a:pPr algn="ctr"/>
                  <a:r>
                    <a:rPr lang="en-US" altLang="ko-KR" sz="2400" b="1">
                      <a:ln>
                        <a:solidFill>
                          <a:schemeClr val="tx1">
                            <a:alpha val="20000"/>
                          </a:schemeClr>
                        </a:solidFill>
                      </a:ln>
                      <a:solidFill>
                        <a:srgbClr val="263035"/>
                      </a:solidFill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0</a:t>
                  </a:r>
                  <a:r>
                    <a:rPr lang="en-US" altLang="ko-KR" sz="2400" b="1" dirty="0">
                      <a:ln>
                        <a:solidFill>
                          <a:schemeClr val="tx1">
                            <a:alpha val="20000"/>
                          </a:schemeClr>
                        </a:solidFill>
                      </a:ln>
                      <a:solidFill>
                        <a:srgbClr val="263035"/>
                      </a:solidFill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3</a:t>
                  </a:r>
                  <a:endParaRPr lang="ko-KR" altLang="en-US" sz="2400" b="1" dirty="0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endParaRPr>
                </a:p>
              </p:txBody>
            </p:sp>
            <p:sp>
              <p:nvSpPr>
                <p:cNvPr id="24" name="TextBox 7">
                  <a:extLst>
                    <a:ext uri="{FF2B5EF4-FFF2-40B4-BE49-F238E27FC236}">
                      <a16:creationId xmlns:a16="http://schemas.microsoft.com/office/drawing/2014/main" id="{7C8F825E-43CE-7565-5DEA-59C74907688E}"/>
                    </a:ext>
                  </a:extLst>
                </p:cNvPr>
                <p:cNvSpPr txBox="1"/>
                <p:nvPr/>
              </p:nvSpPr>
              <p:spPr>
                <a:xfrm>
                  <a:off x="76200" y="66675"/>
                  <a:ext cx="660400" cy="6699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84"/>
                    </a:lnSpc>
                  </a:pPr>
                  <a:endParaRPr sz="1400" dirty="0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endParaRPr>
                </a:p>
              </p:txBody>
            </p:sp>
          </p:grpSp>
          <p:sp>
            <p:nvSpPr>
              <p:cNvPr id="25" name="TextBox 11">
                <a:extLst>
                  <a:ext uri="{FF2B5EF4-FFF2-40B4-BE49-F238E27FC236}">
                    <a16:creationId xmlns:a16="http://schemas.microsoft.com/office/drawing/2014/main" id="{6B71F708-6617-5D37-B779-C7C31B1A3BB2}"/>
                  </a:ext>
                </a:extLst>
              </p:cNvPr>
              <p:cNvSpPr txBox="1"/>
              <p:nvPr/>
            </p:nvSpPr>
            <p:spPr>
              <a:xfrm>
                <a:off x="12426365" y="3813109"/>
                <a:ext cx="1610264" cy="46499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4172"/>
                  </a:lnSpc>
                  <a:spcBef>
                    <a:spcPct val="0"/>
                  </a:spcBef>
                </a:pPr>
                <a:r>
                  <a:rPr lang="ko-KR" altLang="en-US" sz="2400" b="1" spc="-126" dirty="0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일정</a:t>
                </a:r>
                <a:endParaRPr lang="en-US" sz="2400" b="1" spc="-126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endParaRPr>
              </a:p>
            </p:txBody>
          </p:sp>
          <p:sp>
            <p:nvSpPr>
              <p:cNvPr id="26" name="TextBox 11">
                <a:extLst>
                  <a:ext uri="{FF2B5EF4-FFF2-40B4-BE49-F238E27FC236}">
                    <a16:creationId xmlns:a16="http://schemas.microsoft.com/office/drawing/2014/main" id="{96B59CA2-A328-BFD6-F000-A38011291BBC}"/>
                  </a:ext>
                </a:extLst>
              </p:cNvPr>
              <p:cNvSpPr txBox="1"/>
              <p:nvPr/>
            </p:nvSpPr>
            <p:spPr>
              <a:xfrm>
                <a:off x="11956312" y="4381220"/>
                <a:ext cx="2891574" cy="85145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571500" lvl="0" indent="-571500" algn="l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ko-KR" sz="2000" b="1" spc="-126" dirty="0"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1</a:t>
                </a:r>
                <a:r>
                  <a:rPr lang="ko-KR" altLang="en-US" sz="2000" b="1" spc="-126" dirty="0"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학기</a:t>
                </a:r>
                <a:endParaRPr lang="en-US" altLang="ko-KR" sz="2000" b="1" spc="-126" dirty="0"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endParaRPr>
              </a:p>
              <a:p>
                <a:pPr marL="571500" lvl="0" indent="-571500" algn="l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sz="2000" b="1" spc="-126" dirty="0"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2</a:t>
                </a:r>
                <a:r>
                  <a:rPr lang="ko-KR" altLang="en-US" sz="2000" b="1" spc="-126" dirty="0"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학기</a:t>
                </a:r>
                <a:endParaRPr lang="en-US" sz="2000" b="1" spc="-126" dirty="0"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endParaRP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6FEA4B8-6673-48AA-F040-812A244D2633}"/>
                </a:ext>
              </a:extLst>
            </p:cNvPr>
            <p:cNvGrpSpPr/>
            <p:nvPr/>
          </p:nvGrpSpPr>
          <p:grpSpPr>
            <a:xfrm>
              <a:off x="7552784" y="6409235"/>
              <a:ext cx="2596871" cy="791665"/>
              <a:chOff x="7146872" y="6459390"/>
              <a:chExt cx="2596871" cy="791665"/>
            </a:xfrm>
          </p:grpSpPr>
          <p:grpSp>
            <p:nvGrpSpPr>
              <p:cNvPr id="38" name="Group 5">
                <a:extLst>
                  <a:ext uri="{FF2B5EF4-FFF2-40B4-BE49-F238E27FC236}">
                    <a16:creationId xmlns:a16="http://schemas.microsoft.com/office/drawing/2014/main" id="{7159BA06-DBEC-C007-4D3B-300C11ED7FF0}"/>
                  </a:ext>
                </a:extLst>
              </p:cNvPr>
              <p:cNvGrpSpPr/>
              <p:nvPr/>
            </p:nvGrpSpPr>
            <p:grpSpPr>
              <a:xfrm>
                <a:off x="7146872" y="6459390"/>
                <a:ext cx="912386" cy="791665"/>
                <a:chOff x="76200" y="0"/>
                <a:chExt cx="936744" cy="812800"/>
              </a:xfrm>
            </p:grpSpPr>
            <p:sp>
              <p:nvSpPr>
                <p:cNvPr id="39" name="Freeform 6">
                  <a:extLst>
                    <a:ext uri="{FF2B5EF4-FFF2-40B4-BE49-F238E27FC236}">
                      <a16:creationId xmlns:a16="http://schemas.microsoft.com/office/drawing/2014/main" id="{F54BCD94-9183-8706-9484-E6CB3310DFB4}"/>
                    </a:ext>
                  </a:extLst>
                </p:cNvPr>
                <p:cNvSpPr/>
                <p:nvPr/>
              </p:nvSpPr>
              <p:spPr>
                <a:xfrm>
                  <a:off x="200144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5E166"/>
                </a:solidFill>
                <a:ln w="28575">
                  <a:solidFill>
                    <a:schemeClr val="tx1"/>
                  </a:solidFill>
                </a:ln>
              </p:spPr>
              <p:txBody>
                <a:bodyPr anchor="ctr"/>
                <a:lstStyle/>
                <a:p>
                  <a:pPr algn="ctr"/>
                  <a:r>
                    <a:rPr lang="en-US" altLang="ko-KR" sz="2400" b="1" dirty="0">
                      <a:ln>
                        <a:solidFill>
                          <a:schemeClr val="tx1">
                            <a:alpha val="20000"/>
                          </a:schemeClr>
                        </a:solidFill>
                      </a:ln>
                      <a:solidFill>
                        <a:srgbClr val="263035"/>
                      </a:solidFill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05</a:t>
                  </a:r>
                  <a:endParaRPr lang="ko-KR" altLang="en-US" sz="2400" b="1" dirty="0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endParaRPr>
                </a:p>
              </p:txBody>
            </p:sp>
            <p:sp>
              <p:nvSpPr>
                <p:cNvPr id="40" name="TextBox 7">
                  <a:extLst>
                    <a:ext uri="{FF2B5EF4-FFF2-40B4-BE49-F238E27FC236}">
                      <a16:creationId xmlns:a16="http://schemas.microsoft.com/office/drawing/2014/main" id="{B80D3AEE-C4C1-536B-1FF7-AC30F033C04F}"/>
                    </a:ext>
                  </a:extLst>
                </p:cNvPr>
                <p:cNvSpPr txBox="1"/>
                <p:nvPr/>
              </p:nvSpPr>
              <p:spPr>
                <a:xfrm>
                  <a:off x="76200" y="66675"/>
                  <a:ext cx="660400" cy="6699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84"/>
                    </a:lnSpc>
                  </a:pPr>
                  <a:endParaRPr sz="1400" dirty="0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endParaRPr>
                </a:p>
              </p:txBody>
            </p:sp>
          </p:grpSp>
          <p:sp>
            <p:nvSpPr>
              <p:cNvPr id="45" name="TextBox 11">
                <a:extLst>
                  <a:ext uri="{FF2B5EF4-FFF2-40B4-BE49-F238E27FC236}">
                    <a16:creationId xmlns:a16="http://schemas.microsoft.com/office/drawing/2014/main" id="{2EC078AA-4785-5998-1359-B90CAF5D2C4E}"/>
                  </a:ext>
                </a:extLst>
              </p:cNvPr>
              <p:cNvSpPr txBox="1"/>
              <p:nvPr/>
            </p:nvSpPr>
            <p:spPr>
              <a:xfrm>
                <a:off x="8133479" y="6618083"/>
                <a:ext cx="1610264" cy="46499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4172"/>
                  </a:lnSpc>
                  <a:spcBef>
                    <a:spcPct val="0"/>
                  </a:spcBef>
                </a:pPr>
                <a:r>
                  <a:rPr lang="ko-KR" altLang="en-US" sz="2400" b="1" spc="-126" dirty="0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아키텍처</a:t>
                </a:r>
                <a:endParaRPr lang="en-US" sz="2400" b="1" spc="-126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DD61752-3CE5-6A8A-5043-CA5E327CC1A8}"/>
                </a:ext>
              </a:extLst>
            </p:cNvPr>
            <p:cNvGrpSpPr/>
            <p:nvPr/>
          </p:nvGrpSpPr>
          <p:grpSpPr>
            <a:xfrm>
              <a:off x="11531617" y="6409235"/>
              <a:ext cx="2668526" cy="1908666"/>
              <a:chOff x="10805669" y="6441024"/>
              <a:chExt cx="2668526" cy="1908666"/>
            </a:xfrm>
          </p:grpSpPr>
          <p:grpSp>
            <p:nvGrpSpPr>
              <p:cNvPr id="47" name="Group 5">
                <a:extLst>
                  <a:ext uri="{FF2B5EF4-FFF2-40B4-BE49-F238E27FC236}">
                    <a16:creationId xmlns:a16="http://schemas.microsoft.com/office/drawing/2014/main" id="{67998836-9B70-9C21-6510-D343827410A4}"/>
                  </a:ext>
                </a:extLst>
              </p:cNvPr>
              <p:cNvGrpSpPr/>
              <p:nvPr/>
            </p:nvGrpSpPr>
            <p:grpSpPr>
              <a:xfrm>
                <a:off x="10805669" y="6441024"/>
                <a:ext cx="984044" cy="791665"/>
                <a:chOff x="76200" y="0"/>
                <a:chExt cx="1010314" cy="812800"/>
              </a:xfrm>
            </p:grpSpPr>
            <p:sp>
              <p:nvSpPr>
                <p:cNvPr id="48" name="Freeform 6">
                  <a:extLst>
                    <a:ext uri="{FF2B5EF4-FFF2-40B4-BE49-F238E27FC236}">
                      <a16:creationId xmlns:a16="http://schemas.microsoft.com/office/drawing/2014/main" id="{B67E400C-904E-F460-1858-547CB0D0D90E}"/>
                    </a:ext>
                  </a:extLst>
                </p:cNvPr>
                <p:cNvSpPr/>
                <p:nvPr/>
              </p:nvSpPr>
              <p:spPr>
                <a:xfrm>
                  <a:off x="273713" y="0"/>
                  <a:ext cx="812801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5E166"/>
                </a:solidFill>
                <a:ln w="28575">
                  <a:solidFill>
                    <a:schemeClr val="tx1"/>
                  </a:solidFill>
                </a:ln>
              </p:spPr>
              <p:txBody>
                <a:bodyPr anchor="ctr"/>
                <a:lstStyle/>
                <a:p>
                  <a:pPr algn="ctr"/>
                  <a:r>
                    <a:rPr lang="en-US" altLang="ko-KR" sz="2400" b="1">
                      <a:ln>
                        <a:solidFill>
                          <a:schemeClr val="tx1">
                            <a:alpha val="20000"/>
                          </a:schemeClr>
                        </a:solidFill>
                      </a:ln>
                      <a:solidFill>
                        <a:srgbClr val="263035"/>
                      </a:solidFill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06</a:t>
                  </a:r>
                  <a:endParaRPr lang="ko-KR" altLang="en-US" sz="2400" b="1" dirty="0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endParaRPr>
                </a:p>
              </p:txBody>
            </p:sp>
            <p:sp>
              <p:nvSpPr>
                <p:cNvPr id="49" name="TextBox 7">
                  <a:extLst>
                    <a:ext uri="{FF2B5EF4-FFF2-40B4-BE49-F238E27FC236}">
                      <a16:creationId xmlns:a16="http://schemas.microsoft.com/office/drawing/2014/main" id="{F9AADBB1-1136-672A-0662-AE7D03F336AB}"/>
                    </a:ext>
                  </a:extLst>
                </p:cNvPr>
                <p:cNvSpPr txBox="1"/>
                <p:nvPr/>
              </p:nvSpPr>
              <p:spPr>
                <a:xfrm>
                  <a:off x="76200" y="66675"/>
                  <a:ext cx="660400" cy="6699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84"/>
                    </a:lnSpc>
                  </a:pPr>
                  <a:endParaRPr sz="1400" dirty="0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endParaRPr>
                </a:p>
              </p:txBody>
            </p:sp>
          </p:grpSp>
          <p:sp>
            <p:nvSpPr>
              <p:cNvPr id="50" name="TextBox 11">
                <a:extLst>
                  <a:ext uri="{FF2B5EF4-FFF2-40B4-BE49-F238E27FC236}">
                    <a16:creationId xmlns:a16="http://schemas.microsoft.com/office/drawing/2014/main" id="{3F886F2F-0456-6FC4-5A3E-49D30ABB67D9}"/>
                  </a:ext>
                </a:extLst>
              </p:cNvPr>
              <p:cNvSpPr txBox="1"/>
              <p:nvPr/>
            </p:nvSpPr>
            <p:spPr>
              <a:xfrm>
                <a:off x="11863931" y="6599717"/>
                <a:ext cx="1610264" cy="46499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4172"/>
                  </a:lnSpc>
                  <a:spcBef>
                    <a:spcPct val="0"/>
                  </a:spcBef>
                </a:pPr>
                <a:r>
                  <a:rPr lang="ko-KR" altLang="en-US" sz="2400" b="1" spc="-126" dirty="0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시연영상</a:t>
                </a:r>
                <a:endParaRPr lang="en-US" sz="2400" b="1" spc="-126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endParaRPr>
              </a:p>
            </p:txBody>
          </p:sp>
          <p:sp>
            <p:nvSpPr>
              <p:cNvPr id="51" name="TextBox 11">
                <a:extLst>
                  <a:ext uri="{FF2B5EF4-FFF2-40B4-BE49-F238E27FC236}">
                    <a16:creationId xmlns:a16="http://schemas.microsoft.com/office/drawing/2014/main" id="{17D26508-86B2-E3D9-2172-9487E1145501}"/>
                  </a:ext>
                </a:extLst>
              </p:cNvPr>
              <p:cNvSpPr txBox="1"/>
              <p:nvPr/>
            </p:nvSpPr>
            <p:spPr>
              <a:xfrm>
                <a:off x="11393878" y="7167828"/>
                <a:ext cx="1788722" cy="118186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571500" lvl="0" indent="-571500" algn="l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ko-KR" b="1" dirty="0"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AWS </a:t>
                </a:r>
                <a:r>
                  <a:rPr lang="ko-KR" altLang="en-US" b="1" dirty="0"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배포</a:t>
                </a:r>
                <a:endParaRPr lang="en-US" altLang="ko-KR" b="1" dirty="0"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endParaRPr>
              </a:p>
              <a:p>
                <a:pPr marL="571500" lvl="0" indent="-571500" algn="l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ko-KR" altLang="en-US" b="1" dirty="0"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시연영상</a:t>
                </a:r>
                <a:endParaRPr lang="en-US" altLang="ko-KR" b="1" dirty="0"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endParaRPr>
              </a:p>
              <a:p>
                <a:pPr lvl="0" algn="l">
                  <a:lnSpc>
                    <a:spcPct val="150000"/>
                  </a:lnSpc>
                  <a:spcBef>
                    <a:spcPct val="0"/>
                  </a:spcBef>
                </a:pPr>
                <a:endParaRPr lang="en-US" altLang="ko-KR" b="1" dirty="0"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endParaRP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5AD567F0-627A-4E18-4059-554A4AFD393A}"/>
                </a:ext>
              </a:extLst>
            </p:cNvPr>
            <p:cNvGrpSpPr/>
            <p:nvPr/>
          </p:nvGrpSpPr>
          <p:grpSpPr>
            <a:xfrm>
              <a:off x="3591690" y="6409235"/>
              <a:ext cx="6785113" cy="1578256"/>
              <a:chOff x="3733800" y="6450112"/>
              <a:chExt cx="6785113" cy="1578256"/>
            </a:xfrm>
          </p:grpSpPr>
          <p:grpSp>
            <p:nvGrpSpPr>
              <p:cNvPr id="57" name="Group 5">
                <a:extLst>
                  <a:ext uri="{FF2B5EF4-FFF2-40B4-BE49-F238E27FC236}">
                    <a16:creationId xmlns:a16="http://schemas.microsoft.com/office/drawing/2014/main" id="{2618BA95-BF8D-0FA0-70BF-75914D0F12B5}"/>
                  </a:ext>
                </a:extLst>
              </p:cNvPr>
              <p:cNvGrpSpPr/>
              <p:nvPr/>
            </p:nvGrpSpPr>
            <p:grpSpPr>
              <a:xfrm>
                <a:off x="3733800" y="6450112"/>
                <a:ext cx="791665" cy="791665"/>
                <a:chOff x="0" y="0"/>
                <a:chExt cx="812800" cy="812800"/>
              </a:xfrm>
            </p:grpSpPr>
            <p:sp>
              <p:nvSpPr>
                <p:cNvPr id="58" name="Freeform 6">
                  <a:extLst>
                    <a:ext uri="{FF2B5EF4-FFF2-40B4-BE49-F238E27FC236}">
                      <a16:creationId xmlns:a16="http://schemas.microsoft.com/office/drawing/2014/main" id="{FC5AED18-7533-CCF5-883D-3A150758EB9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5E166"/>
                </a:solidFill>
                <a:ln w="28575">
                  <a:solidFill>
                    <a:schemeClr val="tx1"/>
                  </a:solidFill>
                </a:ln>
              </p:spPr>
              <p:txBody>
                <a:bodyPr anchor="ctr"/>
                <a:lstStyle/>
                <a:p>
                  <a:pPr algn="ctr"/>
                  <a:r>
                    <a:rPr lang="en-US" altLang="ko-KR" sz="2400" b="1">
                      <a:ln>
                        <a:solidFill>
                          <a:schemeClr val="tx1">
                            <a:alpha val="20000"/>
                          </a:schemeClr>
                        </a:solidFill>
                      </a:ln>
                      <a:solidFill>
                        <a:srgbClr val="263035"/>
                      </a:solidFill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04</a:t>
                  </a:r>
                  <a:endParaRPr lang="ko-KR" altLang="en-US" sz="2400" b="1" dirty="0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endParaRPr>
                </a:p>
              </p:txBody>
            </p:sp>
            <p:sp>
              <p:nvSpPr>
                <p:cNvPr id="59" name="TextBox 7">
                  <a:extLst>
                    <a:ext uri="{FF2B5EF4-FFF2-40B4-BE49-F238E27FC236}">
                      <a16:creationId xmlns:a16="http://schemas.microsoft.com/office/drawing/2014/main" id="{9C76B3B6-253C-51D6-B4F2-224E6C9EDC0E}"/>
                    </a:ext>
                  </a:extLst>
                </p:cNvPr>
                <p:cNvSpPr txBox="1"/>
                <p:nvPr/>
              </p:nvSpPr>
              <p:spPr>
                <a:xfrm>
                  <a:off x="76200" y="66675"/>
                  <a:ext cx="660400" cy="6699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84"/>
                    </a:lnSpc>
                  </a:pPr>
                  <a:endParaRPr sz="1400" dirty="0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endParaRPr>
                </a:p>
              </p:txBody>
            </p:sp>
          </p:grpSp>
          <p:sp>
            <p:nvSpPr>
              <p:cNvPr id="60" name="TextBox 11">
                <a:extLst>
                  <a:ext uri="{FF2B5EF4-FFF2-40B4-BE49-F238E27FC236}">
                    <a16:creationId xmlns:a16="http://schemas.microsoft.com/office/drawing/2014/main" id="{C8C5B10C-9BD0-9FC8-9E79-A5FD195349E9}"/>
                  </a:ext>
                </a:extLst>
              </p:cNvPr>
              <p:cNvSpPr txBox="1"/>
              <p:nvPr/>
            </p:nvSpPr>
            <p:spPr>
              <a:xfrm>
                <a:off x="4599685" y="6608805"/>
                <a:ext cx="1610264" cy="46499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4172"/>
                  </a:lnSpc>
                  <a:spcBef>
                    <a:spcPct val="0"/>
                  </a:spcBef>
                </a:pPr>
                <a:r>
                  <a:rPr lang="ko-KR" altLang="en-US" sz="2400" b="1" spc="-126" dirty="0"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구성</a:t>
                </a:r>
                <a:endParaRPr lang="en-US" sz="2400" b="1" spc="-126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endParaRPr>
              </a:p>
            </p:txBody>
          </p:sp>
          <p:sp>
            <p:nvSpPr>
              <p:cNvPr id="61" name="TextBox 11">
                <a:extLst>
                  <a:ext uri="{FF2B5EF4-FFF2-40B4-BE49-F238E27FC236}">
                    <a16:creationId xmlns:a16="http://schemas.microsoft.com/office/drawing/2014/main" id="{657CFEB6-D389-49C9-91C7-F2AD3413CE31}"/>
                  </a:ext>
                </a:extLst>
              </p:cNvPr>
              <p:cNvSpPr txBox="1"/>
              <p:nvPr/>
            </p:nvSpPr>
            <p:spPr>
              <a:xfrm>
                <a:off x="4129632" y="7176916"/>
                <a:ext cx="2307466" cy="85145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571500" lvl="0" indent="-571500" algn="l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ko-KR" altLang="en-US" sz="2000" b="1" spc="-126" dirty="0"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시스템 구성도</a:t>
                </a:r>
                <a:endParaRPr lang="en-US" altLang="ko-KR" sz="2000" b="1" spc="-126" dirty="0"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endParaRPr>
              </a:p>
              <a:p>
                <a:pPr marL="571500" lvl="0" indent="-571500" algn="l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sz="2000" b="1" spc="-126" dirty="0"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E</a:t>
                </a:r>
                <a:r>
                  <a:rPr lang="en-US" sz="1000" b="1" spc="-126" dirty="0"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 </a:t>
                </a:r>
                <a:r>
                  <a:rPr lang="en-US" sz="2000" b="1" spc="-126" dirty="0"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R</a:t>
                </a:r>
                <a:r>
                  <a:rPr lang="en-US" sz="1000" b="1" spc="-126" dirty="0"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 </a:t>
                </a:r>
                <a:r>
                  <a:rPr lang="en-US" sz="2000" b="1" spc="-126" dirty="0"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D</a:t>
                </a:r>
              </a:p>
            </p:txBody>
          </p:sp>
          <p:sp>
            <p:nvSpPr>
              <p:cNvPr id="2" name="TextBox 11">
                <a:extLst>
                  <a:ext uri="{FF2B5EF4-FFF2-40B4-BE49-F238E27FC236}">
                    <a16:creationId xmlns:a16="http://schemas.microsoft.com/office/drawing/2014/main" id="{306000DA-9A35-29F7-B1E2-ACCC9CD04654}"/>
                  </a:ext>
                </a:extLst>
              </p:cNvPr>
              <p:cNvSpPr txBox="1"/>
              <p:nvPr/>
            </p:nvSpPr>
            <p:spPr>
              <a:xfrm>
                <a:off x="8211447" y="7176916"/>
                <a:ext cx="2307466" cy="38978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571500" lvl="0" indent="-571500" algn="l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ko-KR" altLang="en-US" sz="2000" b="1" spc="-126" dirty="0">
                    <a:solidFill>
                      <a:srgbClr val="263035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  <a:cs typeface="Nanum Square Bold"/>
                    <a:sym typeface="Nanum Square Bold"/>
                  </a:rPr>
                  <a:t>서비스 아키텍처</a:t>
                </a:r>
                <a:endParaRPr lang="en-US" altLang="ko-KR" sz="2000" b="1" spc="-126" dirty="0"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1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789995" y="1401008"/>
            <a:ext cx="8477003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25"/>
              </a:lnSpc>
              <a:spcBef>
                <a:spcPct val="0"/>
              </a:spcBef>
            </a:pPr>
            <a:r>
              <a:rPr 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01  </a:t>
            </a:r>
            <a:r>
              <a:rPr lang="en-US" sz="7500" b="1" spc="-270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프로젝</a:t>
            </a:r>
            <a:r>
              <a:rPr lang="ko-KR" altLang="en-US" sz="7500" b="1" spc="-270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트</a:t>
            </a:r>
            <a:endParaRPr lang="en-US" sz="7500" b="1" spc="-27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8" name="AutoShape 8"/>
          <p:cNvSpPr/>
          <p:nvPr/>
        </p:nvSpPr>
        <p:spPr>
          <a:xfrm flipH="1">
            <a:off x="1789995" y="2591633"/>
            <a:ext cx="1135883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49A3B6-77A1-CBA6-FC5C-5F169467F773}"/>
              </a:ext>
            </a:extLst>
          </p:cNvPr>
          <p:cNvSpPr txBox="1"/>
          <p:nvPr/>
        </p:nvSpPr>
        <p:spPr>
          <a:xfrm>
            <a:off x="6267450" y="3848100"/>
            <a:ext cx="6000750" cy="3243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>
              <a:lnSpc>
                <a:spcPct val="150000"/>
              </a:lnSpc>
              <a:buFontTx/>
              <a:buAutoNum type="arabicPeriod"/>
            </a:pP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프로젝트 개요</a:t>
            </a:r>
            <a:endParaRPr lang="en-US" altLang="ko-KR" sz="48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143000" indent="-1143000">
              <a:lnSpc>
                <a:spcPct val="150000"/>
              </a:lnSpc>
              <a:buAutoNum type="arabicPeriod"/>
            </a:pP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유사 플랫폼 분석</a:t>
            </a:r>
            <a:endParaRPr lang="en-US" altLang="ko-KR" sz="48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143000" indent="-1143000">
              <a:lnSpc>
                <a:spcPct val="150000"/>
              </a:lnSpc>
              <a:buAutoNum type="arabicPeriod"/>
            </a:pP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프로젝트 목표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1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E0D4BC-E635-90A2-06C3-C423FFEC5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8B42C2A5-AD2B-4CD0-3AA5-1A68822A6606}"/>
              </a:ext>
            </a:extLst>
          </p:cNvPr>
          <p:cNvSpPr/>
          <p:nvPr/>
        </p:nvSpPr>
        <p:spPr>
          <a:xfrm>
            <a:off x="1058920" y="2324100"/>
            <a:ext cx="846080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05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063F3B-62BB-D921-DAE1-1A2529921FC9}"/>
              </a:ext>
            </a:extLst>
          </p:cNvPr>
          <p:cNvSpPr txBox="1"/>
          <p:nvPr/>
        </p:nvSpPr>
        <p:spPr>
          <a:xfrm>
            <a:off x="990600" y="1493103"/>
            <a:ext cx="541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01 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프로젝트 개요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232C72-3DB1-4A07-08B8-30C4996FEE11}"/>
              </a:ext>
            </a:extLst>
          </p:cNvPr>
          <p:cNvSpPr txBox="1"/>
          <p:nvPr/>
        </p:nvSpPr>
        <p:spPr>
          <a:xfrm>
            <a:off x="5514658" y="3543300"/>
            <a:ext cx="11611646" cy="388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ko-KR" sz="1000" kern="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기존의 중고거래 플랫폼에 </a:t>
            </a:r>
            <a:r>
              <a:rPr lang="ko-KR" altLang="en-US" sz="2600" b="1" kern="0" dirty="0">
                <a:ln>
                  <a:solidFill>
                    <a:schemeClr val="tx1">
                      <a:alpha val="20000"/>
                    </a:schemeClr>
                  </a:solidFill>
                </a:ln>
                <a:highlight>
                  <a:srgbClr val="F5E166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rPr>
              <a:t>경매시스템</a:t>
            </a:r>
            <a:r>
              <a:rPr lang="ko-KR" altLang="en-US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과 </a:t>
            </a:r>
            <a:r>
              <a:rPr lang="ko-KR" altLang="en-US" sz="2600" b="1" kern="0" dirty="0">
                <a:ln>
                  <a:solidFill>
                    <a:schemeClr val="tx1">
                      <a:alpha val="20000"/>
                    </a:schemeClr>
                  </a:solidFill>
                </a:ln>
                <a:highlight>
                  <a:srgbClr val="F5E166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rPr>
              <a:t>커뮤니티</a:t>
            </a:r>
            <a:r>
              <a:rPr lang="ko-KR" altLang="en-US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기능을 결합한 통합거래 플랫폼</a:t>
            </a:r>
            <a:r>
              <a:rPr lang="en-US" altLang="ko-KR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kern="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600" b="1" kern="0" dirty="0">
                <a:ln>
                  <a:solidFill>
                    <a:schemeClr val="tx1">
                      <a:alpha val="20000"/>
                    </a:schemeClr>
                  </a:solidFill>
                </a:ln>
                <a:highlight>
                  <a:srgbClr val="F5E166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rPr>
              <a:t>경매 시스템</a:t>
            </a:r>
            <a:r>
              <a:rPr lang="ko-KR" altLang="en-US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은 실시간 입찰을 통한 새로운 거래 경험을 제공하여 사용자의 참여도와 재방문율을 높이는 효과를 기대</a:t>
            </a:r>
            <a:r>
              <a:rPr lang="en-US" altLang="ko-KR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kern="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600" b="1" kern="0" dirty="0">
                <a:ln>
                  <a:solidFill>
                    <a:schemeClr val="tx1">
                      <a:alpha val="20000"/>
                    </a:schemeClr>
                  </a:solidFill>
                </a:ln>
                <a:highlight>
                  <a:srgbClr val="F5E166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rPr>
              <a:t>커뮤니티</a:t>
            </a:r>
            <a:r>
              <a:rPr lang="ko-KR" altLang="en-US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기능을 통해 사용자 간 정보공유와 소통이 가능하며</a:t>
            </a:r>
            <a:r>
              <a:rPr lang="en-US" altLang="ko-KR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거래 외에도 신뢰를 형성할 수 있는 공간을 제공</a:t>
            </a:r>
            <a:r>
              <a:rPr lang="en-US" altLang="ko-KR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kern="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A9CD538-F1DD-9374-3C4F-98FC0D12A249}"/>
              </a:ext>
            </a:extLst>
          </p:cNvPr>
          <p:cNvGrpSpPr/>
          <p:nvPr/>
        </p:nvGrpSpPr>
        <p:grpSpPr>
          <a:xfrm>
            <a:off x="8645041" y="2385609"/>
            <a:ext cx="4198317" cy="872002"/>
            <a:chOff x="8689045" y="2247900"/>
            <a:chExt cx="4198317" cy="872002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71620922-D464-DBCC-069A-CB0CD955398D}"/>
                </a:ext>
              </a:extLst>
            </p:cNvPr>
            <p:cNvSpPr/>
            <p:nvPr/>
          </p:nvSpPr>
          <p:spPr>
            <a:xfrm>
              <a:off x="8689045" y="2247900"/>
              <a:ext cx="872002" cy="872002"/>
            </a:xfrm>
            <a:prstGeom prst="ellipse">
              <a:avLst/>
            </a:prstGeom>
            <a:solidFill>
              <a:srgbClr val="F6E266"/>
            </a:solidFill>
            <a:ln w="101600">
              <a:noFill/>
            </a:ln>
            <a:scene3d>
              <a:camera prst="perspectiveLeft"/>
              <a:lightRig rig="flat" dir="t"/>
            </a:scene3d>
            <a:sp3d extrusionH="381000" contourW="44450">
              <a:extrusionClr>
                <a:srgbClr val="F1D333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8294B915-6914-3D8C-8FFC-A142BC0F65C4}"/>
                </a:ext>
              </a:extLst>
            </p:cNvPr>
            <p:cNvGrpSpPr/>
            <p:nvPr/>
          </p:nvGrpSpPr>
          <p:grpSpPr>
            <a:xfrm>
              <a:off x="8891643" y="2425545"/>
              <a:ext cx="535690" cy="505286"/>
              <a:chOff x="4542180" y="798099"/>
              <a:chExt cx="994160" cy="937735"/>
            </a:xfrm>
          </p:grpSpPr>
          <p:pic>
            <p:nvPicPr>
              <p:cNvPr id="12" name="Picture 2" descr="My Letter S Personal 포스터">
                <a:extLst>
                  <a:ext uri="{FF2B5EF4-FFF2-40B4-BE49-F238E27FC236}">
                    <a16:creationId xmlns:a16="http://schemas.microsoft.com/office/drawing/2014/main" id="{3700A6E1-A737-58F3-70F7-630A83204F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8133" b="74800" l="9888" r="89925">
                            <a14:foregroundMark x1="48507" y1="74800" x2="48507" y2="7480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37" t="15053" r="29737" b="23660"/>
              <a:stretch/>
            </p:blipFill>
            <p:spPr bwMode="auto">
              <a:xfrm>
                <a:off x="4542180" y="798099"/>
                <a:ext cx="589765" cy="9377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2" descr="My Letter S Personal 포스터">
                <a:extLst>
                  <a:ext uri="{FF2B5EF4-FFF2-40B4-BE49-F238E27FC236}">
                    <a16:creationId xmlns:a16="http://schemas.microsoft.com/office/drawing/2014/main" id="{E1183DC2-AACB-1612-CD10-499D3BC44A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8133" b="74800" l="9888" r="89925">
                            <a14:foregroundMark x1="48507" y1="74800" x2="48507" y2="7480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37" t="15053" r="29737" b="23660"/>
              <a:stretch/>
            </p:blipFill>
            <p:spPr bwMode="auto">
              <a:xfrm>
                <a:off x="4946575" y="798099"/>
                <a:ext cx="589765" cy="9377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3E562F4-3B83-5F9C-FE47-5A6B185A0A96}"/>
                </a:ext>
              </a:extLst>
            </p:cNvPr>
            <p:cNvSpPr txBox="1"/>
            <p:nvPr/>
          </p:nvSpPr>
          <p:spPr>
            <a:xfrm>
              <a:off x="9753600" y="2315277"/>
              <a:ext cx="31337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000" b="1" dirty="0" err="1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ShareStory</a:t>
              </a:r>
              <a:endParaRPr lang="ko-KR" altLang="en-US" sz="40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55CABF6-D00D-7D5F-B941-0F7963A9269A}"/>
              </a:ext>
            </a:extLst>
          </p:cNvPr>
          <p:cNvSpPr txBox="1"/>
          <p:nvPr/>
        </p:nvSpPr>
        <p:spPr>
          <a:xfrm>
            <a:off x="2017247" y="2324100"/>
            <a:ext cx="594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중고거래</a:t>
            </a:r>
            <a:r>
              <a:rPr lang="en-US" altLang="ko-KR" sz="16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6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커뮤니티</a:t>
            </a:r>
            <a:r>
              <a:rPr lang="en-US" altLang="ko-KR" sz="16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6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경매의 융합 플랫폼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A172B63-E153-4BB8-F1D1-2FCE80BE02DC}"/>
              </a:ext>
            </a:extLst>
          </p:cNvPr>
          <p:cNvSpPr/>
          <p:nvPr/>
        </p:nvSpPr>
        <p:spPr>
          <a:xfrm>
            <a:off x="1882850" y="4603851"/>
            <a:ext cx="3146350" cy="3020496"/>
          </a:xfrm>
          <a:custGeom>
            <a:avLst/>
            <a:gdLst/>
            <a:ahLst/>
            <a:cxnLst/>
            <a:rect l="l" t="t" r="r" b="b"/>
            <a:pathLst>
              <a:path w="4286250" h="4114800">
                <a:moveTo>
                  <a:pt x="0" y="0"/>
                </a:moveTo>
                <a:lnTo>
                  <a:pt x="4286250" y="0"/>
                </a:lnTo>
                <a:lnTo>
                  <a:pt x="42862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>
              <a:solidFill>
                <a:srgbClr val="263035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E721B-5D03-0F49-AFC2-C0DD343AF568}"/>
              </a:ext>
            </a:extLst>
          </p:cNvPr>
          <p:cNvSpPr txBox="1"/>
          <p:nvPr/>
        </p:nvSpPr>
        <p:spPr>
          <a:xfrm>
            <a:off x="7467600" y="7658100"/>
            <a:ext cx="71628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kern="0" dirty="0">
                <a:ln>
                  <a:solidFill>
                    <a:schemeClr val="tx1">
                      <a:alpha val="20000"/>
                    </a:schemeClr>
                  </a:solidFill>
                </a:ln>
                <a:highlight>
                  <a:srgbClr val="F5E166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rPr>
              <a:t>중고거래 </a:t>
            </a:r>
            <a:r>
              <a:rPr lang="en-US" altLang="ko-KR" sz="3500" b="1" kern="0" dirty="0">
                <a:ln>
                  <a:solidFill>
                    <a:schemeClr val="tx1">
                      <a:alpha val="20000"/>
                    </a:schemeClr>
                  </a:solidFill>
                </a:ln>
                <a:highlight>
                  <a:srgbClr val="F5E166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rPr>
              <a:t>+ </a:t>
            </a:r>
            <a:r>
              <a:rPr lang="ko-KR" altLang="en-US" sz="3500" b="1" kern="0" dirty="0">
                <a:ln>
                  <a:solidFill>
                    <a:schemeClr val="tx1">
                      <a:alpha val="20000"/>
                    </a:schemeClr>
                  </a:solidFill>
                </a:ln>
                <a:highlight>
                  <a:srgbClr val="F5E166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rPr>
              <a:t>경매 </a:t>
            </a:r>
            <a:r>
              <a:rPr lang="en-US" altLang="ko-KR" sz="3500" b="1" kern="0" dirty="0">
                <a:ln>
                  <a:solidFill>
                    <a:schemeClr val="tx1">
                      <a:alpha val="20000"/>
                    </a:schemeClr>
                  </a:solidFill>
                </a:ln>
                <a:highlight>
                  <a:srgbClr val="F5E166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rPr>
              <a:t>+ </a:t>
            </a:r>
            <a:r>
              <a:rPr lang="ko-KR" altLang="en-US" sz="3500" b="1" kern="0" dirty="0">
                <a:ln>
                  <a:solidFill>
                    <a:schemeClr val="tx1">
                      <a:alpha val="20000"/>
                    </a:schemeClr>
                  </a:solidFill>
                </a:ln>
                <a:highlight>
                  <a:srgbClr val="F5E166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rPr>
              <a:t>커뮤니티</a:t>
            </a:r>
          </a:p>
        </p:txBody>
      </p:sp>
    </p:spTree>
    <p:extLst>
      <p:ext uri="{BB962C8B-B14F-4D97-AF65-F5344CB8AC3E}">
        <p14:creationId xmlns:p14="http://schemas.microsoft.com/office/powerpoint/2010/main" val="3527728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1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0D417A-3926-9AB7-DEA9-1409FAD71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ADECCF7F-A191-08F4-4CB8-6657304D610B}"/>
              </a:ext>
            </a:extLst>
          </p:cNvPr>
          <p:cNvSpPr/>
          <p:nvPr/>
        </p:nvSpPr>
        <p:spPr>
          <a:xfrm>
            <a:off x="906520" y="1707297"/>
            <a:ext cx="846080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05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F93D0C-2A68-1DED-B7EF-4DCBBEFB75DE}"/>
              </a:ext>
            </a:extLst>
          </p:cNvPr>
          <p:cNvSpPr txBox="1"/>
          <p:nvPr/>
        </p:nvSpPr>
        <p:spPr>
          <a:xfrm>
            <a:off x="838200" y="876300"/>
            <a:ext cx="624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02 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유사 플랫폼 분석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03234B2E-B48C-41C1-CCD3-418E091E032F}"/>
              </a:ext>
            </a:extLst>
          </p:cNvPr>
          <p:cNvGrpSpPr/>
          <p:nvPr/>
        </p:nvGrpSpPr>
        <p:grpSpPr>
          <a:xfrm>
            <a:off x="11703266" y="1943100"/>
            <a:ext cx="2617746" cy="1752600"/>
            <a:chOff x="3581400" y="3924300"/>
            <a:chExt cx="2617746" cy="1752600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DD05A36F-018F-15DC-141F-CA7A71ED5A4E}"/>
                </a:ext>
              </a:extLst>
            </p:cNvPr>
            <p:cNvSpPr/>
            <p:nvPr/>
          </p:nvSpPr>
          <p:spPr>
            <a:xfrm>
              <a:off x="3581400" y="3924300"/>
              <a:ext cx="2617746" cy="830998"/>
            </a:xfrm>
            <a:prstGeom prst="roundRect">
              <a:avLst/>
            </a:prstGeom>
            <a:solidFill>
              <a:srgbClr val="FF6F0F"/>
            </a:solidFill>
            <a:ln>
              <a:solidFill>
                <a:srgbClr val="FF6F0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TextBox 11">
              <a:extLst>
                <a:ext uri="{FF2B5EF4-FFF2-40B4-BE49-F238E27FC236}">
                  <a16:creationId xmlns:a16="http://schemas.microsoft.com/office/drawing/2014/main" id="{1B2F16AE-E232-3E5E-8DD0-B5562FD2D5C8}"/>
                </a:ext>
              </a:extLst>
            </p:cNvPr>
            <p:cNvSpPr txBox="1"/>
            <p:nvPr/>
          </p:nvSpPr>
          <p:spPr>
            <a:xfrm>
              <a:off x="4053208" y="4000500"/>
              <a:ext cx="1645838" cy="4693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172"/>
                </a:lnSpc>
                <a:spcBef>
                  <a:spcPct val="0"/>
                </a:spcBef>
              </a:pPr>
              <a:r>
                <a:rPr lang="ko-KR" altLang="en-US" sz="3000" b="1" spc="-126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rPr>
                <a:t>당근 </a:t>
              </a:r>
              <a:r>
                <a:rPr lang="ko-KR" altLang="en-US" sz="3000" spc="-126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rPr>
                <a:t>마켓</a:t>
              </a:r>
              <a:endParaRPr lang="en-US" altLang="ko-KR" sz="3000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DC9D7551-5EDB-BDD2-9D69-62B5568FE093}"/>
                </a:ext>
              </a:extLst>
            </p:cNvPr>
            <p:cNvSpPr/>
            <p:nvPr/>
          </p:nvSpPr>
          <p:spPr>
            <a:xfrm>
              <a:off x="3581400" y="4571153"/>
              <a:ext cx="2617746" cy="110574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6F0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2" name="Picture 2" descr="고객센터">
              <a:extLst>
                <a:ext uri="{FF2B5EF4-FFF2-40B4-BE49-F238E27FC236}">
                  <a16:creationId xmlns:a16="http://schemas.microsoft.com/office/drawing/2014/main" id="{C725FACB-8EB2-7C90-EDAC-37DC0FE705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1016" y="4610100"/>
              <a:ext cx="2278784" cy="1021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43658E8C-C570-EA36-4CD8-2D69B78703CB}"/>
              </a:ext>
            </a:extLst>
          </p:cNvPr>
          <p:cNvGrpSpPr/>
          <p:nvPr/>
        </p:nvGrpSpPr>
        <p:grpSpPr>
          <a:xfrm>
            <a:off x="8737550" y="1943100"/>
            <a:ext cx="2617746" cy="1752600"/>
            <a:chOff x="7102406" y="2902626"/>
            <a:chExt cx="2617746" cy="1752600"/>
          </a:xfrm>
        </p:grpSpPr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BA69EA2B-5ED9-A335-865F-ECAF427E53AC}"/>
                </a:ext>
              </a:extLst>
            </p:cNvPr>
            <p:cNvSpPr/>
            <p:nvPr/>
          </p:nvSpPr>
          <p:spPr>
            <a:xfrm>
              <a:off x="7102406" y="2902626"/>
              <a:ext cx="2617746" cy="83099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11">
              <a:extLst>
                <a:ext uri="{FF2B5EF4-FFF2-40B4-BE49-F238E27FC236}">
                  <a16:creationId xmlns:a16="http://schemas.microsoft.com/office/drawing/2014/main" id="{5D1C3A64-AFDF-B14E-D64F-49ABD53B1E0F}"/>
                </a:ext>
              </a:extLst>
            </p:cNvPr>
            <p:cNvSpPr txBox="1"/>
            <p:nvPr/>
          </p:nvSpPr>
          <p:spPr>
            <a:xfrm>
              <a:off x="7574214" y="2978826"/>
              <a:ext cx="1645838" cy="4693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172"/>
                </a:lnSpc>
                <a:spcBef>
                  <a:spcPct val="0"/>
                </a:spcBef>
              </a:pPr>
              <a:r>
                <a:rPr lang="ko-KR" altLang="en-US" sz="3000" b="1" spc="-126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rPr>
                <a:t>번개장터</a:t>
              </a:r>
              <a:endParaRPr lang="en-US" altLang="ko-KR" sz="3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48F282FF-B557-A2AC-4EAB-780ADC34BE07}"/>
                </a:ext>
              </a:extLst>
            </p:cNvPr>
            <p:cNvSpPr/>
            <p:nvPr/>
          </p:nvSpPr>
          <p:spPr>
            <a:xfrm>
              <a:off x="7102406" y="3549479"/>
              <a:ext cx="2617746" cy="110574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7" name="Picture 6" descr="App Store에서 제공하는 번개장터">
              <a:extLst>
                <a:ext uri="{FF2B5EF4-FFF2-40B4-BE49-F238E27FC236}">
                  <a16:creationId xmlns:a16="http://schemas.microsoft.com/office/drawing/2014/main" id="{D88B26C9-FDD2-C8DE-E413-25FF4208D3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7449" y="3626129"/>
              <a:ext cx="1907660" cy="9077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D08CB284-2723-4ED5-2084-B37402B8A2A9}"/>
              </a:ext>
            </a:extLst>
          </p:cNvPr>
          <p:cNvSpPr/>
          <p:nvPr/>
        </p:nvSpPr>
        <p:spPr>
          <a:xfrm>
            <a:off x="5762276" y="1943100"/>
            <a:ext cx="2617746" cy="830998"/>
          </a:xfrm>
          <a:prstGeom prst="roundRect">
            <a:avLst/>
          </a:prstGeom>
          <a:solidFill>
            <a:srgbClr val="04C954"/>
          </a:solidFill>
          <a:ln>
            <a:solidFill>
              <a:srgbClr val="04C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11">
            <a:extLst>
              <a:ext uri="{FF2B5EF4-FFF2-40B4-BE49-F238E27FC236}">
                <a16:creationId xmlns:a16="http://schemas.microsoft.com/office/drawing/2014/main" id="{28324E28-BF98-A23E-ADE3-E022DA8CA24B}"/>
              </a:ext>
            </a:extLst>
          </p:cNvPr>
          <p:cNvSpPr txBox="1"/>
          <p:nvPr/>
        </p:nvSpPr>
        <p:spPr>
          <a:xfrm>
            <a:off x="6234084" y="2019300"/>
            <a:ext cx="1645838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3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중고나라</a:t>
            </a:r>
            <a:endParaRPr lang="en-US" altLang="ko-KR" sz="3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0BCAEFF-BFF0-305B-4877-5108270064E3}"/>
              </a:ext>
            </a:extLst>
          </p:cNvPr>
          <p:cNvSpPr/>
          <p:nvPr/>
        </p:nvSpPr>
        <p:spPr>
          <a:xfrm>
            <a:off x="5762276" y="2589953"/>
            <a:ext cx="2617746" cy="1105747"/>
          </a:xfrm>
          <a:prstGeom prst="rect">
            <a:avLst/>
          </a:prstGeom>
          <a:solidFill>
            <a:schemeClr val="bg1"/>
          </a:solidFill>
          <a:ln>
            <a:solidFill>
              <a:srgbClr val="04C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1" name="Picture 8" descr="중고나라, '카페클리닝' 단행으로 하루 게시글 수 제한…거래 성사에 집중 : 중고나라">
            <a:extLst>
              <a:ext uri="{FF2B5EF4-FFF2-40B4-BE49-F238E27FC236}">
                <a16:creationId xmlns:a16="http://schemas.microsoft.com/office/drawing/2014/main" id="{1697AB2D-F38E-CFA6-40B2-7CC113B9B0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3" t="20295" r="14383" b="22099"/>
          <a:stretch/>
        </p:blipFill>
        <p:spPr bwMode="auto">
          <a:xfrm>
            <a:off x="6071266" y="2687106"/>
            <a:ext cx="1971474" cy="896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직사각형 81">
            <a:extLst>
              <a:ext uri="{FF2B5EF4-FFF2-40B4-BE49-F238E27FC236}">
                <a16:creationId xmlns:a16="http://schemas.microsoft.com/office/drawing/2014/main" id="{4BF4075C-4075-2BBF-FBE1-BF61A9E2AA1E}"/>
              </a:ext>
            </a:extLst>
          </p:cNvPr>
          <p:cNvSpPr/>
          <p:nvPr/>
        </p:nvSpPr>
        <p:spPr>
          <a:xfrm>
            <a:off x="5753100" y="3771900"/>
            <a:ext cx="2617746" cy="4872924"/>
          </a:xfrm>
          <a:prstGeom prst="rect">
            <a:avLst/>
          </a:prstGeom>
          <a:noFill/>
          <a:ln>
            <a:solidFill>
              <a:srgbClr val="04C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6C45B329-7529-3439-EB73-A3FB52F4CD70}"/>
              </a:ext>
            </a:extLst>
          </p:cNvPr>
          <p:cNvSpPr/>
          <p:nvPr/>
        </p:nvSpPr>
        <p:spPr>
          <a:xfrm>
            <a:off x="8737550" y="3771900"/>
            <a:ext cx="2617746" cy="48729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66B6814C-F8A1-014C-0FFF-A5A936F8766F}"/>
              </a:ext>
            </a:extLst>
          </p:cNvPr>
          <p:cNvSpPr/>
          <p:nvPr/>
        </p:nvSpPr>
        <p:spPr>
          <a:xfrm>
            <a:off x="11703266" y="3771900"/>
            <a:ext cx="2617746" cy="4872924"/>
          </a:xfrm>
          <a:prstGeom prst="rect">
            <a:avLst/>
          </a:prstGeom>
          <a:noFill/>
          <a:ln>
            <a:solidFill>
              <a:srgbClr val="FF6F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11">
            <a:extLst>
              <a:ext uri="{FF2B5EF4-FFF2-40B4-BE49-F238E27FC236}">
                <a16:creationId xmlns:a16="http://schemas.microsoft.com/office/drawing/2014/main" id="{8938292E-9760-2D07-936F-C1AC67FF7A42}"/>
              </a:ext>
            </a:extLst>
          </p:cNvPr>
          <p:cNvSpPr txBox="1"/>
          <p:nvPr/>
        </p:nvSpPr>
        <p:spPr>
          <a:xfrm>
            <a:off x="4004318" y="4846045"/>
            <a:ext cx="1415259" cy="4474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r">
              <a:lnSpc>
                <a:spcPts val="4172"/>
              </a:lnSpc>
              <a:spcBef>
                <a:spcPct val="0"/>
              </a:spcBef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highlight>
                  <a:srgbClr val="F5E166"/>
                </a:highlight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위치기반검색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highlight>
                <a:srgbClr val="F5E166"/>
              </a:highlight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87" name="TextBox 11">
            <a:extLst>
              <a:ext uri="{FF2B5EF4-FFF2-40B4-BE49-F238E27FC236}">
                <a16:creationId xmlns:a16="http://schemas.microsoft.com/office/drawing/2014/main" id="{BAA4B75D-8FAE-5A22-146A-85FCC54D625D}"/>
              </a:ext>
            </a:extLst>
          </p:cNvPr>
          <p:cNvSpPr txBox="1"/>
          <p:nvPr/>
        </p:nvSpPr>
        <p:spPr>
          <a:xfrm>
            <a:off x="4004318" y="5359251"/>
            <a:ext cx="1415259" cy="4474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r">
              <a:lnSpc>
                <a:spcPts val="4172"/>
              </a:lnSpc>
              <a:spcBef>
                <a:spcPct val="0"/>
              </a:spcBef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안전결제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88" name="TextBox 11">
            <a:extLst>
              <a:ext uri="{FF2B5EF4-FFF2-40B4-BE49-F238E27FC236}">
                <a16:creationId xmlns:a16="http://schemas.microsoft.com/office/drawing/2014/main" id="{24C8D94D-2EF1-0F1F-C572-3D9E6AE3EF50}"/>
              </a:ext>
            </a:extLst>
          </p:cNvPr>
          <p:cNvSpPr txBox="1"/>
          <p:nvPr/>
        </p:nvSpPr>
        <p:spPr>
          <a:xfrm>
            <a:off x="4004318" y="6453975"/>
            <a:ext cx="1415259" cy="4474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r">
              <a:lnSpc>
                <a:spcPts val="4172"/>
              </a:lnSpc>
              <a:spcBef>
                <a:spcPct val="0"/>
              </a:spcBef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highlight>
                  <a:srgbClr val="F5E166"/>
                </a:highlight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커뮤니티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highlight>
                <a:srgbClr val="F5E166"/>
              </a:highlight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89" name="TextBox 11">
            <a:extLst>
              <a:ext uri="{FF2B5EF4-FFF2-40B4-BE49-F238E27FC236}">
                <a16:creationId xmlns:a16="http://schemas.microsoft.com/office/drawing/2014/main" id="{60DEBA94-96AD-1049-532B-1FE782BFE4E7}"/>
              </a:ext>
            </a:extLst>
          </p:cNvPr>
          <p:cNvSpPr txBox="1"/>
          <p:nvPr/>
        </p:nvSpPr>
        <p:spPr>
          <a:xfrm>
            <a:off x="4004318" y="5920440"/>
            <a:ext cx="1415259" cy="4474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r">
              <a:lnSpc>
                <a:spcPts val="4172"/>
              </a:lnSpc>
              <a:spcBef>
                <a:spcPct val="0"/>
              </a:spcBef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알림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90" name="TextBox 11">
            <a:extLst>
              <a:ext uri="{FF2B5EF4-FFF2-40B4-BE49-F238E27FC236}">
                <a16:creationId xmlns:a16="http://schemas.microsoft.com/office/drawing/2014/main" id="{8E2A3471-D4A7-3146-5B35-57F476A87497}"/>
              </a:ext>
            </a:extLst>
          </p:cNvPr>
          <p:cNvSpPr txBox="1"/>
          <p:nvPr/>
        </p:nvSpPr>
        <p:spPr>
          <a:xfrm>
            <a:off x="4004318" y="6987080"/>
            <a:ext cx="1415259" cy="4474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r">
              <a:lnSpc>
                <a:spcPts val="4172"/>
              </a:lnSpc>
              <a:spcBef>
                <a:spcPct val="0"/>
              </a:spcBef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highlight>
                  <a:srgbClr val="F5E166"/>
                </a:highlight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경매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highlight>
                <a:srgbClr val="F5E166"/>
              </a:highlight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100" name="곱하기 기호 99">
            <a:extLst>
              <a:ext uri="{FF2B5EF4-FFF2-40B4-BE49-F238E27FC236}">
                <a16:creationId xmlns:a16="http://schemas.microsoft.com/office/drawing/2014/main" id="{73F40170-327A-2F95-BD4E-01FE2E40895B}"/>
              </a:ext>
            </a:extLst>
          </p:cNvPr>
          <p:cNvSpPr/>
          <p:nvPr/>
        </p:nvSpPr>
        <p:spPr>
          <a:xfrm>
            <a:off x="6855442" y="4404616"/>
            <a:ext cx="403123" cy="434084"/>
          </a:xfrm>
          <a:prstGeom prst="mathMultiply">
            <a:avLst>
              <a:gd name="adj1" fmla="val 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0" name="TextBox 11">
            <a:extLst>
              <a:ext uri="{FF2B5EF4-FFF2-40B4-BE49-F238E27FC236}">
                <a16:creationId xmlns:a16="http://schemas.microsoft.com/office/drawing/2014/main" id="{29F24F45-6FC2-4193-465C-0BE5BCF33135}"/>
              </a:ext>
            </a:extLst>
          </p:cNvPr>
          <p:cNvSpPr txBox="1"/>
          <p:nvPr/>
        </p:nvSpPr>
        <p:spPr>
          <a:xfrm>
            <a:off x="4004318" y="4313456"/>
            <a:ext cx="1415259" cy="4474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r">
              <a:lnSpc>
                <a:spcPts val="4172"/>
              </a:lnSpc>
              <a:spcBef>
                <a:spcPct val="0"/>
              </a:spcBef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포인트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111" name="TextBox 11">
            <a:extLst>
              <a:ext uri="{FF2B5EF4-FFF2-40B4-BE49-F238E27FC236}">
                <a16:creationId xmlns:a16="http://schemas.microsoft.com/office/drawing/2014/main" id="{3E8ECE3E-8DC7-9C7A-7717-098AEF3FA479}"/>
              </a:ext>
            </a:extLst>
          </p:cNvPr>
          <p:cNvSpPr txBox="1"/>
          <p:nvPr/>
        </p:nvSpPr>
        <p:spPr>
          <a:xfrm>
            <a:off x="4004318" y="3771900"/>
            <a:ext cx="1415259" cy="4474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r">
              <a:lnSpc>
                <a:spcPts val="4172"/>
              </a:lnSpc>
              <a:spcBef>
                <a:spcPct val="0"/>
              </a:spcBef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간편로그인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112" name="TextBox 11">
            <a:extLst>
              <a:ext uri="{FF2B5EF4-FFF2-40B4-BE49-F238E27FC236}">
                <a16:creationId xmlns:a16="http://schemas.microsoft.com/office/drawing/2014/main" id="{F7037115-96FD-5C27-04A7-78D2C2FFF63D}"/>
              </a:ext>
            </a:extLst>
          </p:cNvPr>
          <p:cNvSpPr txBox="1"/>
          <p:nvPr/>
        </p:nvSpPr>
        <p:spPr>
          <a:xfrm>
            <a:off x="4004317" y="7480829"/>
            <a:ext cx="1415259" cy="4474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r">
              <a:lnSpc>
                <a:spcPts val="4172"/>
              </a:lnSpc>
              <a:spcBef>
                <a:spcPct val="0"/>
              </a:spcBef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실시간 채팅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114" name="원형: 비어 있음 113">
            <a:extLst>
              <a:ext uri="{FF2B5EF4-FFF2-40B4-BE49-F238E27FC236}">
                <a16:creationId xmlns:a16="http://schemas.microsoft.com/office/drawing/2014/main" id="{48919A44-3752-E493-F1D5-0F6567B8495D}"/>
              </a:ext>
            </a:extLst>
          </p:cNvPr>
          <p:cNvSpPr/>
          <p:nvPr/>
        </p:nvSpPr>
        <p:spPr>
          <a:xfrm>
            <a:off x="6904603" y="3908387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15" name="원형: 비어 있음 114">
            <a:extLst>
              <a:ext uri="{FF2B5EF4-FFF2-40B4-BE49-F238E27FC236}">
                <a16:creationId xmlns:a16="http://schemas.microsoft.com/office/drawing/2014/main" id="{017A8550-07CB-4704-A3AA-7B58592A0FB3}"/>
              </a:ext>
            </a:extLst>
          </p:cNvPr>
          <p:cNvSpPr/>
          <p:nvPr/>
        </p:nvSpPr>
        <p:spPr>
          <a:xfrm>
            <a:off x="9894023" y="3908387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16" name="원형: 비어 있음 115">
            <a:extLst>
              <a:ext uri="{FF2B5EF4-FFF2-40B4-BE49-F238E27FC236}">
                <a16:creationId xmlns:a16="http://schemas.microsoft.com/office/drawing/2014/main" id="{DB903F9F-C0BA-1430-0CD8-A4C4488FBF32}"/>
              </a:ext>
            </a:extLst>
          </p:cNvPr>
          <p:cNvSpPr/>
          <p:nvPr/>
        </p:nvSpPr>
        <p:spPr>
          <a:xfrm>
            <a:off x="12859739" y="3908387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18" name="원형: 비어 있음 117">
            <a:extLst>
              <a:ext uri="{FF2B5EF4-FFF2-40B4-BE49-F238E27FC236}">
                <a16:creationId xmlns:a16="http://schemas.microsoft.com/office/drawing/2014/main" id="{E2B0EE19-454D-A93F-807B-0C469DFD3D1F}"/>
              </a:ext>
            </a:extLst>
          </p:cNvPr>
          <p:cNvSpPr/>
          <p:nvPr/>
        </p:nvSpPr>
        <p:spPr>
          <a:xfrm>
            <a:off x="9894023" y="4449943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19" name="원형: 비어 있음 118">
            <a:extLst>
              <a:ext uri="{FF2B5EF4-FFF2-40B4-BE49-F238E27FC236}">
                <a16:creationId xmlns:a16="http://schemas.microsoft.com/office/drawing/2014/main" id="{568B147D-016F-7011-8470-320860BA089A}"/>
              </a:ext>
            </a:extLst>
          </p:cNvPr>
          <p:cNvSpPr/>
          <p:nvPr/>
        </p:nvSpPr>
        <p:spPr>
          <a:xfrm>
            <a:off x="12859739" y="4449943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22" name="원형: 비어 있음 121">
            <a:extLst>
              <a:ext uri="{FF2B5EF4-FFF2-40B4-BE49-F238E27FC236}">
                <a16:creationId xmlns:a16="http://schemas.microsoft.com/office/drawing/2014/main" id="{F462BCB0-7D77-9D34-FAD7-7FAD72740F49}"/>
              </a:ext>
            </a:extLst>
          </p:cNvPr>
          <p:cNvSpPr/>
          <p:nvPr/>
        </p:nvSpPr>
        <p:spPr>
          <a:xfrm>
            <a:off x="12859739" y="4982532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23" name="원형: 비어 있음 122">
            <a:extLst>
              <a:ext uri="{FF2B5EF4-FFF2-40B4-BE49-F238E27FC236}">
                <a16:creationId xmlns:a16="http://schemas.microsoft.com/office/drawing/2014/main" id="{95524C1B-5D53-C460-1560-20A02049595B}"/>
              </a:ext>
            </a:extLst>
          </p:cNvPr>
          <p:cNvSpPr/>
          <p:nvPr/>
        </p:nvSpPr>
        <p:spPr>
          <a:xfrm>
            <a:off x="6904603" y="5495738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24" name="원형: 비어 있음 123">
            <a:extLst>
              <a:ext uri="{FF2B5EF4-FFF2-40B4-BE49-F238E27FC236}">
                <a16:creationId xmlns:a16="http://schemas.microsoft.com/office/drawing/2014/main" id="{460DC55A-770E-AF04-9A48-D17CBBBD0565}"/>
              </a:ext>
            </a:extLst>
          </p:cNvPr>
          <p:cNvSpPr/>
          <p:nvPr/>
        </p:nvSpPr>
        <p:spPr>
          <a:xfrm>
            <a:off x="9894023" y="5495738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25" name="원형: 비어 있음 124">
            <a:extLst>
              <a:ext uri="{FF2B5EF4-FFF2-40B4-BE49-F238E27FC236}">
                <a16:creationId xmlns:a16="http://schemas.microsoft.com/office/drawing/2014/main" id="{B6B2D936-8E61-7B92-707F-84CFF503D7DD}"/>
              </a:ext>
            </a:extLst>
          </p:cNvPr>
          <p:cNvSpPr/>
          <p:nvPr/>
        </p:nvSpPr>
        <p:spPr>
          <a:xfrm>
            <a:off x="12859739" y="5495738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27" name="원형: 비어 있음 126">
            <a:extLst>
              <a:ext uri="{FF2B5EF4-FFF2-40B4-BE49-F238E27FC236}">
                <a16:creationId xmlns:a16="http://schemas.microsoft.com/office/drawing/2014/main" id="{D5468360-8285-963B-1998-7DCFAAE4A535}"/>
              </a:ext>
            </a:extLst>
          </p:cNvPr>
          <p:cNvSpPr/>
          <p:nvPr/>
        </p:nvSpPr>
        <p:spPr>
          <a:xfrm>
            <a:off x="9894023" y="6056927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28" name="원형: 비어 있음 127">
            <a:extLst>
              <a:ext uri="{FF2B5EF4-FFF2-40B4-BE49-F238E27FC236}">
                <a16:creationId xmlns:a16="http://schemas.microsoft.com/office/drawing/2014/main" id="{B784902B-2F7B-3227-164C-9B4EDB11AB88}"/>
              </a:ext>
            </a:extLst>
          </p:cNvPr>
          <p:cNvSpPr/>
          <p:nvPr/>
        </p:nvSpPr>
        <p:spPr>
          <a:xfrm>
            <a:off x="12859739" y="6056927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1" name="원형: 비어 있음 130">
            <a:extLst>
              <a:ext uri="{FF2B5EF4-FFF2-40B4-BE49-F238E27FC236}">
                <a16:creationId xmlns:a16="http://schemas.microsoft.com/office/drawing/2014/main" id="{2C092EB6-2AF3-F0B5-2D9A-22FFAC5EF987}"/>
              </a:ext>
            </a:extLst>
          </p:cNvPr>
          <p:cNvSpPr/>
          <p:nvPr/>
        </p:nvSpPr>
        <p:spPr>
          <a:xfrm>
            <a:off x="12859739" y="6590462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6" name="원형: 비어 있음 135">
            <a:extLst>
              <a:ext uri="{FF2B5EF4-FFF2-40B4-BE49-F238E27FC236}">
                <a16:creationId xmlns:a16="http://schemas.microsoft.com/office/drawing/2014/main" id="{DFD58D7E-656D-A876-3E3B-E98C7FD91767}"/>
              </a:ext>
            </a:extLst>
          </p:cNvPr>
          <p:cNvSpPr/>
          <p:nvPr/>
        </p:nvSpPr>
        <p:spPr>
          <a:xfrm>
            <a:off x="9894023" y="7617316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7" name="원형: 비어 있음 136">
            <a:extLst>
              <a:ext uri="{FF2B5EF4-FFF2-40B4-BE49-F238E27FC236}">
                <a16:creationId xmlns:a16="http://schemas.microsoft.com/office/drawing/2014/main" id="{ED37618B-0B5E-3801-FDEE-F78A3A278CBB}"/>
              </a:ext>
            </a:extLst>
          </p:cNvPr>
          <p:cNvSpPr/>
          <p:nvPr/>
        </p:nvSpPr>
        <p:spPr>
          <a:xfrm>
            <a:off x="12859739" y="7617316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8" name="곱하기 기호 137">
            <a:extLst>
              <a:ext uri="{FF2B5EF4-FFF2-40B4-BE49-F238E27FC236}">
                <a16:creationId xmlns:a16="http://schemas.microsoft.com/office/drawing/2014/main" id="{9A924DFD-A4EB-A098-49A5-81466355274F}"/>
              </a:ext>
            </a:extLst>
          </p:cNvPr>
          <p:cNvSpPr/>
          <p:nvPr/>
        </p:nvSpPr>
        <p:spPr>
          <a:xfrm>
            <a:off x="6855442" y="4938016"/>
            <a:ext cx="403123" cy="434084"/>
          </a:xfrm>
          <a:prstGeom prst="mathMultiply">
            <a:avLst>
              <a:gd name="adj1" fmla="val 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9" name="곱하기 기호 138">
            <a:extLst>
              <a:ext uri="{FF2B5EF4-FFF2-40B4-BE49-F238E27FC236}">
                <a16:creationId xmlns:a16="http://schemas.microsoft.com/office/drawing/2014/main" id="{81D1E16E-DC2D-B8D6-9BBC-1F0DDE1DE5BA}"/>
              </a:ext>
            </a:extLst>
          </p:cNvPr>
          <p:cNvSpPr/>
          <p:nvPr/>
        </p:nvSpPr>
        <p:spPr>
          <a:xfrm>
            <a:off x="9844862" y="4938016"/>
            <a:ext cx="403123" cy="434084"/>
          </a:xfrm>
          <a:prstGeom prst="mathMultiply">
            <a:avLst>
              <a:gd name="adj1" fmla="val 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0" name="곱하기 기호 139">
            <a:extLst>
              <a:ext uri="{FF2B5EF4-FFF2-40B4-BE49-F238E27FC236}">
                <a16:creationId xmlns:a16="http://schemas.microsoft.com/office/drawing/2014/main" id="{FD28B6F7-65EB-4502-8628-C69DBCC05DD6}"/>
              </a:ext>
            </a:extLst>
          </p:cNvPr>
          <p:cNvSpPr/>
          <p:nvPr/>
        </p:nvSpPr>
        <p:spPr>
          <a:xfrm>
            <a:off x="6855442" y="6004816"/>
            <a:ext cx="403123" cy="434084"/>
          </a:xfrm>
          <a:prstGeom prst="mathMultiply">
            <a:avLst>
              <a:gd name="adj1" fmla="val 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2" name="곱하기 기호 141">
            <a:extLst>
              <a:ext uri="{FF2B5EF4-FFF2-40B4-BE49-F238E27FC236}">
                <a16:creationId xmlns:a16="http://schemas.microsoft.com/office/drawing/2014/main" id="{895C0623-9C23-988B-DB35-B9FFD0111DFA}"/>
              </a:ext>
            </a:extLst>
          </p:cNvPr>
          <p:cNvSpPr/>
          <p:nvPr/>
        </p:nvSpPr>
        <p:spPr>
          <a:xfrm>
            <a:off x="6855442" y="6538216"/>
            <a:ext cx="403123" cy="434084"/>
          </a:xfrm>
          <a:prstGeom prst="mathMultiply">
            <a:avLst>
              <a:gd name="adj1" fmla="val 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3" name="곱하기 기호 142">
            <a:extLst>
              <a:ext uri="{FF2B5EF4-FFF2-40B4-BE49-F238E27FC236}">
                <a16:creationId xmlns:a16="http://schemas.microsoft.com/office/drawing/2014/main" id="{67F4508A-9BFC-6599-5B11-C331A92AB27F}"/>
              </a:ext>
            </a:extLst>
          </p:cNvPr>
          <p:cNvSpPr/>
          <p:nvPr/>
        </p:nvSpPr>
        <p:spPr>
          <a:xfrm>
            <a:off x="9844862" y="6538216"/>
            <a:ext cx="403123" cy="434084"/>
          </a:xfrm>
          <a:prstGeom prst="mathMultiply">
            <a:avLst>
              <a:gd name="adj1" fmla="val 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4" name="곱하기 기호 143">
            <a:extLst>
              <a:ext uri="{FF2B5EF4-FFF2-40B4-BE49-F238E27FC236}">
                <a16:creationId xmlns:a16="http://schemas.microsoft.com/office/drawing/2014/main" id="{19023A39-9844-3DE3-6914-044545FF3641}"/>
              </a:ext>
            </a:extLst>
          </p:cNvPr>
          <p:cNvSpPr/>
          <p:nvPr/>
        </p:nvSpPr>
        <p:spPr>
          <a:xfrm>
            <a:off x="6855442" y="7071616"/>
            <a:ext cx="403123" cy="434084"/>
          </a:xfrm>
          <a:prstGeom prst="mathMultiply">
            <a:avLst>
              <a:gd name="adj1" fmla="val 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5" name="곱하기 기호 144">
            <a:extLst>
              <a:ext uri="{FF2B5EF4-FFF2-40B4-BE49-F238E27FC236}">
                <a16:creationId xmlns:a16="http://schemas.microsoft.com/office/drawing/2014/main" id="{DB3CC01C-5DF8-5FA4-6B55-C08EAF352CAB}"/>
              </a:ext>
            </a:extLst>
          </p:cNvPr>
          <p:cNvSpPr/>
          <p:nvPr/>
        </p:nvSpPr>
        <p:spPr>
          <a:xfrm>
            <a:off x="9844862" y="7071616"/>
            <a:ext cx="403123" cy="434084"/>
          </a:xfrm>
          <a:prstGeom prst="mathMultiply">
            <a:avLst>
              <a:gd name="adj1" fmla="val 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6" name="곱하기 기호 145">
            <a:extLst>
              <a:ext uri="{FF2B5EF4-FFF2-40B4-BE49-F238E27FC236}">
                <a16:creationId xmlns:a16="http://schemas.microsoft.com/office/drawing/2014/main" id="{8680F7D5-E283-1333-04BE-A57D37BEA7EC}"/>
              </a:ext>
            </a:extLst>
          </p:cNvPr>
          <p:cNvSpPr/>
          <p:nvPr/>
        </p:nvSpPr>
        <p:spPr>
          <a:xfrm>
            <a:off x="12810578" y="7071616"/>
            <a:ext cx="403123" cy="434084"/>
          </a:xfrm>
          <a:prstGeom prst="mathMultiply">
            <a:avLst>
              <a:gd name="adj1" fmla="val 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8" name="원형: 비어 있음 147">
            <a:extLst>
              <a:ext uri="{FF2B5EF4-FFF2-40B4-BE49-F238E27FC236}">
                <a16:creationId xmlns:a16="http://schemas.microsoft.com/office/drawing/2014/main" id="{77148ABA-CBDA-F383-BCC6-A821DC3F56FE}"/>
              </a:ext>
            </a:extLst>
          </p:cNvPr>
          <p:cNvSpPr/>
          <p:nvPr/>
        </p:nvSpPr>
        <p:spPr>
          <a:xfrm>
            <a:off x="6904603" y="7617316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9" name="TextBox 11">
            <a:extLst>
              <a:ext uri="{FF2B5EF4-FFF2-40B4-BE49-F238E27FC236}">
                <a16:creationId xmlns:a16="http://schemas.microsoft.com/office/drawing/2014/main" id="{52D67992-4F89-EA7B-6F68-83BA33168832}"/>
              </a:ext>
            </a:extLst>
          </p:cNvPr>
          <p:cNvSpPr txBox="1"/>
          <p:nvPr/>
        </p:nvSpPr>
        <p:spPr>
          <a:xfrm>
            <a:off x="3657601" y="8006524"/>
            <a:ext cx="1761976" cy="4474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r">
              <a:lnSpc>
                <a:spcPts val="4172"/>
              </a:lnSpc>
              <a:spcBef>
                <a:spcPct val="0"/>
              </a:spcBef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카테고리 추천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150" name="원형: 비어 있음 149">
            <a:extLst>
              <a:ext uri="{FF2B5EF4-FFF2-40B4-BE49-F238E27FC236}">
                <a16:creationId xmlns:a16="http://schemas.microsoft.com/office/drawing/2014/main" id="{DEB6086B-5308-886E-1E7A-A8277ED4F9BD}"/>
              </a:ext>
            </a:extLst>
          </p:cNvPr>
          <p:cNvSpPr/>
          <p:nvPr/>
        </p:nvSpPr>
        <p:spPr>
          <a:xfrm>
            <a:off x="9894023" y="8143011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1" name="원형: 비어 있음 150">
            <a:extLst>
              <a:ext uri="{FF2B5EF4-FFF2-40B4-BE49-F238E27FC236}">
                <a16:creationId xmlns:a16="http://schemas.microsoft.com/office/drawing/2014/main" id="{FB51282E-E979-1F1F-421E-1E35D59F0C0A}"/>
              </a:ext>
            </a:extLst>
          </p:cNvPr>
          <p:cNvSpPr/>
          <p:nvPr/>
        </p:nvSpPr>
        <p:spPr>
          <a:xfrm>
            <a:off x="12859739" y="8143011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2" name="원형: 비어 있음 151">
            <a:extLst>
              <a:ext uri="{FF2B5EF4-FFF2-40B4-BE49-F238E27FC236}">
                <a16:creationId xmlns:a16="http://schemas.microsoft.com/office/drawing/2014/main" id="{4CF92353-B5F7-30FB-7CA0-8C64CDEDA420}"/>
              </a:ext>
            </a:extLst>
          </p:cNvPr>
          <p:cNvSpPr/>
          <p:nvPr/>
        </p:nvSpPr>
        <p:spPr>
          <a:xfrm>
            <a:off x="6904603" y="8143011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255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1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641337-8D42-18E0-1E04-AD96F0A4E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ED82F062-3236-EED0-2153-E6743154C47F}"/>
              </a:ext>
            </a:extLst>
          </p:cNvPr>
          <p:cNvSpPr/>
          <p:nvPr/>
        </p:nvSpPr>
        <p:spPr>
          <a:xfrm>
            <a:off x="1058920" y="2324100"/>
            <a:ext cx="846080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05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368C68-F092-4AA7-E9BA-CD3136C5C452}"/>
              </a:ext>
            </a:extLst>
          </p:cNvPr>
          <p:cNvSpPr txBox="1"/>
          <p:nvPr/>
        </p:nvSpPr>
        <p:spPr>
          <a:xfrm>
            <a:off x="990600" y="1493103"/>
            <a:ext cx="541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03 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프로젝트 목표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9FD585-82C8-AC8F-23E0-AA4653AAC5DC}"/>
              </a:ext>
            </a:extLst>
          </p:cNvPr>
          <p:cNvSpPr txBox="1"/>
          <p:nvPr/>
        </p:nvSpPr>
        <p:spPr>
          <a:xfrm>
            <a:off x="5943600" y="4136636"/>
            <a:ext cx="9951198" cy="336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중고거래</a:t>
            </a:r>
            <a:r>
              <a:rPr lang="en-US" altLang="ko-KR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커뮤니티</a:t>
            </a:r>
            <a:r>
              <a:rPr lang="en-US" altLang="ko-KR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경매 시스템을 완성도 높게 구현하여</a:t>
            </a:r>
            <a:r>
              <a:rPr lang="en-US" altLang="ko-KR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</a:t>
            </a:r>
            <a:br>
              <a:rPr lang="ko-KR" altLang="en-US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</a:br>
            <a:r>
              <a:rPr lang="ko-KR" altLang="en-US" sz="2600" b="1" kern="0" dirty="0">
                <a:ln>
                  <a:solidFill>
                    <a:schemeClr val="tx1">
                      <a:alpha val="20000"/>
                    </a:schemeClr>
                  </a:solidFill>
                </a:ln>
                <a:highlight>
                  <a:srgbClr val="F5E166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rPr>
              <a:t>실제 서비스 수준의 안정성과 실용성을 확보</a:t>
            </a:r>
            <a:r>
              <a:rPr lang="ko-KR" altLang="en-US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하는 것을 목표로 함</a:t>
            </a:r>
            <a:r>
              <a:rPr lang="en-US" altLang="ko-KR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kern="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</a:t>
            </a:r>
          </a:p>
          <a:p>
            <a:pPr>
              <a:lnSpc>
                <a:spcPct val="150000"/>
              </a:lnSpc>
            </a:pPr>
            <a:r>
              <a:rPr lang="ko-KR" altLang="en-US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단순 </a:t>
            </a:r>
            <a:r>
              <a:rPr lang="en-US" altLang="ko-KR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CRUD</a:t>
            </a:r>
            <a:r>
              <a:rPr lang="ko-KR" altLang="en-US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를 넘어 다양한 기술 스택과 외부 </a:t>
            </a:r>
            <a:r>
              <a:rPr lang="en-US" altLang="ko-KR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API</a:t>
            </a:r>
            <a:r>
              <a:rPr lang="ko-KR" altLang="en-US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를 프로젝트에 직접 적용함으로써 실무에 가까운 개발 경험을 쌓고</a:t>
            </a:r>
            <a:r>
              <a:rPr lang="en-US" altLang="ko-KR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2600" b="1" kern="0" dirty="0">
                <a:ln>
                  <a:solidFill>
                    <a:schemeClr val="tx1">
                      <a:alpha val="20000"/>
                    </a:schemeClr>
                  </a:solidFill>
                </a:ln>
                <a:highlight>
                  <a:srgbClr val="F5E166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rPr>
              <a:t>서비스의 설계부터 구현까지 스스로 완성하는 능력을 기르는 것</a:t>
            </a:r>
            <a:r>
              <a:rPr lang="ko-KR" altLang="en-US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을 목표로 함</a:t>
            </a:r>
            <a:r>
              <a:rPr lang="en-US" altLang="ko-KR" sz="24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981359-95BE-6052-A6D3-0F70EFE7B28B}"/>
              </a:ext>
            </a:extLst>
          </p:cNvPr>
          <p:cNvSpPr txBox="1"/>
          <p:nvPr/>
        </p:nvSpPr>
        <p:spPr>
          <a:xfrm>
            <a:off x="2017247" y="2324100"/>
            <a:ext cx="594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kern="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서비스 완성도와 기술 역량 향상</a:t>
            </a: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0C3C227-2D20-666C-1B14-AFAA345595A8}"/>
              </a:ext>
            </a:extLst>
          </p:cNvPr>
          <p:cNvSpPr/>
          <p:nvPr/>
        </p:nvSpPr>
        <p:spPr>
          <a:xfrm>
            <a:off x="1882850" y="4603851"/>
            <a:ext cx="3146350" cy="3020496"/>
          </a:xfrm>
          <a:custGeom>
            <a:avLst/>
            <a:gdLst/>
            <a:ahLst/>
            <a:cxnLst/>
            <a:rect l="l" t="t" r="r" b="b"/>
            <a:pathLst>
              <a:path w="4286250" h="4114800">
                <a:moveTo>
                  <a:pt x="0" y="0"/>
                </a:moveTo>
                <a:lnTo>
                  <a:pt x="4286250" y="0"/>
                </a:lnTo>
                <a:lnTo>
                  <a:pt x="42862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>
              <a:solidFill>
                <a:srgbClr val="263035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CF7B76E-E39A-8762-5F1F-6FAF14E23E03}"/>
              </a:ext>
            </a:extLst>
          </p:cNvPr>
          <p:cNvGrpSpPr/>
          <p:nvPr/>
        </p:nvGrpSpPr>
        <p:grpSpPr>
          <a:xfrm>
            <a:off x="8645041" y="2385609"/>
            <a:ext cx="4198317" cy="872002"/>
            <a:chOff x="8689045" y="2247900"/>
            <a:chExt cx="4198317" cy="872002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E9F46464-30A9-7676-D099-A460AA373D7D}"/>
                </a:ext>
              </a:extLst>
            </p:cNvPr>
            <p:cNvSpPr/>
            <p:nvPr/>
          </p:nvSpPr>
          <p:spPr>
            <a:xfrm>
              <a:off x="8689045" y="2247900"/>
              <a:ext cx="872002" cy="872002"/>
            </a:xfrm>
            <a:prstGeom prst="ellipse">
              <a:avLst/>
            </a:prstGeom>
            <a:solidFill>
              <a:srgbClr val="F6E266"/>
            </a:solidFill>
            <a:ln w="101600">
              <a:noFill/>
            </a:ln>
            <a:scene3d>
              <a:camera prst="perspectiveLeft"/>
              <a:lightRig rig="flat" dir="t"/>
            </a:scene3d>
            <a:sp3d extrusionH="381000" contourW="44450">
              <a:extrusionClr>
                <a:srgbClr val="F1D333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28B2959A-C320-CDEB-DDBF-FECFF656131E}"/>
                </a:ext>
              </a:extLst>
            </p:cNvPr>
            <p:cNvGrpSpPr/>
            <p:nvPr/>
          </p:nvGrpSpPr>
          <p:grpSpPr>
            <a:xfrm>
              <a:off x="8891643" y="2425545"/>
              <a:ext cx="535690" cy="505286"/>
              <a:chOff x="4542180" y="798099"/>
              <a:chExt cx="994160" cy="937735"/>
            </a:xfrm>
          </p:grpSpPr>
          <p:pic>
            <p:nvPicPr>
              <p:cNvPr id="22" name="Picture 2" descr="My Letter S Personal 포스터">
                <a:extLst>
                  <a:ext uri="{FF2B5EF4-FFF2-40B4-BE49-F238E27FC236}">
                    <a16:creationId xmlns:a16="http://schemas.microsoft.com/office/drawing/2014/main" id="{DD4D3E6B-ACB0-F4C7-6BD1-A90E4D476F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3" b="74800" l="9888" r="89925">
                            <a14:foregroundMark x1="48507" y1="74800" x2="48507" y2="7480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37" t="15053" r="29737" b="23660"/>
              <a:stretch/>
            </p:blipFill>
            <p:spPr bwMode="auto">
              <a:xfrm>
                <a:off x="4542180" y="798099"/>
                <a:ext cx="589765" cy="9377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2" descr="My Letter S Personal 포스터">
                <a:extLst>
                  <a:ext uri="{FF2B5EF4-FFF2-40B4-BE49-F238E27FC236}">
                    <a16:creationId xmlns:a16="http://schemas.microsoft.com/office/drawing/2014/main" id="{BF6422C4-79CE-020D-FD90-C53EEA4FED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3" b="74800" l="9888" r="89925">
                            <a14:foregroundMark x1="48507" y1="74800" x2="48507" y2="7480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37" t="15053" r="29737" b="23660"/>
              <a:stretch/>
            </p:blipFill>
            <p:spPr bwMode="auto">
              <a:xfrm>
                <a:off x="4946575" y="798099"/>
                <a:ext cx="589765" cy="9377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C19F6E9-27E0-B1E3-98C3-0486BD91872D}"/>
                </a:ext>
              </a:extLst>
            </p:cNvPr>
            <p:cNvSpPr txBox="1"/>
            <p:nvPr/>
          </p:nvSpPr>
          <p:spPr>
            <a:xfrm>
              <a:off x="9753600" y="2315277"/>
              <a:ext cx="31337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000" b="1" dirty="0" err="1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ShareStory</a:t>
              </a:r>
              <a:endParaRPr lang="ko-KR" altLang="en-US" sz="40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6472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1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B00248-4F2E-C90B-2659-FC5038989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09FDCD-A53B-08FC-1680-8D83D2A593DE}"/>
              </a:ext>
            </a:extLst>
          </p:cNvPr>
          <p:cNvSpPr txBox="1"/>
          <p:nvPr/>
        </p:nvSpPr>
        <p:spPr>
          <a:xfrm>
            <a:off x="6781800" y="4229100"/>
            <a:ext cx="4724400" cy="2135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>
              <a:lnSpc>
                <a:spcPct val="150000"/>
              </a:lnSpc>
              <a:buFontTx/>
              <a:buAutoNum type="arabicPeriod"/>
            </a:pPr>
            <a:r>
              <a:rPr lang="ko-KR" altLang="en-US" sz="4800" b="1" dirty="0"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기능리스트</a:t>
            </a:r>
            <a:endParaRPr lang="en-US" altLang="ko-KR" sz="4800" b="1" dirty="0"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  <a:p>
            <a:pPr marL="1143000" indent="-1143000">
              <a:lnSpc>
                <a:spcPct val="150000"/>
              </a:lnSpc>
              <a:buFontTx/>
              <a:buAutoNum type="arabicPeriod"/>
            </a:pP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구현된 기능</a:t>
            </a:r>
            <a:endParaRPr lang="en-US" altLang="ko-KR" sz="48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2DAEA6ED-426E-9BF2-3097-47E71526BAF0}"/>
              </a:ext>
            </a:extLst>
          </p:cNvPr>
          <p:cNvSpPr txBox="1"/>
          <p:nvPr/>
        </p:nvSpPr>
        <p:spPr>
          <a:xfrm>
            <a:off x="1789995" y="1401008"/>
            <a:ext cx="8477003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25"/>
              </a:lnSpc>
              <a:spcBef>
                <a:spcPct val="0"/>
              </a:spcBef>
            </a:pPr>
            <a:r>
              <a:rPr 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02  </a:t>
            </a:r>
            <a:r>
              <a:rPr lang="ko-KR" alt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기능</a:t>
            </a:r>
            <a:endParaRPr lang="en-US" sz="7500" b="1" spc="-27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4" name="AutoShape 8">
            <a:extLst>
              <a:ext uri="{FF2B5EF4-FFF2-40B4-BE49-F238E27FC236}">
                <a16:creationId xmlns:a16="http://schemas.microsoft.com/office/drawing/2014/main" id="{3DB189B2-FE7F-3BEF-2ECA-D7093B1156C4}"/>
              </a:ext>
            </a:extLst>
          </p:cNvPr>
          <p:cNvSpPr/>
          <p:nvPr/>
        </p:nvSpPr>
        <p:spPr>
          <a:xfrm flipH="1">
            <a:off x="1789995" y="2591633"/>
            <a:ext cx="1135883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319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1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B1293-AC56-23DF-342C-EB245C1F3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8CE859-949B-CA08-AD32-475538588CFC}"/>
              </a:ext>
            </a:extLst>
          </p:cNvPr>
          <p:cNvSpPr txBox="1"/>
          <p:nvPr/>
        </p:nvSpPr>
        <p:spPr>
          <a:xfrm>
            <a:off x="990600" y="1181100"/>
            <a:ext cx="403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기능 리스트</a:t>
            </a:r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12D9434B-254A-A239-DD69-93F158299A3E}"/>
              </a:ext>
            </a:extLst>
          </p:cNvPr>
          <p:cNvSpPr/>
          <p:nvPr/>
        </p:nvSpPr>
        <p:spPr>
          <a:xfrm>
            <a:off x="9296400" y="5093616"/>
            <a:ext cx="2178637" cy="217863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5E166"/>
          </a:solidFill>
          <a:ln w="38100" cap="sq">
            <a:solidFill>
              <a:srgbClr val="263035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ko-KR" altLang="en-US" sz="2400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판매자</a:t>
            </a:r>
          </a:p>
        </p:txBody>
      </p:sp>
      <p:sp>
        <p:nvSpPr>
          <p:cNvPr id="13" name="TextBox 18">
            <a:extLst>
              <a:ext uri="{FF2B5EF4-FFF2-40B4-BE49-F238E27FC236}">
                <a16:creationId xmlns:a16="http://schemas.microsoft.com/office/drawing/2014/main" id="{FCC299D8-F114-BD8A-C724-ECF339FF0CFC}"/>
              </a:ext>
            </a:extLst>
          </p:cNvPr>
          <p:cNvSpPr txBox="1"/>
          <p:nvPr/>
        </p:nvSpPr>
        <p:spPr>
          <a:xfrm>
            <a:off x="9500647" y="5272332"/>
            <a:ext cx="1770143" cy="179567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84"/>
              </a:lnSpc>
            </a:pPr>
            <a:endParaRPr sz="2400"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8A31EBA4-C6CD-8CE7-A400-8134D3A8856F}"/>
              </a:ext>
            </a:extLst>
          </p:cNvPr>
          <p:cNvSpPr/>
          <p:nvPr/>
        </p:nvSpPr>
        <p:spPr>
          <a:xfrm>
            <a:off x="9296400" y="2400300"/>
            <a:ext cx="2178637" cy="217863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5E166"/>
          </a:solidFill>
          <a:ln w="38100" cap="sq">
            <a:solidFill>
              <a:srgbClr val="263035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ko-KR" altLang="en-US" sz="2400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소비자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ED7625-6DC0-1DC4-5523-6B834C538523}"/>
              </a:ext>
            </a:extLst>
          </p:cNvPr>
          <p:cNvSpPr txBox="1"/>
          <p:nvPr/>
        </p:nvSpPr>
        <p:spPr>
          <a:xfrm>
            <a:off x="9400550" y="2559967"/>
            <a:ext cx="1770143" cy="179567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84"/>
              </a:lnSpc>
            </a:pPr>
            <a:endParaRPr sz="2400"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20" name="Group 16">
            <a:extLst>
              <a:ext uri="{FF2B5EF4-FFF2-40B4-BE49-F238E27FC236}">
                <a16:creationId xmlns:a16="http://schemas.microsoft.com/office/drawing/2014/main" id="{7F9372F5-CC13-ADC7-ED4A-E12F4F2EC8B1}"/>
              </a:ext>
            </a:extLst>
          </p:cNvPr>
          <p:cNvGrpSpPr/>
          <p:nvPr/>
        </p:nvGrpSpPr>
        <p:grpSpPr>
          <a:xfrm>
            <a:off x="6913518" y="3848100"/>
            <a:ext cx="2178637" cy="2178637"/>
            <a:chOff x="-18672" y="27673"/>
            <a:chExt cx="812800" cy="812800"/>
          </a:xfrm>
        </p:grpSpPr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A0D93045-3F93-217E-FFE9-5F4C21EEFD59}"/>
                </a:ext>
              </a:extLst>
            </p:cNvPr>
            <p:cNvSpPr/>
            <p:nvPr/>
          </p:nvSpPr>
          <p:spPr>
            <a:xfrm>
              <a:off x="-18672" y="27673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E166"/>
            </a:solidFill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3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회원</a:t>
              </a:r>
            </a:p>
          </p:txBody>
        </p:sp>
        <p:sp>
          <p:nvSpPr>
            <p:cNvPr id="22" name="TextBox 18">
              <a:extLst>
                <a:ext uri="{FF2B5EF4-FFF2-40B4-BE49-F238E27FC236}">
                  <a16:creationId xmlns:a16="http://schemas.microsoft.com/office/drawing/2014/main" id="{AC4DFFBA-12FE-5FF6-71D7-73A964CF0877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4"/>
                </a:lnSpc>
              </a:pPr>
              <a:endParaRPr sz="2400" dirty="0"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27" name="Freeform 6">
            <a:extLst>
              <a:ext uri="{FF2B5EF4-FFF2-40B4-BE49-F238E27FC236}">
                <a16:creationId xmlns:a16="http://schemas.microsoft.com/office/drawing/2014/main" id="{26EB211B-9057-0AA8-0F5C-86B585C1FD27}"/>
              </a:ext>
            </a:extLst>
          </p:cNvPr>
          <p:cNvSpPr/>
          <p:nvPr/>
        </p:nvSpPr>
        <p:spPr>
          <a:xfrm>
            <a:off x="11477330" y="5143500"/>
            <a:ext cx="2836069" cy="2099688"/>
          </a:xfrm>
          <a:custGeom>
            <a:avLst/>
            <a:gdLst/>
            <a:ahLst/>
            <a:cxnLst/>
            <a:rect l="l" t="t" r="r" b="b"/>
            <a:pathLst>
              <a:path w="1282347" h="1187306">
                <a:moveTo>
                  <a:pt x="31801" y="0"/>
                </a:moveTo>
                <a:lnTo>
                  <a:pt x="1250546" y="0"/>
                </a:lnTo>
                <a:cubicBezTo>
                  <a:pt x="1258980" y="0"/>
                  <a:pt x="1267069" y="3350"/>
                  <a:pt x="1273033" y="9314"/>
                </a:cubicBezTo>
                <a:cubicBezTo>
                  <a:pt x="1278997" y="15278"/>
                  <a:pt x="1282347" y="23367"/>
                  <a:pt x="1282347" y="31801"/>
                </a:cubicBezTo>
                <a:lnTo>
                  <a:pt x="1282347" y="1155505"/>
                </a:lnTo>
                <a:cubicBezTo>
                  <a:pt x="1282347" y="1173068"/>
                  <a:pt x="1268109" y="1187306"/>
                  <a:pt x="1250546" y="1187306"/>
                </a:cubicBezTo>
                <a:lnTo>
                  <a:pt x="31801" y="1187306"/>
                </a:lnTo>
                <a:cubicBezTo>
                  <a:pt x="14238" y="1187306"/>
                  <a:pt x="0" y="1173068"/>
                  <a:pt x="0" y="1155505"/>
                </a:cubicBezTo>
                <a:lnTo>
                  <a:pt x="0" y="31801"/>
                </a:lnTo>
                <a:cubicBezTo>
                  <a:pt x="0" y="14238"/>
                  <a:pt x="14238" y="0"/>
                  <a:pt x="31801" y="0"/>
                </a:cubicBezTo>
                <a:close/>
              </a:path>
            </a:pathLst>
          </a:custGeom>
          <a:solidFill>
            <a:srgbClr val="F9F9F9">
              <a:alpha val="0"/>
            </a:srgbClr>
          </a:solidFill>
          <a:ln w="38100" cap="sq">
            <a:solidFill>
              <a:srgbClr val="263035"/>
            </a:solidFill>
            <a:prstDash val="solid"/>
            <a:miter/>
          </a:ln>
        </p:spPr>
        <p:txBody>
          <a:bodyPr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상품</a:t>
            </a:r>
            <a:r>
              <a:rPr lang="en-US" altLang="ko-KR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경매상품 등록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배송 및 송장등록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카테고리 자동추천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0" name="Freeform 6">
            <a:extLst>
              <a:ext uri="{FF2B5EF4-FFF2-40B4-BE49-F238E27FC236}">
                <a16:creationId xmlns:a16="http://schemas.microsoft.com/office/drawing/2014/main" id="{00801B59-BC41-F73A-B779-58AB39844351}"/>
              </a:ext>
            </a:extLst>
          </p:cNvPr>
          <p:cNvSpPr/>
          <p:nvPr/>
        </p:nvSpPr>
        <p:spPr>
          <a:xfrm>
            <a:off x="3852808" y="3136958"/>
            <a:ext cx="3060710" cy="3606742"/>
          </a:xfrm>
          <a:custGeom>
            <a:avLst/>
            <a:gdLst/>
            <a:ahLst/>
            <a:cxnLst/>
            <a:rect l="l" t="t" r="r" b="b"/>
            <a:pathLst>
              <a:path w="1282347" h="1187306">
                <a:moveTo>
                  <a:pt x="31801" y="0"/>
                </a:moveTo>
                <a:lnTo>
                  <a:pt x="1250546" y="0"/>
                </a:lnTo>
                <a:cubicBezTo>
                  <a:pt x="1258980" y="0"/>
                  <a:pt x="1267069" y="3350"/>
                  <a:pt x="1273033" y="9314"/>
                </a:cubicBezTo>
                <a:cubicBezTo>
                  <a:pt x="1278997" y="15278"/>
                  <a:pt x="1282347" y="23367"/>
                  <a:pt x="1282347" y="31801"/>
                </a:cubicBezTo>
                <a:lnTo>
                  <a:pt x="1282347" y="1155505"/>
                </a:lnTo>
                <a:cubicBezTo>
                  <a:pt x="1282347" y="1173068"/>
                  <a:pt x="1268109" y="1187306"/>
                  <a:pt x="1250546" y="1187306"/>
                </a:cubicBezTo>
                <a:lnTo>
                  <a:pt x="31801" y="1187306"/>
                </a:lnTo>
                <a:cubicBezTo>
                  <a:pt x="14238" y="1187306"/>
                  <a:pt x="0" y="1173068"/>
                  <a:pt x="0" y="1155505"/>
                </a:cubicBezTo>
                <a:lnTo>
                  <a:pt x="0" y="31801"/>
                </a:lnTo>
                <a:cubicBezTo>
                  <a:pt x="0" y="14238"/>
                  <a:pt x="14238" y="0"/>
                  <a:pt x="31801" y="0"/>
                </a:cubicBezTo>
                <a:close/>
              </a:path>
            </a:pathLst>
          </a:custGeom>
          <a:solidFill>
            <a:srgbClr val="F9F9F9">
              <a:alpha val="0"/>
            </a:srgbClr>
          </a:solidFill>
          <a:ln w="38100" cap="sq">
            <a:solidFill>
              <a:srgbClr val="263035"/>
            </a:solidFill>
            <a:prstDash val="solid"/>
            <a:miter/>
          </a:ln>
        </p:spPr>
        <p:txBody>
          <a:bodyPr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소셜 로그인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실시간 채팅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포인트 충전 </a:t>
            </a:r>
            <a:r>
              <a:rPr lang="en-US" altLang="ko-KR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 </a:t>
            </a: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내역 조회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위치기반 상품 검색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관심상품 등록</a:t>
            </a:r>
            <a:r>
              <a:rPr lang="en-US" altLang="ko-KR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조회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판매 </a:t>
            </a:r>
            <a:r>
              <a:rPr lang="en-US" altLang="ko-KR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 </a:t>
            </a: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구매내역 관리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커뮤니티 글 등록</a:t>
            </a:r>
            <a:r>
              <a:rPr lang="en-US" altLang="ko-KR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삭제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관심 글 등록</a:t>
            </a:r>
            <a:r>
              <a:rPr lang="en-US" altLang="ko-KR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댓글 작성 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D71D9832-42BA-7F7E-ED3E-1D031B8B908A}"/>
              </a:ext>
            </a:extLst>
          </p:cNvPr>
          <p:cNvSpPr/>
          <p:nvPr/>
        </p:nvSpPr>
        <p:spPr>
          <a:xfrm>
            <a:off x="11477330" y="2895616"/>
            <a:ext cx="3225208" cy="1188004"/>
          </a:xfrm>
          <a:custGeom>
            <a:avLst/>
            <a:gdLst/>
            <a:ahLst/>
            <a:cxnLst/>
            <a:rect l="l" t="t" r="r" b="b"/>
            <a:pathLst>
              <a:path w="1282347" h="1187306">
                <a:moveTo>
                  <a:pt x="31801" y="0"/>
                </a:moveTo>
                <a:lnTo>
                  <a:pt x="1250546" y="0"/>
                </a:lnTo>
                <a:cubicBezTo>
                  <a:pt x="1258980" y="0"/>
                  <a:pt x="1267069" y="3350"/>
                  <a:pt x="1273033" y="9314"/>
                </a:cubicBezTo>
                <a:cubicBezTo>
                  <a:pt x="1278997" y="15278"/>
                  <a:pt x="1282347" y="23367"/>
                  <a:pt x="1282347" y="31801"/>
                </a:cubicBezTo>
                <a:lnTo>
                  <a:pt x="1282347" y="1155505"/>
                </a:lnTo>
                <a:cubicBezTo>
                  <a:pt x="1282347" y="1173068"/>
                  <a:pt x="1268109" y="1187306"/>
                  <a:pt x="1250546" y="1187306"/>
                </a:cubicBezTo>
                <a:lnTo>
                  <a:pt x="31801" y="1187306"/>
                </a:lnTo>
                <a:cubicBezTo>
                  <a:pt x="14238" y="1187306"/>
                  <a:pt x="0" y="1173068"/>
                  <a:pt x="0" y="1155505"/>
                </a:cubicBezTo>
                <a:lnTo>
                  <a:pt x="0" y="31801"/>
                </a:lnTo>
                <a:cubicBezTo>
                  <a:pt x="0" y="14238"/>
                  <a:pt x="14238" y="0"/>
                  <a:pt x="31801" y="0"/>
                </a:cubicBezTo>
                <a:close/>
              </a:path>
            </a:pathLst>
          </a:custGeom>
          <a:solidFill>
            <a:srgbClr val="F9F9F9">
              <a:alpha val="0"/>
            </a:srgbClr>
          </a:solidFill>
          <a:ln w="38100" cap="sq">
            <a:solidFill>
              <a:srgbClr val="263035"/>
            </a:solidFill>
            <a:prstDash val="solid"/>
            <a:miter/>
          </a:ln>
        </p:spPr>
        <p:txBody>
          <a:bodyPr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상품</a:t>
            </a:r>
            <a:r>
              <a:rPr lang="en-US" altLang="ko-KR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경매상품 구매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안전거래 </a:t>
            </a:r>
            <a:r>
              <a:rPr lang="en-US" altLang="ko-KR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 </a:t>
            </a:r>
            <a:r>
              <a:rPr lang="ko-KR" altLang="en-US" dirty="0" err="1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에스크로</a:t>
            </a: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3F8CB91-6106-A542-5875-F35E8F060E68}"/>
              </a:ext>
            </a:extLst>
          </p:cNvPr>
          <p:cNvCxnSpPr/>
          <p:nvPr/>
        </p:nvCxnSpPr>
        <p:spPr>
          <a:xfrm>
            <a:off x="10385718" y="4578937"/>
            <a:ext cx="0" cy="514679"/>
          </a:xfrm>
          <a:prstGeom prst="line">
            <a:avLst/>
          </a:prstGeom>
          <a:solidFill>
            <a:srgbClr val="F9F9F9">
              <a:alpha val="0"/>
            </a:srgbClr>
          </a:solidFill>
          <a:ln w="38100" cap="sq">
            <a:solidFill>
              <a:srgbClr val="263035"/>
            </a:solidFill>
            <a:prstDash val="solid"/>
            <a:miter/>
          </a:ln>
        </p:spPr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C0FC148-0A1C-B764-7808-643B759319E1}"/>
              </a:ext>
            </a:extLst>
          </p:cNvPr>
          <p:cNvCxnSpPr/>
          <p:nvPr/>
        </p:nvCxnSpPr>
        <p:spPr>
          <a:xfrm flipH="1">
            <a:off x="9092155" y="4836276"/>
            <a:ext cx="1293563" cy="14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7D01ACCE-CFAE-73DC-890D-EB581F15CD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79" t="8497" r="18479"/>
          <a:stretch>
            <a:fillRect/>
          </a:stretch>
        </p:blipFill>
        <p:spPr>
          <a:xfrm>
            <a:off x="838200" y="7087055"/>
            <a:ext cx="2870493" cy="22654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361688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1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BE3F5-458F-B3B8-6EE8-4D98DA5B2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54DD12-0B33-51A8-82EF-E8F70A554CEF}"/>
              </a:ext>
            </a:extLst>
          </p:cNvPr>
          <p:cNvSpPr txBox="1"/>
          <p:nvPr/>
        </p:nvSpPr>
        <p:spPr>
          <a:xfrm>
            <a:off x="4429125" y="4075547"/>
            <a:ext cx="9429750" cy="2135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 algn="ctr">
              <a:lnSpc>
                <a:spcPct val="150000"/>
              </a:lnSpc>
              <a:buFontTx/>
              <a:buAutoNum type="arabicPeriod"/>
            </a:pPr>
            <a:r>
              <a:rPr lang="en-US" altLang="ko-KR" sz="4800" dirty="0"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1</a:t>
            </a:r>
            <a:r>
              <a:rPr lang="ko-KR" altLang="en-US" sz="4800" dirty="0"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학기 </a:t>
            </a:r>
            <a:r>
              <a:rPr lang="ko-KR" altLang="en-US" sz="4800" dirty="0" err="1"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간트차트</a:t>
            </a:r>
            <a:endParaRPr lang="en-US" altLang="ko-KR" sz="4800" dirty="0"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  <a:p>
            <a:pPr marL="1143000" indent="-1143000" algn="ctr">
              <a:lnSpc>
                <a:spcPct val="150000"/>
              </a:lnSpc>
              <a:buFontTx/>
              <a:buAutoNum type="arabicPeriod"/>
            </a:pPr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학기 </a:t>
            </a:r>
            <a:r>
              <a:rPr lang="ko-KR" altLang="en-US" sz="4800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간트차트</a:t>
            </a:r>
            <a:endParaRPr lang="en-US" altLang="ko-KR" sz="48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2FEBBABF-5E12-8688-CC1F-43662F128255}"/>
              </a:ext>
            </a:extLst>
          </p:cNvPr>
          <p:cNvSpPr txBox="1"/>
          <p:nvPr/>
        </p:nvSpPr>
        <p:spPr>
          <a:xfrm>
            <a:off x="1789995" y="1401008"/>
            <a:ext cx="8477003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25"/>
              </a:lnSpc>
              <a:spcBef>
                <a:spcPct val="0"/>
              </a:spcBef>
            </a:pPr>
            <a:r>
              <a:rPr 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03  </a:t>
            </a:r>
            <a:r>
              <a:rPr lang="ko-KR" alt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일정</a:t>
            </a:r>
            <a:endParaRPr lang="en-US" sz="7500" b="1" spc="-27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4" name="AutoShape 8">
            <a:extLst>
              <a:ext uri="{FF2B5EF4-FFF2-40B4-BE49-F238E27FC236}">
                <a16:creationId xmlns:a16="http://schemas.microsoft.com/office/drawing/2014/main" id="{B2C3AD4E-4C96-1ED0-7EAA-95E656162999}"/>
              </a:ext>
            </a:extLst>
          </p:cNvPr>
          <p:cNvSpPr/>
          <p:nvPr/>
        </p:nvSpPr>
        <p:spPr>
          <a:xfrm flipH="1">
            <a:off x="1789995" y="2591633"/>
            <a:ext cx="1135883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606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1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6D2909-EB23-C238-3FE7-41DF265A3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756DE6-5291-9B1E-AD0F-A814F1677F31}"/>
              </a:ext>
            </a:extLst>
          </p:cNvPr>
          <p:cNvSpPr txBox="1"/>
          <p:nvPr/>
        </p:nvSpPr>
        <p:spPr>
          <a:xfrm>
            <a:off x="990600" y="1121688"/>
            <a:ext cx="784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작업일정 </a:t>
            </a:r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– 1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학기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4800CC6-58A0-043C-76CF-143ED5C9C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356748"/>
              </p:ext>
            </p:extLst>
          </p:nvPr>
        </p:nvGraphicFramePr>
        <p:xfrm>
          <a:off x="647692" y="2162175"/>
          <a:ext cx="16992608" cy="740092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817812">
                  <a:extLst>
                    <a:ext uri="{9D8B030D-6E8A-4147-A177-3AD203B41FA5}">
                      <a16:colId xmlns:a16="http://schemas.microsoft.com/office/drawing/2014/main" val="1306523136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2501421171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1540531405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3602177195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3181728867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202715914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1434439135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336528572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920177850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530416495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1359794757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2588804835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3303744951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2386204257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3272650377"/>
                    </a:ext>
                  </a:extLst>
                </a:gridCol>
              </a:tblGrid>
              <a:tr h="620967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중간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en-US" altLang="ko-KR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기말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en-US" altLang="ko-KR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43520985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DB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450416"/>
                  </a:ext>
                </a:extLst>
              </a:tr>
              <a:tr h="6464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로그인</a:t>
                      </a:r>
                      <a:r>
                        <a:rPr lang="en-US" altLang="ko-KR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회원가입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971375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사이트페이지</a:t>
                      </a:r>
                      <a:endParaRPr lang="en-US" altLang="ko-KR" sz="1300" b="1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2250355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상품등록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390695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안전거래</a:t>
                      </a:r>
                      <a:endParaRPr lang="en-US" altLang="ko-KR" sz="1300" b="1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3097935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위치기반 검색</a:t>
                      </a:r>
                      <a:endParaRPr lang="en-US" altLang="ko-KR" sz="1300" b="1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460042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포인트 충전 및</a:t>
                      </a:r>
                      <a:endParaRPr lang="en-US" altLang="ko-KR" sz="1300" b="1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결제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242917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채팅기능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8304467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 err="1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알림전송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8599155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 err="1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상품정렬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0605873"/>
                  </a:ext>
                </a:extLst>
              </a:tr>
              <a:tr h="54476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카테고리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6748"/>
                  </a:ext>
                </a:extLst>
              </a:tr>
            </a:tbl>
          </a:graphicData>
        </a:graphic>
      </p:graphicFrame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BFB1F79-7A73-733D-29B8-E5EB64665949}"/>
              </a:ext>
            </a:extLst>
          </p:cNvPr>
          <p:cNvSpPr/>
          <p:nvPr/>
        </p:nvSpPr>
        <p:spPr>
          <a:xfrm>
            <a:off x="2505061" y="3555343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OAuth2</a:t>
            </a:r>
          </a:p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로그인 구현 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BC398B4-54EA-D950-4CF8-4705F4DCC0A4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514710" y="3748460"/>
            <a:ext cx="2162180" cy="21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5731932-A618-DB36-88E6-E809A17105EC}"/>
              </a:ext>
            </a:extLst>
          </p:cNvPr>
          <p:cNvSpPr/>
          <p:nvPr/>
        </p:nvSpPr>
        <p:spPr>
          <a:xfrm>
            <a:off x="2505061" y="2917403"/>
            <a:ext cx="2082813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DB </a:t>
            </a:r>
            <a:r>
              <a:rPr lang="ko-KR" altLang="en-US" sz="1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설계 및 관리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46E03DB-69A6-07C2-7E37-04FC9DC123D1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4587874" y="3112666"/>
            <a:ext cx="11942763" cy="260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6100CE5-8D8B-C7BE-E4C7-C4F6459226FF}"/>
              </a:ext>
            </a:extLst>
          </p:cNvPr>
          <p:cNvSpPr/>
          <p:nvPr/>
        </p:nvSpPr>
        <p:spPr>
          <a:xfrm>
            <a:off x="7915270" y="3555343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프로젝트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결합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B6B835CF-1783-3308-37E8-E3E62E2A10F0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8924919" y="3748460"/>
            <a:ext cx="3295648" cy="21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B6D70745-D13C-6639-E754-12DEC25E4889}"/>
              </a:ext>
            </a:extLst>
          </p:cNvPr>
          <p:cNvSpPr/>
          <p:nvPr/>
        </p:nvSpPr>
        <p:spPr>
          <a:xfrm>
            <a:off x="4667241" y="4807370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DB</a:t>
            </a:r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기반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상품등록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83EEAF3D-4AD7-5C27-C7A1-CBA6C66FF1DC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5676890" y="5000487"/>
            <a:ext cx="1104900" cy="21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ACC1568-7463-4B6A-9D62-5541FFF24E0E}"/>
              </a:ext>
            </a:extLst>
          </p:cNvPr>
          <p:cNvSpPr/>
          <p:nvPr/>
        </p:nvSpPr>
        <p:spPr>
          <a:xfrm>
            <a:off x="7915270" y="4807370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AWS</a:t>
            </a:r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 </a:t>
            </a:r>
            <a:r>
              <a:rPr lang="en-US" altLang="ko-KR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S3</a:t>
            </a:r>
          </a:p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물품등록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D319B6A-B647-A621-64A0-0703E43922D8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8924919" y="5000487"/>
            <a:ext cx="2200281" cy="21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0CE36234-8F0F-4D7D-795A-43097ABE14C0}"/>
              </a:ext>
            </a:extLst>
          </p:cNvPr>
          <p:cNvSpPr/>
          <p:nvPr/>
        </p:nvSpPr>
        <p:spPr>
          <a:xfrm>
            <a:off x="4667241" y="4152900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홈페이지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136B6135-2CD1-029B-E4B3-E5907D93C01B}"/>
              </a:ext>
            </a:extLst>
          </p:cNvPr>
          <p:cNvCxnSpPr>
            <a:cxnSpLocks/>
          </p:cNvCxnSpPr>
          <p:nvPr/>
        </p:nvCxnSpPr>
        <p:spPr>
          <a:xfrm>
            <a:off x="5676890" y="4348163"/>
            <a:ext cx="3333753" cy="52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" name="사각형: 둥근 모서리 1025">
            <a:extLst>
              <a:ext uri="{FF2B5EF4-FFF2-40B4-BE49-F238E27FC236}">
                <a16:creationId xmlns:a16="http://schemas.microsoft.com/office/drawing/2014/main" id="{17DCFBA6-5167-B3E4-F073-7E2C327E740D}"/>
              </a:ext>
            </a:extLst>
          </p:cNvPr>
          <p:cNvSpPr/>
          <p:nvPr/>
        </p:nvSpPr>
        <p:spPr>
          <a:xfrm>
            <a:off x="9001120" y="6038221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위치기반</a:t>
            </a:r>
          </a:p>
        </p:txBody>
      </p:sp>
      <p:sp>
        <p:nvSpPr>
          <p:cNvPr id="1031" name="사각형: 둥근 모서리 1030">
            <a:extLst>
              <a:ext uri="{FF2B5EF4-FFF2-40B4-BE49-F238E27FC236}">
                <a16:creationId xmlns:a16="http://schemas.microsoft.com/office/drawing/2014/main" id="{C7755E87-C766-5B5F-503C-A825E2ABF0FD}"/>
              </a:ext>
            </a:extLst>
          </p:cNvPr>
          <p:cNvSpPr/>
          <p:nvPr/>
        </p:nvSpPr>
        <p:spPr>
          <a:xfrm>
            <a:off x="9010643" y="4152900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상품등록 페이지</a:t>
            </a:r>
          </a:p>
        </p:txBody>
      </p:sp>
      <p:sp>
        <p:nvSpPr>
          <p:cNvPr id="1037" name="사각형: 둥근 모서리 1036">
            <a:extLst>
              <a:ext uri="{FF2B5EF4-FFF2-40B4-BE49-F238E27FC236}">
                <a16:creationId xmlns:a16="http://schemas.microsoft.com/office/drawing/2014/main" id="{3762DD6F-7C33-D01D-553E-F55DC3E37B44}"/>
              </a:ext>
            </a:extLst>
          </p:cNvPr>
          <p:cNvSpPr/>
          <p:nvPr/>
        </p:nvSpPr>
        <p:spPr>
          <a:xfrm>
            <a:off x="11170437" y="4152900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상세정보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페이지</a:t>
            </a:r>
          </a:p>
        </p:txBody>
      </p:sp>
      <p:sp>
        <p:nvSpPr>
          <p:cNvPr id="1038" name="사각형: 둥근 모서리 1037">
            <a:extLst>
              <a:ext uri="{FF2B5EF4-FFF2-40B4-BE49-F238E27FC236}">
                <a16:creationId xmlns:a16="http://schemas.microsoft.com/office/drawing/2014/main" id="{8E1B5E7C-8A8F-A88B-BB97-EE728DA4AFF0}"/>
              </a:ext>
            </a:extLst>
          </p:cNvPr>
          <p:cNvSpPr/>
          <p:nvPr/>
        </p:nvSpPr>
        <p:spPr>
          <a:xfrm>
            <a:off x="7915270" y="6650052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포인트 충전</a:t>
            </a:r>
          </a:p>
        </p:txBody>
      </p:sp>
      <p:cxnSp>
        <p:nvCxnSpPr>
          <p:cNvPr id="1039" name="직선 화살표 연결선 1038">
            <a:extLst>
              <a:ext uri="{FF2B5EF4-FFF2-40B4-BE49-F238E27FC236}">
                <a16:creationId xmlns:a16="http://schemas.microsoft.com/office/drawing/2014/main" id="{85BF0BE0-36CF-4681-408E-62D16C072CC5}"/>
              </a:ext>
            </a:extLst>
          </p:cNvPr>
          <p:cNvCxnSpPr>
            <a:cxnSpLocks/>
          </p:cNvCxnSpPr>
          <p:nvPr/>
        </p:nvCxnSpPr>
        <p:spPr>
          <a:xfrm>
            <a:off x="8934445" y="6845315"/>
            <a:ext cx="10763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6" name="사각형: 둥근 모서리 1045">
            <a:extLst>
              <a:ext uri="{FF2B5EF4-FFF2-40B4-BE49-F238E27FC236}">
                <a16:creationId xmlns:a16="http://schemas.microsoft.com/office/drawing/2014/main" id="{84FF4E04-4631-A989-2109-6F415BD57B2C}"/>
              </a:ext>
            </a:extLst>
          </p:cNvPr>
          <p:cNvSpPr/>
          <p:nvPr/>
        </p:nvSpPr>
        <p:spPr>
          <a:xfrm>
            <a:off x="10086972" y="6650052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상품결제</a:t>
            </a:r>
          </a:p>
        </p:txBody>
      </p:sp>
      <p:cxnSp>
        <p:nvCxnSpPr>
          <p:cNvPr id="1047" name="직선 화살표 연결선 1046">
            <a:extLst>
              <a:ext uri="{FF2B5EF4-FFF2-40B4-BE49-F238E27FC236}">
                <a16:creationId xmlns:a16="http://schemas.microsoft.com/office/drawing/2014/main" id="{849B71E9-CE47-5313-1DE6-A19DF15FFB74}"/>
              </a:ext>
            </a:extLst>
          </p:cNvPr>
          <p:cNvCxnSpPr>
            <a:cxnSpLocks/>
          </p:cNvCxnSpPr>
          <p:nvPr/>
        </p:nvCxnSpPr>
        <p:spPr>
          <a:xfrm>
            <a:off x="11096621" y="6845315"/>
            <a:ext cx="10763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" name="사각형: 둥근 모서리 1047">
            <a:extLst>
              <a:ext uri="{FF2B5EF4-FFF2-40B4-BE49-F238E27FC236}">
                <a16:creationId xmlns:a16="http://schemas.microsoft.com/office/drawing/2014/main" id="{4EBC3ED2-6360-6953-D648-435C5A1F9478}"/>
              </a:ext>
            </a:extLst>
          </p:cNvPr>
          <p:cNvSpPr/>
          <p:nvPr/>
        </p:nvSpPr>
        <p:spPr>
          <a:xfrm>
            <a:off x="10086972" y="4152900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상품목록 페이지</a:t>
            </a:r>
          </a:p>
        </p:txBody>
      </p:sp>
      <p:sp>
        <p:nvSpPr>
          <p:cNvPr id="1050" name="사각형: 둥근 모서리 1049">
            <a:extLst>
              <a:ext uri="{FF2B5EF4-FFF2-40B4-BE49-F238E27FC236}">
                <a16:creationId xmlns:a16="http://schemas.microsoft.com/office/drawing/2014/main" id="{36682BD9-3E5B-006A-ADCD-C4DE37DD3BC0}"/>
              </a:ext>
            </a:extLst>
          </p:cNvPr>
          <p:cNvSpPr/>
          <p:nvPr/>
        </p:nvSpPr>
        <p:spPr>
          <a:xfrm>
            <a:off x="12258672" y="4152900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마이페이지</a:t>
            </a:r>
          </a:p>
        </p:txBody>
      </p:sp>
      <p:cxnSp>
        <p:nvCxnSpPr>
          <p:cNvPr id="1051" name="직선 화살표 연결선 1050">
            <a:extLst>
              <a:ext uri="{FF2B5EF4-FFF2-40B4-BE49-F238E27FC236}">
                <a16:creationId xmlns:a16="http://schemas.microsoft.com/office/drawing/2014/main" id="{FCC11D5D-D7C4-322B-BE3F-3DB837BF7AD5}"/>
              </a:ext>
            </a:extLst>
          </p:cNvPr>
          <p:cNvCxnSpPr>
            <a:cxnSpLocks/>
          </p:cNvCxnSpPr>
          <p:nvPr/>
        </p:nvCxnSpPr>
        <p:spPr>
          <a:xfrm>
            <a:off x="10009579" y="6229087"/>
            <a:ext cx="1076321" cy="41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사각형: 둥근 모서리 1057">
            <a:extLst>
              <a:ext uri="{FF2B5EF4-FFF2-40B4-BE49-F238E27FC236}">
                <a16:creationId xmlns:a16="http://schemas.microsoft.com/office/drawing/2014/main" id="{1D011EDD-E013-EE98-C9BB-74BBBC207F16}"/>
              </a:ext>
            </a:extLst>
          </p:cNvPr>
          <p:cNvSpPr/>
          <p:nvPr/>
        </p:nvSpPr>
        <p:spPr>
          <a:xfrm>
            <a:off x="7915270" y="727270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실시간채팅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cxnSp>
        <p:nvCxnSpPr>
          <p:cNvPr id="1059" name="직선 화살표 연결선 1058">
            <a:extLst>
              <a:ext uri="{FF2B5EF4-FFF2-40B4-BE49-F238E27FC236}">
                <a16:creationId xmlns:a16="http://schemas.microsoft.com/office/drawing/2014/main" id="{88A22AED-C452-6AF1-030F-A5368547FE3B}"/>
              </a:ext>
            </a:extLst>
          </p:cNvPr>
          <p:cNvCxnSpPr>
            <a:cxnSpLocks/>
            <a:stCxn id="1058" idx="3"/>
          </p:cNvCxnSpPr>
          <p:nvPr/>
        </p:nvCxnSpPr>
        <p:spPr>
          <a:xfrm>
            <a:off x="8924919" y="7467967"/>
            <a:ext cx="324564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3" name="사각형: 둥근 모서리 1062">
            <a:extLst>
              <a:ext uri="{FF2B5EF4-FFF2-40B4-BE49-F238E27FC236}">
                <a16:creationId xmlns:a16="http://schemas.microsoft.com/office/drawing/2014/main" id="{08CC1E41-ED43-6339-3494-3E3D1E674DE0}"/>
              </a:ext>
            </a:extLst>
          </p:cNvPr>
          <p:cNvSpPr/>
          <p:nvPr/>
        </p:nvSpPr>
        <p:spPr>
          <a:xfrm>
            <a:off x="12258672" y="7904882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메일서비스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1068" name="사각형: 둥근 모서리 1067">
            <a:extLst>
              <a:ext uri="{FF2B5EF4-FFF2-40B4-BE49-F238E27FC236}">
                <a16:creationId xmlns:a16="http://schemas.microsoft.com/office/drawing/2014/main" id="{77A63DF0-65ED-F44A-5FD0-906010D8EE08}"/>
              </a:ext>
            </a:extLst>
          </p:cNvPr>
          <p:cNvSpPr/>
          <p:nvPr/>
        </p:nvSpPr>
        <p:spPr>
          <a:xfrm>
            <a:off x="14424023" y="4152900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관심있는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상품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1070" name="사각형: 둥근 모서리 1069">
            <a:extLst>
              <a:ext uri="{FF2B5EF4-FFF2-40B4-BE49-F238E27FC236}">
                <a16:creationId xmlns:a16="http://schemas.microsoft.com/office/drawing/2014/main" id="{A40EBECC-AC3E-CDB1-BB59-2C2F16FC12A0}"/>
              </a:ext>
            </a:extLst>
          </p:cNvPr>
          <p:cNvSpPr/>
          <p:nvPr/>
        </p:nvSpPr>
        <p:spPr>
          <a:xfrm>
            <a:off x="13342133" y="414850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구매내역</a:t>
            </a:r>
            <a:r>
              <a:rPr lang="en-US" altLang="ko-KR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/</a:t>
            </a:r>
          </a:p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판매내역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cxnSp>
        <p:nvCxnSpPr>
          <p:cNvPr id="1072" name="직선 화살표 연결선 1071">
            <a:extLst>
              <a:ext uri="{FF2B5EF4-FFF2-40B4-BE49-F238E27FC236}">
                <a16:creationId xmlns:a16="http://schemas.microsoft.com/office/drawing/2014/main" id="{ADC4AD2C-2442-D565-C03D-52A553164945}"/>
              </a:ext>
            </a:extLst>
          </p:cNvPr>
          <p:cNvCxnSpPr>
            <a:cxnSpLocks/>
          </p:cNvCxnSpPr>
          <p:nvPr/>
        </p:nvCxnSpPr>
        <p:spPr>
          <a:xfrm>
            <a:off x="13308796" y="8095749"/>
            <a:ext cx="10763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3" name="사각형: 둥근 모서리 1072">
            <a:extLst>
              <a:ext uri="{FF2B5EF4-FFF2-40B4-BE49-F238E27FC236}">
                <a16:creationId xmlns:a16="http://schemas.microsoft.com/office/drawing/2014/main" id="{A70CA0D7-1896-0EB6-73AF-3B8E36D93DC6}"/>
              </a:ext>
            </a:extLst>
          </p:cNvPr>
          <p:cNvSpPr/>
          <p:nvPr/>
        </p:nvSpPr>
        <p:spPr>
          <a:xfrm>
            <a:off x="11170437" y="7904882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FCM</a:t>
            </a:r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구현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1074" name="사각형: 둥근 모서리 1073">
            <a:extLst>
              <a:ext uri="{FF2B5EF4-FFF2-40B4-BE49-F238E27FC236}">
                <a16:creationId xmlns:a16="http://schemas.microsoft.com/office/drawing/2014/main" id="{7C8D03FF-B94F-9374-A9CF-8115D8C755C5}"/>
              </a:ext>
            </a:extLst>
          </p:cNvPr>
          <p:cNvSpPr/>
          <p:nvPr/>
        </p:nvSpPr>
        <p:spPr>
          <a:xfrm>
            <a:off x="11170437" y="853851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관심상품 정렬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84E95E5-A9D9-40BF-B777-FCB78CA04BCF}"/>
              </a:ext>
            </a:extLst>
          </p:cNvPr>
          <p:cNvSpPr/>
          <p:nvPr/>
        </p:nvSpPr>
        <p:spPr>
          <a:xfrm>
            <a:off x="12258672" y="727270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읽음처리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7FFA020-F256-FA98-3291-FBADF256AF29}"/>
              </a:ext>
            </a:extLst>
          </p:cNvPr>
          <p:cNvSpPr/>
          <p:nvPr/>
        </p:nvSpPr>
        <p:spPr>
          <a:xfrm>
            <a:off x="13342133" y="727270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알림 </a:t>
            </a:r>
            <a:r>
              <a:rPr lang="ko-KR" altLang="en-US" sz="1000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뱃지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06089C2-0416-F9EE-DA15-9122366FD671}"/>
              </a:ext>
            </a:extLst>
          </p:cNvPr>
          <p:cNvSpPr/>
          <p:nvPr/>
        </p:nvSpPr>
        <p:spPr>
          <a:xfrm>
            <a:off x="11170437" y="4822621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위치 등록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C4ECF67-E877-4991-61CF-242DB7BC05E6}"/>
              </a:ext>
            </a:extLst>
          </p:cNvPr>
          <p:cNvSpPr/>
          <p:nvPr/>
        </p:nvSpPr>
        <p:spPr>
          <a:xfrm>
            <a:off x="11170437" y="6028891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오타대응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2CA4EF3-7DB0-4083-FC4D-14021DC8B994}"/>
              </a:ext>
            </a:extLst>
          </p:cNvPr>
          <p:cNvSpPr/>
          <p:nvPr/>
        </p:nvSpPr>
        <p:spPr>
          <a:xfrm>
            <a:off x="12258672" y="6038221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자동완성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AE3BDF6-5A19-02E7-C1CE-3EA84E37B061}"/>
              </a:ext>
            </a:extLst>
          </p:cNvPr>
          <p:cNvCxnSpPr>
            <a:cxnSpLocks/>
          </p:cNvCxnSpPr>
          <p:nvPr/>
        </p:nvCxnSpPr>
        <p:spPr>
          <a:xfrm>
            <a:off x="13311174" y="6224015"/>
            <a:ext cx="1071566" cy="101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C8F29C8-4E33-14D5-8778-6EBF776E1DF0}"/>
              </a:ext>
            </a:extLst>
          </p:cNvPr>
          <p:cNvSpPr/>
          <p:nvPr/>
        </p:nvSpPr>
        <p:spPr>
          <a:xfrm>
            <a:off x="12258672" y="853851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조회수 정렬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FCFBB9A-4C37-E2B7-8078-F21B5DAC1769}"/>
              </a:ext>
            </a:extLst>
          </p:cNvPr>
          <p:cNvSpPr/>
          <p:nvPr/>
        </p:nvSpPr>
        <p:spPr>
          <a:xfrm>
            <a:off x="13342133" y="8534118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최신순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E5C02C6-542C-852D-08AE-865F498E6170}"/>
              </a:ext>
            </a:extLst>
          </p:cNvPr>
          <p:cNvSpPr/>
          <p:nvPr/>
        </p:nvSpPr>
        <p:spPr>
          <a:xfrm>
            <a:off x="14424023" y="853851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관심상품 조회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FADA73D-BB54-364B-FC63-FE0094064362}"/>
              </a:ext>
            </a:extLst>
          </p:cNvPr>
          <p:cNvSpPr/>
          <p:nvPr/>
        </p:nvSpPr>
        <p:spPr>
          <a:xfrm>
            <a:off x="14424023" y="9085079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카테고리 추천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642DC7C-4B6B-7822-49C4-FC8CEBC1B80F}"/>
              </a:ext>
            </a:extLst>
          </p:cNvPr>
          <p:cNvSpPr/>
          <p:nvPr/>
        </p:nvSpPr>
        <p:spPr>
          <a:xfrm>
            <a:off x="13342133" y="9085786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카테고리 정렬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E8F7B4E-4CE7-04E8-4552-5EA18B5060C2}"/>
              </a:ext>
            </a:extLst>
          </p:cNvPr>
          <p:cNvSpPr/>
          <p:nvPr/>
        </p:nvSpPr>
        <p:spPr>
          <a:xfrm>
            <a:off x="12258672" y="5429583"/>
            <a:ext cx="2093110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MockAPI</a:t>
            </a:r>
            <a:r>
              <a:rPr lang="en-US" altLang="ko-KR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 </a:t>
            </a:r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배송구현 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9EEA7F5-D16C-EB6B-887D-FAC12D0C1D92}"/>
              </a:ext>
            </a:extLst>
          </p:cNvPr>
          <p:cNvSpPr/>
          <p:nvPr/>
        </p:nvSpPr>
        <p:spPr>
          <a:xfrm>
            <a:off x="5750709" y="7279848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프론트구현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F7F6A3C-3A5C-A295-3054-9B87D6EA9E06}"/>
              </a:ext>
            </a:extLst>
          </p:cNvPr>
          <p:cNvSpPr/>
          <p:nvPr/>
        </p:nvSpPr>
        <p:spPr>
          <a:xfrm>
            <a:off x="7915270" y="909337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프론트구현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9556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1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446A96-9DFF-5F50-8CB8-A2527717E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050846-93A1-79B8-816B-A6614949ADDC}"/>
              </a:ext>
            </a:extLst>
          </p:cNvPr>
          <p:cNvSpPr txBox="1"/>
          <p:nvPr/>
        </p:nvSpPr>
        <p:spPr>
          <a:xfrm>
            <a:off x="990600" y="1121688"/>
            <a:ext cx="784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작업일정 </a:t>
            </a:r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– 2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학기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2C1412A-7E04-34D8-8A4F-52BBE7476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818113"/>
              </p:ext>
            </p:extLst>
          </p:nvPr>
        </p:nvGraphicFramePr>
        <p:xfrm>
          <a:off x="1962157" y="3507965"/>
          <a:ext cx="14363686" cy="416642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256148">
                  <a:extLst>
                    <a:ext uri="{9D8B030D-6E8A-4147-A177-3AD203B41FA5}">
                      <a16:colId xmlns:a16="http://schemas.microsoft.com/office/drawing/2014/main" val="1306523136"/>
                    </a:ext>
                  </a:extLst>
                </a:gridCol>
                <a:gridCol w="1345282">
                  <a:extLst>
                    <a:ext uri="{9D8B030D-6E8A-4147-A177-3AD203B41FA5}">
                      <a16:colId xmlns:a16="http://schemas.microsoft.com/office/drawing/2014/main" val="2501421171"/>
                    </a:ext>
                  </a:extLst>
                </a:gridCol>
                <a:gridCol w="1345282">
                  <a:extLst>
                    <a:ext uri="{9D8B030D-6E8A-4147-A177-3AD203B41FA5}">
                      <a16:colId xmlns:a16="http://schemas.microsoft.com/office/drawing/2014/main" val="1540531405"/>
                    </a:ext>
                  </a:extLst>
                </a:gridCol>
                <a:gridCol w="1345282">
                  <a:extLst>
                    <a:ext uri="{9D8B030D-6E8A-4147-A177-3AD203B41FA5}">
                      <a16:colId xmlns:a16="http://schemas.microsoft.com/office/drawing/2014/main" val="3602177195"/>
                    </a:ext>
                  </a:extLst>
                </a:gridCol>
                <a:gridCol w="1345282">
                  <a:extLst>
                    <a:ext uri="{9D8B030D-6E8A-4147-A177-3AD203B41FA5}">
                      <a16:colId xmlns:a16="http://schemas.microsoft.com/office/drawing/2014/main" val="3181728867"/>
                    </a:ext>
                  </a:extLst>
                </a:gridCol>
                <a:gridCol w="1345282">
                  <a:extLst>
                    <a:ext uri="{9D8B030D-6E8A-4147-A177-3AD203B41FA5}">
                      <a16:colId xmlns:a16="http://schemas.microsoft.com/office/drawing/2014/main" val="202715914"/>
                    </a:ext>
                  </a:extLst>
                </a:gridCol>
                <a:gridCol w="1345282">
                  <a:extLst>
                    <a:ext uri="{9D8B030D-6E8A-4147-A177-3AD203B41FA5}">
                      <a16:colId xmlns:a16="http://schemas.microsoft.com/office/drawing/2014/main" val="1434439135"/>
                    </a:ext>
                  </a:extLst>
                </a:gridCol>
                <a:gridCol w="1345282">
                  <a:extLst>
                    <a:ext uri="{9D8B030D-6E8A-4147-A177-3AD203B41FA5}">
                      <a16:colId xmlns:a16="http://schemas.microsoft.com/office/drawing/2014/main" val="336528572"/>
                    </a:ext>
                  </a:extLst>
                </a:gridCol>
                <a:gridCol w="1345282">
                  <a:extLst>
                    <a:ext uri="{9D8B030D-6E8A-4147-A177-3AD203B41FA5}">
                      <a16:colId xmlns:a16="http://schemas.microsoft.com/office/drawing/2014/main" val="920177850"/>
                    </a:ext>
                  </a:extLst>
                </a:gridCol>
                <a:gridCol w="1345282">
                  <a:extLst>
                    <a:ext uri="{9D8B030D-6E8A-4147-A177-3AD203B41FA5}">
                      <a16:colId xmlns:a16="http://schemas.microsoft.com/office/drawing/2014/main" val="530416495"/>
                    </a:ext>
                  </a:extLst>
                </a:gridCol>
              </a:tblGrid>
              <a:tr h="826491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43520985"/>
                  </a:ext>
                </a:extLst>
              </a:tr>
              <a:tr h="82649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i="0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프로젝트 재구성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450416"/>
                  </a:ext>
                </a:extLst>
              </a:tr>
              <a:tr h="8604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경매 페이지</a:t>
                      </a:r>
                      <a:endParaRPr lang="en-US" altLang="ko-KR" sz="1300" b="1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971375"/>
                  </a:ext>
                </a:extLst>
              </a:tr>
              <a:tr h="82649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커뮤니티 페이지</a:t>
                      </a:r>
                      <a:endParaRPr lang="en-US" altLang="ko-KR" sz="1300" b="1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2250355"/>
                  </a:ext>
                </a:extLst>
              </a:tr>
              <a:tr h="8264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1" i="0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Aws</a:t>
                      </a:r>
                      <a:r>
                        <a:rPr lang="ko-KR" altLang="en-US" sz="1300" b="1" i="0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배포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390695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D14135E-395C-71CA-6EDD-F4BD69896BC3}"/>
              </a:ext>
            </a:extLst>
          </p:cNvPr>
          <p:cNvSpPr/>
          <p:nvPr/>
        </p:nvSpPr>
        <p:spPr>
          <a:xfrm>
            <a:off x="4248154" y="4582999"/>
            <a:ext cx="6657970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AWS </a:t>
            </a:r>
            <a:r>
              <a:rPr lang="ko-KR" altLang="en-US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배포</a:t>
            </a:r>
            <a:r>
              <a:rPr lang="en-US" altLang="ko-KR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로그인 인증방식 변경</a:t>
            </a:r>
            <a:r>
              <a:rPr lang="en-US" altLang="ko-KR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, API</a:t>
            </a:r>
            <a:r>
              <a:rPr lang="ko-KR" altLang="en-US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키 정리 및 코드 최적화를 위해 프로젝트 재구성</a:t>
            </a:r>
            <a:r>
              <a:rPr lang="en-US" altLang="ko-KR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 </a:t>
            </a:r>
            <a:endParaRPr lang="ko-KR" altLang="en-US" sz="1200" b="1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24032E2-1BD8-90EE-7BF3-994B8571A2EF}"/>
              </a:ext>
            </a:extLst>
          </p:cNvPr>
          <p:cNvSpPr/>
          <p:nvPr/>
        </p:nvSpPr>
        <p:spPr>
          <a:xfrm>
            <a:off x="9629161" y="5415698"/>
            <a:ext cx="3968852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백엔드</a:t>
            </a:r>
            <a:r>
              <a:rPr lang="ko-KR" altLang="en-US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 구현 </a:t>
            </a:r>
            <a:r>
              <a:rPr lang="en-US" altLang="ko-KR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입찰</a:t>
            </a:r>
            <a:r>
              <a:rPr lang="en-US" altLang="ko-KR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낙찰</a:t>
            </a:r>
            <a:r>
              <a:rPr lang="en-US" altLang="ko-KR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알림</a:t>
            </a:r>
            <a:r>
              <a:rPr lang="en-US" altLang="ko-KR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결제 및 배송</a:t>
            </a:r>
            <a:r>
              <a:rPr lang="en-US" altLang="ko-KR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)</a:t>
            </a:r>
            <a:endParaRPr lang="ko-KR" altLang="en-US" sz="1200" b="1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7616A9E-1B98-0399-6036-3029B943DFD0}"/>
              </a:ext>
            </a:extLst>
          </p:cNvPr>
          <p:cNvSpPr/>
          <p:nvPr/>
        </p:nvSpPr>
        <p:spPr>
          <a:xfrm>
            <a:off x="9629779" y="6244375"/>
            <a:ext cx="2619371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백엔드</a:t>
            </a:r>
            <a:r>
              <a:rPr lang="ko-KR" altLang="en-US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 구현 </a:t>
            </a:r>
            <a:r>
              <a:rPr lang="en-US" altLang="ko-KR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( </a:t>
            </a:r>
            <a:r>
              <a:rPr lang="ko-KR" altLang="en-US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등록</a:t>
            </a:r>
            <a:r>
              <a:rPr lang="en-US" altLang="ko-KR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삭제</a:t>
            </a:r>
            <a:r>
              <a:rPr lang="en-US" altLang="ko-KR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댓글 </a:t>
            </a:r>
            <a:r>
              <a:rPr lang="en-US" altLang="ko-KR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)</a:t>
            </a:r>
            <a:r>
              <a:rPr lang="ko-KR" altLang="en-US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8E59A8C-9A25-2F32-FB68-E7A3629F1598}"/>
              </a:ext>
            </a:extLst>
          </p:cNvPr>
          <p:cNvSpPr/>
          <p:nvPr/>
        </p:nvSpPr>
        <p:spPr>
          <a:xfrm>
            <a:off x="4248154" y="7077074"/>
            <a:ext cx="1276345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배포테스트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2C27EB6-65E6-99AC-E3E0-3CAC3B7CA544}"/>
              </a:ext>
            </a:extLst>
          </p:cNvPr>
          <p:cNvSpPr/>
          <p:nvPr/>
        </p:nvSpPr>
        <p:spPr>
          <a:xfrm>
            <a:off x="6943729" y="7077074"/>
            <a:ext cx="1276345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배포테스트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4D7929A-0F9B-2684-244F-369A9025F793}"/>
              </a:ext>
            </a:extLst>
          </p:cNvPr>
          <p:cNvSpPr/>
          <p:nvPr/>
        </p:nvSpPr>
        <p:spPr>
          <a:xfrm>
            <a:off x="10972805" y="7077074"/>
            <a:ext cx="1276345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배포테스트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92458A8-8786-6D3E-5BB1-0F5A31259D8E}"/>
              </a:ext>
            </a:extLst>
          </p:cNvPr>
          <p:cNvSpPr/>
          <p:nvPr/>
        </p:nvSpPr>
        <p:spPr>
          <a:xfrm>
            <a:off x="4248154" y="6244375"/>
            <a:ext cx="1276345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프론트구상</a:t>
            </a:r>
            <a:endParaRPr lang="ko-KR" altLang="en-US" sz="1200" b="1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DC98AAF-797D-2DB8-3E92-50E83D06349F}"/>
              </a:ext>
            </a:extLst>
          </p:cNvPr>
          <p:cNvSpPr/>
          <p:nvPr/>
        </p:nvSpPr>
        <p:spPr>
          <a:xfrm>
            <a:off x="8286754" y="5415698"/>
            <a:ext cx="1276345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프론트구현</a:t>
            </a:r>
            <a:endParaRPr lang="ko-KR" altLang="en-US" sz="1200" b="1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B636430-357D-17C8-248F-CE55289CB70B}"/>
              </a:ext>
            </a:extLst>
          </p:cNvPr>
          <p:cNvSpPr/>
          <p:nvPr/>
        </p:nvSpPr>
        <p:spPr>
          <a:xfrm>
            <a:off x="8286754" y="6244375"/>
            <a:ext cx="1276345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프론트구현</a:t>
            </a:r>
            <a:endParaRPr lang="ko-KR" altLang="en-US" sz="1200" b="1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9F4F823-71FD-D016-5682-F1AC23444CF7}"/>
              </a:ext>
            </a:extLst>
          </p:cNvPr>
          <p:cNvSpPr/>
          <p:nvPr/>
        </p:nvSpPr>
        <p:spPr>
          <a:xfrm>
            <a:off x="15011405" y="7077074"/>
            <a:ext cx="1276345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j-ea"/>
                <a:ea typeface="+mj-ea"/>
              </a:rPr>
              <a:t>배포</a:t>
            </a:r>
          </a:p>
        </p:txBody>
      </p:sp>
    </p:spTree>
    <p:extLst>
      <p:ext uri="{BB962C8B-B14F-4D97-AF65-F5344CB8AC3E}">
        <p14:creationId xmlns:p14="http://schemas.microsoft.com/office/powerpoint/2010/main" val="4068977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1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712F95-91D7-DF65-7D73-D282098D0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399E2E-6E39-7468-1C5E-EA6C6B5AA017}"/>
              </a:ext>
            </a:extLst>
          </p:cNvPr>
          <p:cNvSpPr txBox="1"/>
          <p:nvPr/>
        </p:nvSpPr>
        <p:spPr>
          <a:xfrm>
            <a:off x="6629400" y="4226794"/>
            <a:ext cx="6096000" cy="2135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>
              <a:lnSpc>
                <a:spcPct val="150000"/>
              </a:lnSpc>
              <a:buFontTx/>
              <a:buAutoNum type="arabicPeriod"/>
            </a:pP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시스템 구성</a:t>
            </a:r>
            <a:endParaRPr lang="en-US" altLang="ko-KR" sz="48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143000" indent="-1143000">
              <a:lnSpc>
                <a:spcPct val="150000"/>
              </a:lnSpc>
              <a:buFontTx/>
              <a:buAutoNum type="arabicPeriod"/>
            </a:pPr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ERD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EF5AA389-2374-943C-7204-08701E82AD4B}"/>
              </a:ext>
            </a:extLst>
          </p:cNvPr>
          <p:cNvSpPr txBox="1"/>
          <p:nvPr/>
        </p:nvSpPr>
        <p:spPr>
          <a:xfrm>
            <a:off x="1789995" y="1401008"/>
            <a:ext cx="8477003" cy="1141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25"/>
              </a:lnSpc>
              <a:spcBef>
                <a:spcPct val="0"/>
              </a:spcBef>
            </a:pPr>
            <a:r>
              <a:rPr 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04  </a:t>
            </a:r>
            <a:r>
              <a:rPr lang="ko-KR" alt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구성</a:t>
            </a:r>
            <a:endParaRPr lang="en-US" sz="7500" b="1" spc="-27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4705C713-3CFC-8F3A-E5AF-57CEEFCD1CB8}"/>
              </a:ext>
            </a:extLst>
          </p:cNvPr>
          <p:cNvSpPr/>
          <p:nvPr/>
        </p:nvSpPr>
        <p:spPr>
          <a:xfrm flipH="1">
            <a:off x="1789995" y="2591633"/>
            <a:ext cx="1135883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230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1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9832F6-E71B-85E9-FD92-EFC4DDB70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5CE2CE-BAB0-2081-CF66-608BD0C22EAE}"/>
              </a:ext>
            </a:extLst>
          </p:cNvPr>
          <p:cNvSpPr txBox="1"/>
          <p:nvPr/>
        </p:nvSpPr>
        <p:spPr>
          <a:xfrm>
            <a:off x="990600" y="1112103"/>
            <a:ext cx="365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시스템 구성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3E6F28E8-62DF-B3EA-3063-58A8E9DD1B26}"/>
              </a:ext>
            </a:extLst>
          </p:cNvPr>
          <p:cNvGrpSpPr/>
          <p:nvPr/>
        </p:nvGrpSpPr>
        <p:grpSpPr>
          <a:xfrm>
            <a:off x="8012857" y="4950095"/>
            <a:ext cx="2798288" cy="3537685"/>
            <a:chOff x="9800929" y="3211395"/>
            <a:chExt cx="2798288" cy="3537685"/>
          </a:xfrm>
        </p:grpSpPr>
        <p:pic>
          <p:nvPicPr>
            <p:cNvPr id="21" name="그림 20" descr="폰트, 그래픽, 로고, 그래픽 디자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C05D16FA-EA92-4C4A-FE79-878E7A56C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3540" y="4613194"/>
              <a:ext cx="2379225" cy="1249093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93D0AB2-D345-6DFF-3242-48F6F86205A2}"/>
                </a:ext>
              </a:extLst>
            </p:cNvPr>
            <p:cNvSpPr/>
            <p:nvPr/>
          </p:nvSpPr>
          <p:spPr>
            <a:xfrm>
              <a:off x="9800929" y="3726402"/>
              <a:ext cx="2798288" cy="3022678"/>
            </a:xfrm>
            <a:prstGeom prst="rect">
              <a:avLst/>
            </a:prstGeom>
            <a:noFill/>
            <a:ln w="57150">
              <a:solidFill>
                <a:srgbClr val="FBE04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TextBox 11">
              <a:extLst>
                <a:ext uri="{FF2B5EF4-FFF2-40B4-BE49-F238E27FC236}">
                  <a16:creationId xmlns:a16="http://schemas.microsoft.com/office/drawing/2014/main" id="{C815BDD7-6938-457B-4D59-C36E0270CB3B}"/>
                </a:ext>
              </a:extLst>
            </p:cNvPr>
            <p:cNvSpPr txBox="1"/>
            <p:nvPr/>
          </p:nvSpPr>
          <p:spPr>
            <a:xfrm>
              <a:off x="10167010" y="3211395"/>
              <a:ext cx="2153660" cy="4693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172"/>
                </a:lnSpc>
                <a:spcBef>
                  <a:spcPct val="0"/>
                </a:spcBef>
              </a:pPr>
              <a:r>
                <a:rPr lang="en-US" altLang="ko-KR" sz="3000" b="1" spc="1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rPr>
                <a:t>BACK</a:t>
              </a:r>
              <a:endParaRPr lang="en-US" sz="3000" b="1" spc="1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endParaRP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68406CE-3F14-C53F-8F52-15DB92D6E63E}"/>
              </a:ext>
            </a:extLst>
          </p:cNvPr>
          <p:cNvSpPr/>
          <p:nvPr/>
        </p:nvSpPr>
        <p:spPr>
          <a:xfrm>
            <a:off x="2428438" y="2414554"/>
            <a:ext cx="13573562" cy="6760344"/>
          </a:xfrm>
          <a:prstGeom prst="rect">
            <a:avLst/>
          </a:prstGeom>
          <a:noFill/>
          <a:ln w="57150">
            <a:solidFill>
              <a:srgbClr val="F5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EA26AB8-728A-513B-4BA8-F7D338DE11B6}"/>
              </a:ext>
            </a:extLst>
          </p:cNvPr>
          <p:cNvCxnSpPr>
            <a:cxnSpLocks/>
          </p:cNvCxnSpPr>
          <p:nvPr/>
        </p:nvCxnSpPr>
        <p:spPr>
          <a:xfrm flipV="1">
            <a:off x="5846288" y="6591300"/>
            <a:ext cx="2166569" cy="12176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4274BB1-82BE-A19B-F2D8-4F9665B6E22C}"/>
              </a:ext>
            </a:extLst>
          </p:cNvPr>
          <p:cNvCxnSpPr>
            <a:cxnSpLocks/>
            <a:stCxn id="15" idx="3"/>
            <a:endCxn id="27" idx="1"/>
          </p:cNvCxnSpPr>
          <p:nvPr/>
        </p:nvCxnSpPr>
        <p:spPr>
          <a:xfrm flipV="1">
            <a:off x="10811145" y="6969813"/>
            <a:ext cx="1380855" cy="6628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11">
            <a:extLst>
              <a:ext uri="{FF2B5EF4-FFF2-40B4-BE49-F238E27FC236}">
                <a16:creationId xmlns:a16="http://schemas.microsoft.com/office/drawing/2014/main" id="{010C3A32-46F3-A498-7790-98DC75921D9D}"/>
              </a:ext>
            </a:extLst>
          </p:cNvPr>
          <p:cNvSpPr txBox="1"/>
          <p:nvPr/>
        </p:nvSpPr>
        <p:spPr>
          <a:xfrm>
            <a:off x="13955060" y="1851021"/>
            <a:ext cx="2408724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en-US" altLang="ko-KR" sz="3000" b="1" spc="1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SYSTEM</a:t>
            </a:r>
            <a:endParaRPr lang="en-US" sz="3000" b="1" spc="1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187012B-E22E-53EC-FA09-F8E9A820D08C}"/>
              </a:ext>
            </a:extLst>
          </p:cNvPr>
          <p:cNvGrpSpPr/>
          <p:nvPr/>
        </p:nvGrpSpPr>
        <p:grpSpPr>
          <a:xfrm>
            <a:off x="5977511" y="7499122"/>
            <a:ext cx="1959742" cy="1404354"/>
            <a:chOff x="11229881" y="3148597"/>
            <a:chExt cx="1959742" cy="1404354"/>
          </a:xfrm>
        </p:grpSpPr>
        <p:pic>
          <p:nvPicPr>
            <p:cNvPr id="1028" name="Picture 4" descr="Firebase 세로형 락업 로고">
              <a:extLst>
                <a:ext uri="{FF2B5EF4-FFF2-40B4-BE49-F238E27FC236}">
                  <a16:creationId xmlns:a16="http://schemas.microsoft.com/office/drawing/2014/main" id="{B8AC0A47-0769-4F91-1055-906CC66D9A8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75" t="10633" r="24023" b="29283"/>
            <a:stretch>
              <a:fillRect/>
            </a:stretch>
          </p:blipFill>
          <p:spPr bwMode="auto">
            <a:xfrm>
              <a:off x="11714452" y="3148597"/>
              <a:ext cx="990600" cy="11762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11">
              <a:extLst>
                <a:ext uri="{FF2B5EF4-FFF2-40B4-BE49-F238E27FC236}">
                  <a16:creationId xmlns:a16="http://schemas.microsoft.com/office/drawing/2014/main" id="{A4793457-E02A-50C1-8DA5-1BDC94E3717E}"/>
                </a:ext>
              </a:extLst>
            </p:cNvPr>
            <p:cNvSpPr txBox="1"/>
            <p:nvPr/>
          </p:nvSpPr>
          <p:spPr>
            <a:xfrm>
              <a:off x="11229881" y="4096672"/>
              <a:ext cx="1959742" cy="456279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marL="0" lvl="0" indent="0" algn="ctr">
                <a:lnSpc>
                  <a:spcPts val="4172"/>
                </a:lnSpc>
                <a:spcBef>
                  <a:spcPct val="0"/>
                </a:spcBef>
              </a:pPr>
              <a:r>
                <a:rPr lang="en-US" sz="2200" spc="1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rPr>
                <a:t>Firebase FCM</a:t>
              </a:r>
            </a:p>
          </p:txBody>
        </p:sp>
      </p:grpSp>
      <p:pic>
        <p:nvPicPr>
          <p:cNvPr id="22" name="그림 21" descr="그래픽, 폰트, 그래픽 디자인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CFEAED9-30C2-F034-DF5E-77DB980F155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5230" y="5650748"/>
            <a:ext cx="1435771" cy="1076829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F3880C89-136D-C3E9-4C92-8E9ED7EEF5C5}"/>
              </a:ext>
            </a:extLst>
          </p:cNvPr>
          <p:cNvSpPr/>
          <p:nvPr/>
        </p:nvSpPr>
        <p:spPr>
          <a:xfrm>
            <a:off x="12192000" y="5367125"/>
            <a:ext cx="2967422" cy="3205375"/>
          </a:xfrm>
          <a:prstGeom prst="rect">
            <a:avLst/>
          </a:prstGeom>
          <a:noFill/>
          <a:ln w="57150">
            <a:solidFill>
              <a:srgbClr val="FBE0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5" name="그림 34" descr="예술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AA6677-045A-37F8-12E9-1318AA387A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52903" y="7025327"/>
            <a:ext cx="1308020" cy="1308020"/>
          </a:xfrm>
          <a:prstGeom prst="rect">
            <a:avLst/>
          </a:prstGeom>
        </p:spPr>
      </p:pic>
      <p:sp>
        <p:nvSpPr>
          <p:cNvPr id="36" name="TextBox 11">
            <a:extLst>
              <a:ext uri="{FF2B5EF4-FFF2-40B4-BE49-F238E27FC236}">
                <a16:creationId xmlns:a16="http://schemas.microsoft.com/office/drawing/2014/main" id="{13AA9DB0-2A91-8C2C-F71C-12D76DD2613B}"/>
              </a:ext>
            </a:extLst>
          </p:cNvPr>
          <p:cNvSpPr txBox="1"/>
          <p:nvPr/>
        </p:nvSpPr>
        <p:spPr>
          <a:xfrm>
            <a:off x="12630083" y="4852118"/>
            <a:ext cx="2153660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en-US" altLang="ko-KR" sz="3000" b="1" spc="1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DB</a:t>
            </a:r>
            <a:endParaRPr lang="en-US" sz="3000" b="1" spc="1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pic>
        <p:nvPicPr>
          <p:cNvPr id="41" name="그림 40" descr="스크린샷, 그래픽, 원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EEBCA4-56B2-6E3D-90BC-54AD9A556B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92993" y="4096295"/>
            <a:ext cx="1378205" cy="1378205"/>
          </a:xfrm>
          <a:prstGeom prst="rect">
            <a:avLst/>
          </a:prstGeom>
        </p:spPr>
      </p:pic>
      <p:pic>
        <p:nvPicPr>
          <p:cNvPr id="10" name="그림 9" descr="그래픽, 상징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2C9094-FB0E-3E43-2728-8282D8A1677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6226" y="5792931"/>
            <a:ext cx="792465" cy="792465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5A3CA82-F97A-66C4-AE51-CDC7EA32CC30}"/>
              </a:ext>
            </a:extLst>
          </p:cNvPr>
          <p:cNvCxnSpPr>
            <a:cxnSpLocks/>
            <a:stCxn id="1028" idx="3"/>
          </p:cNvCxnSpPr>
          <p:nvPr/>
        </p:nvCxnSpPr>
        <p:spPr>
          <a:xfrm flipV="1">
            <a:off x="7452682" y="7595349"/>
            <a:ext cx="548645" cy="49188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A9E145E-8571-A2FC-A8FA-CCFD6C765630}"/>
              </a:ext>
            </a:extLst>
          </p:cNvPr>
          <p:cNvCxnSpPr>
            <a:cxnSpLocks/>
            <a:endCxn id="1028" idx="1"/>
          </p:cNvCxnSpPr>
          <p:nvPr/>
        </p:nvCxnSpPr>
        <p:spPr>
          <a:xfrm>
            <a:off x="5888722" y="7729674"/>
            <a:ext cx="573360" cy="357555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81BE60F-6B7F-2F04-473D-20F3B9EB330C}"/>
              </a:ext>
            </a:extLst>
          </p:cNvPr>
          <p:cNvSpPr/>
          <p:nvPr/>
        </p:nvSpPr>
        <p:spPr>
          <a:xfrm>
            <a:off x="2794000" y="4057752"/>
            <a:ext cx="12750800" cy="4971948"/>
          </a:xfrm>
          <a:prstGeom prst="rect">
            <a:avLst/>
          </a:prstGeom>
          <a:noFill/>
          <a:ln w="57150">
            <a:solidFill>
              <a:srgbClr val="039B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0" name="그림 59" descr="스크린샷, 그래픽, 디자인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838DF8-D880-5703-375D-E001F4A9315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2852" y="2533911"/>
            <a:ext cx="1858297" cy="1658530"/>
          </a:xfrm>
          <a:prstGeom prst="rect">
            <a:avLst/>
          </a:prstGeom>
        </p:spPr>
      </p:pic>
      <p:pic>
        <p:nvPicPr>
          <p:cNvPr id="62" name="그림 61" descr="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92E81B-2695-FB91-E2BA-9DAB0A1A58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45042" y="710704"/>
            <a:ext cx="1933918" cy="1933918"/>
          </a:xfrm>
          <a:prstGeom prst="rect">
            <a:avLst/>
          </a:prstGeom>
        </p:spPr>
      </p:pic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5445BA2-4544-EF24-B4FA-0F04A46D5B2C}"/>
              </a:ext>
            </a:extLst>
          </p:cNvPr>
          <p:cNvCxnSpPr>
            <a:cxnSpLocks/>
          </p:cNvCxnSpPr>
          <p:nvPr/>
        </p:nvCxnSpPr>
        <p:spPr>
          <a:xfrm flipV="1">
            <a:off x="10822675" y="5242598"/>
            <a:ext cx="749515" cy="782589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41ABB96-CCA3-43D8-AE6C-3B322E8DE602}"/>
              </a:ext>
            </a:extLst>
          </p:cNvPr>
          <p:cNvGrpSpPr/>
          <p:nvPr/>
        </p:nvGrpSpPr>
        <p:grpSpPr>
          <a:xfrm>
            <a:off x="3048000" y="5007919"/>
            <a:ext cx="2798288" cy="3492037"/>
            <a:chOff x="3048000" y="5007919"/>
            <a:chExt cx="2798288" cy="3492037"/>
          </a:xfrm>
        </p:grpSpPr>
        <p:pic>
          <p:nvPicPr>
            <p:cNvPr id="7" name="Picture 2" descr="React png images | PNGWing">
              <a:extLst>
                <a:ext uri="{FF2B5EF4-FFF2-40B4-BE49-F238E27FC236}">
                  <a16:creationId xmlns:a16="http://schemas.microsoft.com/office/drawing/2014/main" id="{9AE3E26A-CB01-12C7-0A25-C6703F791F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4167" b="95833" l="10000" r="90000">
                          <a14:foregroundMark x1="29722" y1="5833" x2="29722" y2="5833"/>
                          <a14:foregroundMark x1="60556" y1="4444" x2="60556" y2="4444"/>
                          <a14:foregroundMark x1="35000" y1="4444" x2="35000" y2="4444"/>
                          <a14:foregroundMark x1="49444" y1="36667" x2="48611" y2="37222"/>
                          <a14:foregroundMark x1="13889" y1="84444" x2="13889" y2="84444"/>
                          <a14:foregroundMark x1="24444" y1="95833" x2="24444" y2="95833"/>
                          <a14:foregroundMark x1="31944" y1="90556" x2="31944" y2="90556"/>
                          <a14:foregroundMark x1="50278" y1="91111" x2="50278" y2="91111"/>
                          <a14:foregroundMark x1="67222" y1="86667" x2="67222" y2="86667"/>
                          <a14:foregroundMark x1="83056" y1="84167" x2="83056" y2="841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6078" y="5719204"/>
              <a:ext cx="1756367" cy="1756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44F20CC-7AC9-7420-DB1F-32ABA5C1F7C8}"/>
                </a:ext>
              </a:extLst>
            </p:cNvPr>
            <p:cNvSpPr/>
            <p:nvPr/>
          </p:nvSpPr>
          <p:spPr>
            <a:xfrm>
              <a:off x="3048000" y="5477278"/>
              <a:ext cx="2798288" cy="3022678"/>
            </a:xfrm>
            <a:prstGeom prst="rect">
              <a:avLst/>
            </a:prstGeom>
            <a:noFill/>
            <a:ln w="57150">
              <a:solidFill>
                <a:srgbClr val="FBE04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0CEBE262-B189-E771-543B-C358302497E8}"/>
                </a:ext>
              </a:extLst>
            </p:cNvPr>
            <p:cNvSpPr txBox="1"/>
            <p:nvPr/>
          </p:nvSpPr>
          <p:spPr>
            <a:xfrm>
              <a:off x="3341124" y="5007919"/>
              <a:ext cx="2153660" cy="4693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172"/>
                </a:lnSpc>
                <a:spcBef>
                  <a:spcPct val="0"/>
                </a:spcBef>
              </a:pPr>
              <a:r>
                <a:rPr lang="en-US" altLang="ko-KR" sz="3000" b="1" spc="1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rPr>
                <a:t>FRONT</a:t>
              </a:r>
              <a:endParaRPr lang="en-US" sz="3000" b="1" spc="1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endParaRPr>
            </a:p>
          </p:txBody>
        </p: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1D7A51EE-4DE4-307C-34CE-B7EB2E2431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1888" y="7499915"/>
              <a:ext cx="833432" cy="8334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11350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1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C4706D-F7C4-A8AD-FC55-AF4B8E635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4">
            <a:extLst>
              <a:ext uri="{FF2B5EF4-FFF2-40B4-BE49-F238E27FC236}">
                <a16:creationId xmlns:a16="http://schemas.microsoft.com/office/drawing/2014/main" id="{B56664F3-03A6-0083-AF75-BED818D251CD}"/>
              </a:ext>
            </a:extLst>
          </p:cNvPr>
          <p:cNvSpPr txBox="1"/>
          <p:nvPr/>
        </p:nvSpPr>
        <p:spPr>
          <a:xfrm>
            <a:off x="641182" y="667629"/>
            <a:ext cx="17005635" cy="891557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84"/>
              </a:lnSpc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EE953E-42CA-A1DE-78ED-07C177CA2FA2}"/>
              </a:ext>
            </a:extLst>
          </p:cNvPr>
          <p:cNvSpPr txBox="1"/>
          <p:nvPr/>
        </p:nvSpPr>
        <p:spPr>
          <a:xfrm>
            <a:off x="990600" y="1112103"/>
            <a:ext cx="167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ERD</a:t>
            </a:r>
            <a:endParaRPr lang="ko-KR" altLang="en-US" sz="48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pic>
        <p:nvPicPr>
          <p:cNvPr id="2928" name="그래픽 2927">
            <a:extLst>
              <a:ext uri="{FF2B5EF4-FFF2-40B4-BE49-F238E27FC236}">
                <a16:creationId xmlns:a16="http://schemas.microsoft.com/office/drawing/2014/main" id="{3EF6B0DD-70D6-6598-0EB1-9E45C90966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3209"/>
          <a:stretch>
            <a:fillRect/>
          </a:stretch>
        </p:blipFill>
        <p:spPr>
          <a:xfrm>
            <a:off x="630296" y="1952171"/>
            <a:ext cx="16884818" cy="742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729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1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F64070-FEBA-7863-D0D4-5536F7E8A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7E929FEF-4418-9491-9529-85BD0FB327B1}"/>
              </a:ext>
            </a:extLst>
          </p:cNvPr>
          <p:cNvSpPr txBox="1"/>
          <p:nvPr/>
        </p:nvSpPr>
        <p:spPr>
          <a:xfrm>
            <a:off x="6400800" y="4572831"/>
            <a:ext cx="5486400" cy="1141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25"/>
              </a:lnSpc>
              <a:spcBef>
                <a:spcPct val="0"/>
              </a:spcBef>
            </a:pPr>
            <a:r>
              <a:rPr 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05  </a:t>
            </a:r>
            <a:r>
              <a:rPr lang="ko-KR" alt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sym typeface="Nanum Square Bold"/>
              </a:rPr>
              <a:t>아키텍처</a:t>
            </a:r>
            <a:endParaRPr lang="en-US" sz="7500" b="1" spc="-27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sym typeface="Nanum Square Bold"/>
            </a:endParaRPr>
          </a:p>
        </p:txBody>
      </p:sp>
    </p:spTree>
    <p:extLst>
      <p:ext uri="{BB962C8B-B14F-4D97-AF65-F5344CB8AC3E}">
        <p14:creationId xmlns:p14="http://schemas.microsoft.com/office/powerpoint/2010/main" val="1842466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7D1C03-C092-C460-D7A0-13FD44F61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C4219D0-0520-C1FD-72E3-87D34DE5E666}"/>
              </a:ext>
            </a:extLst>
          </p:cNvPr>
          <p:cNvSpPr/>
          <p:nvPr/>
        </p:nvSpPr>
        <p:spPr>
          <a:xfrm>
            <a:off x="304800" y="876300"/>
            <a:ext cx="7315200" cy="9144000"/>
          </a:xfrm>
          <a:prstGeom prst="rect">
            <a:avLst/>
          </a:prstGeom>
          <a:noFill/>
          <a:ln w="38100" cap="sq">
            <a:solidFill>
              <a:srgbClr val="263035"/>
            </a:solidFill>
            <a:prstDash val="solid"/>
            <a:miter/>
          </a:ln>
        </p:spPr>
        <p:txBody>
          <a:bodyPr anchor="ctr"/>
          <a:lstStyle/>
          <a:p>
            <a:pPr algn="ctr"/>
            <a:endParaRPr lang="ko-KR" altLang="en-US" sz="2000" dirty="0">
              <a:ln>
                <a:solidFill>
                  <a:schemeClr val="tx1">
                    <a:alpha val="20000"/>
                  </a:schemeClr>
                </a:solidFill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760D9C4E-9CA3-D8C9-06C4-15D6C7DE3095}"/>
              </a:ext>
            </a:extLst>
          </p:cNvPr>
          <p:cNvGrpSpPr/>
          <p:nvPr/>
        </p:nvGrpSpPr>
        <p:grpSpPr>
          <a:xfrm>
            <a:off x="546768" y="2890994"/>
            <a:ext cx="6774629" cy="1247375"/>
            <a:chOff x="540571" y="3143650"/>
            <a:chExt cx="6774629" cy="1247375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9D09A77-CE6A-EE5B-8164-5803D2B68AE7}"/>
                </a:ext>
              </a:extLst>
            </p:cNvPr>
            <p:cNvSpPr/>
            <p:nvPr/>
          </p:nvSpPr>
          <p:spPr>
            <a:xfrm>
              <a:off x="2301293" y="3143650"/>
              <a:ext cx="5013907" cy="124660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endParaRPr lang="ko-KR" altLang="en-US" sz="2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52F008D-70FC-14D3-25F1-95E7D53A6754}"/>
                </a:ext>
              </a:extLst>
            </p:cNvPr>
            <p:cNvSpPr/>
            <p:nvPr/>
          </p:nvSpPr>
          <p:spPr>
            <a:xfrm>
              <a:off x="540571" y="3143650"/>
              <a:ext cx="1773422" cy="1247375"/>
            </a:xfrm>
            <a:prstGeom prst="rect">
              <a:avLst/>
            </a:prstGeom>
            <a:solidFill>
              <a:srgbClr val="F5E166"/>
            </a:solidFill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중고거래</a:t>
              </a:r>
              <a:endParaRPr lang="en-US" altLang="ko-KR" sz="2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/>
              <a:r>
                <a:rPr lang="ko-KR" altLang="en-US" sz="20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시스템</a:t>
              </a:r>
              <a:endParaRPr lang="ko-KR" altLang="en-US" sz="2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18EC9CB-4823-F2E4-A034-FE7B9F3CBB02}"/>
                </a:ext>
              </a:extLst>
            </p:cNvPr>
            <p:cNvSpPr/>
            <p:nvPr/>
          </p:nvSpPr>
          <p:spPr>
            <a:xfrm>
              <a:off x="2500957" y="3294847"/>
              <a:ext cx="1372543" cy="93351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상품</a:t>
              </a:r>
              <a:endParaRPr lang="en-US" altLang="ko-KR" sz="20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관리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F2F120B8-1329-68CF-F7BE-066A096E12DB}"/>
                </a:ext>
              </a:extLst>
            </p:cNvPr>
            <p:cNvSpPr/>
            <p:nvPr/>
          </p:nvSpPr>
          <p:spPr>
            <a:xfrm>
              <a:off x="4101629" y="3294847"/>
              <a:ext cx="1372543" cy="93351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채팅</a:t>
              </a: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DC7EDC86-E376-E69A-93EB-B9DEC039B7D7}"/>
                </a:ext>
              </a:extLst>
            </p:cNvPr>
            <p:cNvSpPr/>
            <p:nvPr/>
          </p:nvSpPr>
          <p:spPr>
            <a:xfrm>
              <a:off x="5702300" y="3294847"/>
              <a:ext cx="1372543" cy="93351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b="1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위치기반</a:t>
              </a:r>
              <a:endParaRPr lang="en-US" altLang="ko-KR" sz="20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검색</a:t>
              </a: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5442F72C-D0A1-4EA7-CC85-57A69FD3BF89}"/>
              </a:ext>
            </a:extLst>
          </p:cNvPr>
          <p:cNvGrpSpPr/>
          <p:nvPr/>
        </p:nvGrpSpPr>
        <p:grpSpPr>
          <a:xfrm>
            <a:off x="549337" y="1501343"/>
            <a:ext cx="6750289" cy="1244457"/>
            <a:chOff x="564911" y="1736869"/>
            <a:chExt cx="6750289" cy="1244457"/>
          </a:xfrm>
        </p:grpSpPr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FF67E4FC-7E2D-6172-C126-0AC808211F66}"/>
                </a:ext>
              </a:extLst>
            </p:cNvPr>
            <p:cNvSpPr/>
            <p:nvPr/>
          </p:nvSpPr>
          <p:spPr>
            <a:xfrm>
              <a:off x="2288594" y="1736869"/>
              <a:ext cx="5026606" cy="1243459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endParaRPr lang="ko-KR" altLang="en-US" sz="2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C852C8F0-3777-7719-1789-22BB6A13A627}"/>
                </a:ext>
              </a:extLst>
            </p:cNvPr>
            <p:cNvSpPr/>
            <p:nvPr/>
          </p:nvSpPr>
          <p:spPr>
            <a:xfrm>
              <a:off x="564911" y="1736870"/>
              <a:ext cx="1773422" cy="1244456"/>
            </a:xfrm>
            <a:prstGeom prst="rect">
              <a:avLst/>
            </a:prstGeom>
            <a:solidFill>
              <a:srgbClr val="F5E166"/>
            </a:solidFill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회원관리</a:t>
              </a:r>
              <a:endParaRPr lang="en-US" altLang="ko-KR" sz="2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/>
              <a:r>
                <a:rPr lang="ko-KR" altLang="en-US" sz="20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시스템</a:t>
              </a:r>
              <a:endParaRPr lang="ko-KR" altLang="en-US" sz="2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5A4DD916-C087-3D84-A829-3FC25A375DEF}"/>
                </a:ext>
              </a:extLst>
            </p:cNvPr>
            <p:cNvSpPr/>
            <p:nvPr/>
          </p:nvSpPr>
          <p:spPr>
            <a:xfrm>
              <a:off x="2406888" y="1940006"/>
              <a:ext cx="1133259" cy="93351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판매내역</a:t>
              </a:r>
              <a:endParaRPr lang="en-US" altLang="ko-KR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  <a:p>
              <a:pPr algn="ctr"/>
              <a:r>
                <a:rPr lang="ko-KR" altLang="en-US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관리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1AAA793B-5748-BE48-C707-33ABF550C5E6}"/>
                </a:ext>
              </a:extLst>
            </p:cNvPr>
            <p:cNvSpPr/>
            <p:nvPr/>
          </p:nvSpPr>
          <p:spPr>
            <a:xfrm>
              <a:off x="3626912" y="1940006"/>
              <a:ext cx="1133259" cy="93351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b="1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포인트</a:t>
              </a:r>
              <a:endParaRPr lang="en-US" altLang="ko-KR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  <a:p>
              <a:pPr algn="ctr"/>
              <a:r>
                <a:rPr lang="ko-KR" altLang="en-US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관리</a:t>
              </a: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2AA5063D-1FEB-C8D1-C0E7-EE5CE972AD88}"/>
                </a:ext>
              </a:extLst>
            </p:cNvPr>
            <p:cNvSpPr/>
            <p:nvPr/>
          </p:nvSpPr>
          <p:spPr>
            <a:xfrm>
              <a:off x="4846936" y="1940006"/>
              <a:ext cx="1133259" cy="93351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커뮤니티</a:t>
              </a:r>
              <a:endParaRPr lang="en-US" altLang="ko-KR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  <a:p>
              <a:pPr algn="ctr"/>
              <a:r>
                <a:rPr lang="ko-KR" altLang="en-US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관리</a:t>
              </a: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B090FA58-3DDF-3467-9216-57148CB8A6B8}"/>
                </a:ext>
              </a:extLst>
            </p:cNvPr>
            <p:cNvSpPr/>
            <p:nvPr/>
          </p:nvSpPr>
          <p:spPr>
            <a:xfrm>
              <a:off x="6066961" y="1940006"/>
              <a:ext cx="1133259" cy="93351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내 동네</a:t>
              </a:r>
              <a:endParaRPr lang="en-US" altLang="ko-KR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  <a:p>
              <a:pPr algn="ctr"/>
              <a:r>
                <a:rPr lang="ko-KR" altLang="en-US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설정</a:t>
              </a: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195000B5-9448-2851-04DE-F15D219CE8DB}"/>
              </a:ext>
            </a:extLst>
          </p:cNvPr>
          <p:cNvGrpSpPr/>
          <p:nvPr/>
        </p:nvGrpSpPr>
        <p:grpSpPr>
          <a:xfrm>
            <a:off x="1936597" y="379734"/>
            <a:ext cx="3886200" cy="883164"/>
            <a:chOff x="10562873" y="4424183"/>
            <a:chExt cx="3886200" cy="883164"/>
          </a:xfrm>
        </p:grpSpPr>
        <p:sp>
          <p:nvSpPr>
            <p:cNvPr id="106" name="사각형: 둥근 모서리 105">
              <a:extLst>
                <a:ext uri="{FF2B5EF4-FFF2-40B4-BE49-F238E27FC236}">
                  <a16:creationId xmlns:a16="http://schemas.microsoft.com/office/drawing/2014/main" id="{2F7ABB3F-8FB8-0F75-0F37-F42B8B61A699}"/>
                </a:ext>
              </a:extLst>
            </p:cNvPr>
            <p:cNvSpPr/>
            <p:nvPr/>
          </p:nvSpPr>
          <p:spPr>
            <a:xfrm>
              <a:off x="10562873" y="4424183"/>
              <a:ext cx="3886200" cy="88316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endParaRPr lang="ko-KR" altLang="en-US" sz="200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895957D-EACF-C5D5-3F14-AFC54DE35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72473" y="4462684"/>
              <a:ext cx="2667000" cy="806161"/>
            </a:xfrm>
            <a:prstGeom prst="rect">
              <a:avLst/>
            </a:prstGeom>
          </p:spPr>
        </p:pic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82CA45DD-5EEF-A242-767A-10E9B17E2BDC}"/>
              </a:ext>
            </a:extLst>
          </p:cNvPr>
          <p:cNvGrpSpPr/>
          <p:nvPr/>
        </p:nvGrpSpPr>
        <p:grpSpPr>
          <a:xfrm>
            <a:off x="546768" y="4283563"/>
            <a:ext cx="6774629" cy="1246604"/>
            <a:chOff x="10045700" y="3302140"/>
            <a:chExt cx="6774629" cy="1246604"/>
          </a:xfrm>
        </p:grpSpPr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D8059FE7-F396-D45F-4CA5-0CF66C2F5897}"/>
                </a:ext>
              </a:extLst>
            </p:cNvPr>
            <p:cNvSpPr/>
            <p:nvPr/>
          </p:nvSpPr>
          <p:spPr>
            <a:xfrm>
              <a:off x="11806422" y="3302140"/>
              <a:ext cx="5013907" cy="124660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endParaRPr lang="ko-KR" altLang="en-US" sz="2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84B7B33C-8485-D45D-1ABC-3B326D0A846E}"/>
                </a:ext>
              </a:extLst>
            </p:cNvPr>
            <p:cNvSpPr/>
            <p:nvPr/>
          </p:nvSpPr>
          <p:spPr>
            <a:xfrm>
              <a:off x="10045700" y="3302141"/>
              <a:ext cx="1773422" cy="1246048"/>
            </a:xfrm>
            <a:prstGeom prst="rect">
              <a:avLst/>
            </a:prstGeom>
            <a:solidFill>
              <a:srgbClr val="F5E166"/>
            </a:solidFill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안전거래</a:t>
              </a:r>
              <a:endParaRPr lang="en-US" altLang="ko-KR" sz="2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/>
              <a:r>
                <a:rPr lang="ko-KR" altLang="en-US" sz="20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시스템</a:t>
              </a:r>
              <a:endParaRPr lang="ko-KR" altLang="en-US" sz="2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4C47C3EB-1AA5-5DF8-F43B-B5834C080C88}"/>
                </a:ext>
              </a:extLst>
            </p:cNvPr>
            <p:cNvSpPr/>
            <p:nvPr/>
          </p:nvSpPr>
          <p:spPr>
            <a:xfrm>
              <a:off x="12006086" y="3453337"/>
              <a:ext cx="1372543" cy="93351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상품</a:t>
              </a:r>
              <a:endParaRPr lang="en-US" altLang="ko-KR" sz="20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결제</a:t>
              </a: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5B539E1D-8750-2C8D-BB09-28D3431A456F}"/>
                </a:ext>
              </a:extLst>
            </p:cNvPr>
            <p:cNvSpPr/>
            <p:nvPr/>
          </p:nvSpPr>
          <p:spPr>
            <a:xfrm>
              <a:off x="13606758" y="3453337"/>
              <a:ext cx="1372543" cy="93351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배송</a:t>
              </a:r>
              <a:endParaRPr lang="en-US" altLang="ko-KR" sz="20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관리</a:t>
              </a: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73609D21-CCF5-E249-BFCF-707F28FEAAE3}"/>
                </a:ext>
              </a:extLst>
            </p:cNvPr>
            <p:cNvSpPr/>
            <p:nvPr/>
          </p:nvSpPr>
          <p:spPr>
            <a:xfrm>
              <a:off x="15207429" y="3453337"/>
              <a:ext cx="1372543" cy="93351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포인트</a:t>
              </a:r>
              <a:endParaRPr lang="en-US" altLang="ko-KR" sz="20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정산</a:t>
              </a:r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257B255F-299C-5881-467D-B548F3E47D70}"/>
              </a:ext>
            </a:extLst>
          </p:cNvPr>
          <p:cNvGrpSpPr/>
          <p:nvPr/>
        </p:nvGrpSpPr>
        <p:grpSpPr>
          <a:xfrm>
            <a:off x="546768" y="5675361"/>
            <a:ext cx="6774629" cy="1246604"/>
            <a:chOff x="10058400" y="4802168"/>
            <a:chExt cx="6774629" cy="1246604"/>
          </a:xfrm>
        </p:grpSpPr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76568B83-7439-6F5A-E60B-FBA0A88F9DB1}"/>
                </a:ext>
              </a:extLst>
            </p:cNvPr>
            <p:cNvSpPr/>
            <p:nvPr/>
          </p:nvSpPr>
          <p:spPr>
            <a:xfrm>
              <a:off x="11819122" y="4802168"/>
              <a:ext cx="5013907" cy="124660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endParaRPr lang="ko-KR" altLang="en-US" sz="2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5C82972D-5369-7D41-E6F7-E8A9179D3AF2}"/>
                </a:ext>
              </a:extLst>
            </p:cNvPr>
            <p:cNvSpPr/>
            <p:nvPr/>
          </p:nvSpPr>
          <p:spPr>
            <a:xfrm>
              <a:off x="10058400" y="4802168"/>
              <a:ext cx="1773422" cy="1246207"/>
            </a:xfrm>
            <a:prstGeom prst="rect">
              <a:avLst/>
            </a:prstGeom>
            <a:solidFill>
              <a:srgbClr val="F5E166"/>
            </a:solidFill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경매 </a:t>
              </a:r>
              <a:endParaRPr lang="en-US" altLang="ko-KR" sz="2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/>
              <a:r>
                <a:rPr lang="ko-KR" altLang="en-US" sz="20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시스템</a:t>
              </a: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2C692289-6C62-5B3C-E356-DEDB008C80A4}"/>
                </a:ext>
              </a:extLst>
            </p:cNvPr>
            <p:cNvSpPr/>
            <p:nvPr/>
          </p:nvSpPr>
          <p:spPr>
            <a:xfrm>
              <a:off x="12018786" y="4953365"/>
              <a:ext cx="1372543" cy="93351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경매상품</a:t>
              </a:r>
              <a:endParaRPr lang="en-US" altLang="ko-KR" sz="20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관리</a:t>
              </a:r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59DB629A-CB17-AFB2-22BC-BB938BAEABA7}"/>
                </a:ext>
              </a:extLst>
            </p:cNvPr>
            <p:cNvSpPr/>
            <p:nvPr/>
          </p:nvSpPr>
          <p:spPr>
            <a:xfrm>
              <a:off x="13619458" y="4953365"/>
              <a:ext cx="1372543" cy="93351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입찰 및</a:t>
              </a:r>
              <a:endParaRPr lang="en-US" altLang="ko-KR" sz="20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낙찰</a:t>
              </a: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9C85D400-DA19-7A1B-99F1-FFCFE9BF9237}"/>
                </a:ext>
              </a:extLst>
            </p:cNvPr>
            <p:cNvSpPr/>
            <p:nvPr/>
          </p:nvSpPr>
          <p:spPr>
            <a:xfrm>
              <a:off x="15220129" y="4953365"/>
              <a:ext cx="1372543" cy="93351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안전거래</a:t>
              </a:r>
              <a:endParaRPr lang="en-US" altLang="ko-KR" sz="20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진행</a:t>
              </a:r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E8565AFD-9BD5-D5F6-CCEC-5C8A7BF0F557}"/>
              </a:ext>
            </a:extLst>
          </p:cNvPr>
          <p:cNvGrpSpPr/>
          <p:nvPr/>
        </p:nvGrpSpPr>
        <p:grpSpPr>
          <a:xfrm>
            <a:off x="546768" y="7067159"/>
            <a:ext cx="6774629" cy="1246833"/>
            <a:chOff x="10058400" y="6625581"/>
            <a:chExt cx="6774629" cy="1246833"/>
          </a:xfrm>
        </p:grpSpPr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702C6065-8123-E7FE-7305-3432422B49AB}"/>
                </a:ext>
              </a:extLst>
            </p:cNvPr>
            <p:cNvSpPr/>
            <p:nvPr/>
          </p:nvSpPr>
          <p:spPr>
            <a:xfrm>
              <a:off x="11819122" y="6625581"/>
              <a:ext cx="5013907" cy="124660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endParaRPr lang="ko-KR" altLang="en-US" sz="2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0C14BB99-7480-4CBD-40F4-F8F9EF2C6D51}"/>
                </a:ext>
              </a:extLst>
            </p:cNvPr>
            <p:cNvSpPr/>
            <p:nvPr/>
          </p:nvSpPr>
          <p:spPr>
            <a:xfrm>
              <a:off x="10058400" y="6625582"/>
              <a:ext cx="1773422" cy="1246832"/>
            </a:xfrm>
            <a:prstGeom prst="rect">
              <a:avLst/>
            </a:prstGeom>
            <a:solidFill>
              <a:srgbClr val="F5E166"/>
            </a:solidFill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커뮤니티</a:t>
              </a:r>
              <a:endParaRPr lang="en-US" altLang="ko-KR" sz="2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/>
              <a:r>
                <a:rPr lang="ko-KR" altLang="en-US" sz="20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시스템</a:t>
              </a:r>
              <a:endParaRPr lang="ko-KR" altLang="en-US" sz="2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0C23437B-9CC6-29CB-6689-DBA08B9B08C8}"/>
                </a:ext>
              </a:extLst>
            </p:cNvPr>
            <p:cNvSpPr/>
            <p:nvPr/>
          </p:nvSpPr>
          <p:spPr>
            <a:xfrm>
              <a:off x="12018786" y="6776778"/>
              <a:ext cx="1372543" cy="93351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게시글</a:t>
              </a:r>
              <a:endParaRPr lang="en-US" altLang="ko-KR" sz="20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관리</a:t>
              </a: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BEBD9E6E-3C00-3CB9-18F1-10A7B41EAA92}"/>
                </a:ext>
              </a:extLst>
            </p:cNvPr>
            <p:cNvSpPr/>
            <p:nvPr/>
          </p:nvSpPr>
          <p:spPr>
            <a:xfrm>
              <a:off x="13619458" y="6776778"/>
              <a:ext cx="1372543" cy="93351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댓글</a:t>
              </a:r>
              <a:endParaRPr lang="en-US" altLang="ko-KR" sz="20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관리</a:t>
              </a:r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C92F4AC7-EA12-8983-C5D1-1ADE19168AD8}"/>
                </a:ext>
              </a:extLst>
            </p:cNvPr>
            <p:cNvSpPr/>
            <p:nvPr/>
          </p:nvSpPr>
          <p:spPr>
            <a:xfrm>
              <a:off x="15220129" y="6776778"/>
              <a:ext cx="1372543" cy="93351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관심 글</a:t>
              </a:r>
              <a:endParaRPr lang="en-US" altLang="ko-KR" sz="20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관리</a:t>
              </a:r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7D59E692-68F5-542C-D4D1-6D1A9EB12A12}"/>
              </a:ext>
            </a:extLst>
          </p:cNvPr>
          <p:cNvGrpSpPr/>
          <p:nvPr/>
        </p:nvGrpSpPr>
        <p:grpSpPr>
          <a:xfrm>
            <a:off x="550397" y="8459185"/>
            <a:ext cx="6774629" cy="1249879"/>
            <a:chOff x="10283999" y="8244164"/>
            <a:chExt cx="6774629" cy="1249879"/>
          </a:xfrm>
        </p:grpSpPr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C901033E-2E98-8E85-34EC-0EFAC28DDF85}"/>
                </a:ext>
              </a:extLst>
            </p:cNvPr>
            <p:cNvSpPr/>
            <p:nvPr/>
          </p:nvSpPr>
          <p:spPr>
            <a:xfrm>
              <a:off x="12044721" y="8244164"/>
              <a:ext cx="5013907" cy="124660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endParaRPr lang="ko-KR" altLang="en-US" sz="2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9B2B6666-40CF-E867-973C-976BE9A85685}"/>
                </a:ext>
              </a:extLst>
            </p:cNvPr>
            <p:cNvSpPr/>
            <p:nvPr/>
          </p:nvSpPr>
          <p:spPr>
            <a:xfrm>
              <a:off x="10283999" y="8244164"/>
              <a:ext cx="1773422" cy="1249879"/>
            </a:xfrm>
            <a:prstGeom prst="rect">
              <a:avLst/>
            </a:prstGeom>
            <a:solidFill>
              <a:srgbClr val="F5E166"/>
            </a:solidFill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알림</a:t>
              </a:r>
              <a:endParaRPr lang="en-US" altLang="ko-KR" sz="2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/>
              <a:r>
                <a:rPr lang="ko-KR" altLang="en-US" sz="20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시스템</a:t>
              </a:r>
              <a:endParaRPr lang="ko-KR" altLang="en-US" sz="2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50F77CA0-C2F2-7C7D-A69C-E88B4D1EB4DE}"/>
                </a:ext>
              </a:extLst>
            </p:cNvPr>
            <p:cNvSpPr/>
            <p:nvPr/>
          </p:nvSpPr>
          <p:spPr>
            <a:xfrm>
              <a:off x="12244385" y="8395361"/>
              <a:ext cx="1372543" cy="93351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채팅</a:t>
              </a:r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93199CCA-B2A3-49DB-39F9-0583C3929A58}"/>
                </a:ext>
              </a:extLst>
            </p:cNvPr>
            <p:cNvSpPr/>
            <p:nvPr/>
          </p:nvSpPr>
          <p:spPr>
            <a:xfrm>
              <a:off x="13845057" y="8395361"/>
              <a:ext cx="1372543" cy="93351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안전거래</a:t>
              </a:r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57B64311-8F25-DD19-B7F7-C2AAF8E553BB}"/>
                </a:ext>
              </a:extLst>
            </p:cNvPr>
            <p:cNvSpPr/>
            <p:nvPr/>
          </p:nvSpPr>
          <p:spPr>
            <a:xfrm>
              <a:off x="15445728" y="8395361"/>
              <a:ext cx="1372543" cy="933514"/>
            </a:xfrm>
            <a:prstGeom prst="rect">
              <a:avLst/>
            </a:prstGeom>
            <a:noFill/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000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경매</a:t>
              </a:r>
            </a:p>
          </p:txBody>
        </p:sp>
      </p:grp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BD0C0263-1339-4CFA-3727-C7A18AF92C5B}"/>
              </a:ext>
            </a:extLst>
          </p:cNvPr>
          <p:cNvSpPr/>
          <p:nvPr/>
        </p:nvSpPr>
        <p:spPr>
          <a:xfrm>
            <a:off x="8839200" y="823661"/>
            <a:ext cx="8421915" cy="1219200"/>
          </a:xfrm>
          <a:prstGeom prst="rect">
            <a:avLst/>
          </a:prstGeom>
          <a:noFill/>
          <a:ln w="38100" cap="sq">
            <a:solidFill>
              <a:srgbClr val="263035"/>
            </a:solidFill>
            <a:prstDash val="solid"/>
            <a:miter/>
          </a:ln>
        </p:spPr>
        <p:txBody>
          <a:bodyPr anchor="ctr"/>
          <a:lstStyle/>
          <a:p>
            <a:pPr algn="ctr"/>
            <a:endParaRPr lang="ko-KR" altLang="en-US" sz="2000" dirty="0">
              <a:ln>
                <a:solidFill>
                  <a:schemeClr val="tx1">
                    <a:alpha val="20000"/>
                  </a:schemeClr>
                </a:solidFill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FBA90383-D34F-B0CF-4249-CAB62FB05CA0}"/>
              </a:ext>
            </a:extLst>
          </p:cNvPr>
          <p:cNvSpPr/>
          <p:nvPr/>
        </p:nvSpPr>
        <p:spPr>
          <a:xfrm>
            <a:off x="11463927" y="499811"/>
            <a:ext cx="3482613" cy="40561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 cap="sq">
            <a:solidFill>
              <a:srgbClr val="263035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ko-KR" altLang="en-US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안전거래 프로세스 </a:t>
            </a:r>
            <a:r>
              <a:rPr lang="en-US" altLang="ko-KR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( </a:t>
            </a:r>
            <a:r>
              <a:rPr lang="ko-KR" altLang="en-US" b="1" dirty="0" err="1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에스크로</a:t>
            </a:r>
            <a:r>
              <a:rPr lang="ko-KR" altLang="en-US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</a:t>
            </a:r>
            <a:r>
              <a:rPr lang="en-US" altLang="ko-KR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)</a:t>
            </a:r>
            <a:r>
              <a:rPr lang="ko-KR" altLang="en-US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</a:t>
            </a:r>
            <a:endParaRPr lang="en-US" altLang="ko-KR" b="1" dirty="0">
              <a:ln>
                <a:solidFill>
                  <a:schemeClr val="tx1">
                    <a:alpha val="20000"/>
                  </a:schemeClr>
                </a:solidFill>
              </a:ln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3BBF0489-15B0-D8A2-BE2F-C7B87D19DE2C}"/>
              </a:ext>
            </a:extLst>
          </p:cNvPr>
          <p:cNvSpPr/>
          <p:nvPr/>
        </p:nvSpPr>
        <p:spPr>
          <a:xfrm>
            <a:off x="8973527" y="1005826"/>
            <a:ext cx="1133259" cy="933514"/>
          </a:xfrm>
          <a:prstGeom prst="rect">
            <a:avLst/>
          </a:prstGeom>
          <a:solidFill>
            <a:srgbClr val="A2AFC0"/>
          </a:solidFill>
          <a:ln w="38100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ko-KR" altLang="en-US" sz="16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구매자</a:t>
            </a:r>
            <a:endParaRPr lang="en-US" altLang="ko-KR" sz="1600" b="1" dirty="0">
              <a:ln>
                <a:solidFill>
                  <a:schemeClr val="tx1">
                    <a:alpha val="20000"/>
                  </a:schemeClr>
                </a:solidFill>
              </a:ln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  <a:p>
            <a:pPr algn="ctr"/>
            <a:r>
              <a:rPr lang="ko-KR" altLang="en-US" sz="16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결제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5C164218-2C8D-8FA8-C101-BA88D9B11A63}"/>
              </a:ext>
            </a:extLst>
          </p:cNvPr>
          <p:cNvSpPr/>
          <p:nvPr/>
        </p:nvSpPr>
        <p:spPr>
          <a:xfrm>
            <a:off x="10298463" y="1010588"/>
            <a:ext cx="1453607" cy="933514"/>
          </a:xfrm>
          <a:prstGeom prst="rect">
            <a:avLst/>
          </a:prstGeom>
          <a:solidFill>
            <a:srgbClr val="A2AFC0"/>
          </a:solidFill>
          <a:ln w="38100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ko-KR" altLang="en-US" sz="16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구매자</a:t>
            </a:r>
            <a:endParaRPr lang="en-US" altLang="ko-KR" sz="1600" b="1" dirty="0">
              <a:ln>
                <a:solidFill>
                  <a:schemeClr val="tx1">
                    <a:alpha val="20000"/>
                  </a:schemeClr>
                </a:solidFill>
              </a:ln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  <a:p>
            <a:pPr algn="ctr"/>
            <a:r>
              <a:rPr lang="ko-KR" altLang="en-US" sz="16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배송정보입력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CA799330-976C-A415-32B4-461B382DD0D6}"/>
              </a:ext>
            </a:extLst>
          </p:cNvPr>
          <p:cNvSpPr/>
          <p:nvPr/>
        </p:nvSpPr>
        <p:spPr>
          <a:xfrm>
            <a:off x="11946129" y="1009284"/>
            <a:ext cx="1133259" cy="933514"/>
          </a:xfrm>
          <a:prstGeom prst="rect">
            <a:avLst/>
          </a:prstGeom>
          <a:solidFill>
            <a:srgbClr val="A2AFC0"/>
          </a:solidFill>
          <a:ln w="38100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ko-KR" altLang="en-US" sz="16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판매자</a:t>
            </a:r>
            <a:endParaRPr lang="en-US" altLang="ko-KR" sz="1600" b="1" dirty="0">
              <a:ln>
                <a:solidFill>
                  <a:schemeClr val="tx1">
                    <a:alpha val="20000"/>
                  </a:schemeClr>
                </a:solidFill>
              </a:ln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  <a:p>
            <a:pPr algn="ctr"/>
            <a:r>
              <a:rPr lang="ko-KR" altLang="en-US" sz="16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송장등록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D86E81EA-7D16-E7B9-7480-A5C8204FF0D6}"/>
              </a:ext>
            </a:extLst>
          </p:cNvPr>
          <p:cNvSpPr/>
          <p:nvPr/>
        </p:nvSpPr>
        <p:spPr>
          <a:xfrm>
            <a:off x="13260872" y="1009284"/>
            <a:ext cx="1133259" cy="933514"/>
          </a:xfrm>
          <a:prstGeom prst="rect">
            <a:avLst/>
          </a:prstGeom>
          <a:solidFill>
            <a:srgbClr val="A2AFC0"/>
          </a:solidFill>
          <a:ln w="38100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ko-KR" altLang="en-US" sz="16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배송</a:t>
            </a:r>
            <a:endParaRPr lang="en-US" altLang="ko-KR" sz="1600" b="1" dirty="0">
              <a:ln>
                <a:solidFill>
                  <a:schemeClr val="tx1">
                    <a:alpha val="20000"/>
                  </a:schemeClr>
                </a:solidFill>
              </a:ln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  <a:p>
            <a:pPr algn="ctr"/>
            <a:r>
              <a:rPr lang="en-US" altLang="ko-KR" sz="14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(Scheduler)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89A679A4-1CC4-E423-5CC0-E4CDDC45BE19}"/>
              </a:ext>
            </a:extLst>
          </p:cNvPr>
          <p:cNvSpPr/>
          <p:nvPr/>
        </p:nvSpPr>
        <p:spPr>
          <a:xfrm>
            <a:off x="14576407" y="1009284"/>
            <a:ext cx="1133259" cy="933514"/>
          </a:xfrm>
          <a:prstGeom prst="rect">
            <a:avLst/>
          </a:prstGeom>
          <a:solidFill>
            <a:srgbClr val="A2AFC0"/>
          </a:solidFill>
          <a:ln w="38100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ko-KR" altLang="en-US" sz="16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구매자</a:t>
            </a:r>
            <a:endParaRPr lang="en-US" altLang="ko-KR" sz="1600" b="1" dirty="0">
              <a:ln>
                <a:solidFill>
                  <a:schemeClr val="tx1">
                    <a:alpha val="20000"/>
                  </a:schemeClr>
                </a:solidFill>
              </a:ln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  <a:p>
            <a:pPr algn="ctr"/>
            <a:r>
              <a:rPr lang="ko-KR" altLang="en-US" sz="16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수령확인</a:t>
            </a:r>
            <a:endParaRPr lang="en-US" altLang="ko-KR" sz="1600" b="1" dirty="0">
              <a:ln>
                <a:solidFill>
                  <a:schemeClr val="tx1">
                    <a:alpha val="20000"/>
                  </a:schemeClr>
                </a:solidFill>
              </a:ln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1E17CD8B-37F4-D11D-37E0-C05451001D26}"/>
              </a:ext>
            </a:extLst>
          </p:cNvPr>
          <p:cNvSpPr/>
          <p:nvPr/>
        </p:nvSpPr>
        <p:spPr>
          <a:xfrm>
            <a:off x="15895115" y="1009284"/>
            <a:ext cx="1242236" cy="933514"/>
          </a:xfrm>
          <a:prstGeom prst="rect">
            <a:avLst/>
          </a:prstGeom>
          <a:solidFill>
            <a:srgbClr val="A2AFC0"/>
          </a:solidFill>
          <a:ln w="38100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ko-KR" altLang="en-US" sz="16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판매자</a:t>
            </a:r>
            <a:endParaRPr lang="en-US" altLang="ko-KR" sz="1600" b="1" dirty="0">
              <a:ln>
                <a:solidFill>
                  <a:schemeClr val="tx1">
                    <a:alpha val="20000"/>
                  </a:schemeClr>
                </a:solidFill>
              </a:ln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  <a:p>
            <a:pPr algn="ctr"/>
            <a:r>
              <a:rPr lang="ko-KR" altLang="en-US" sz="1600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포인트 수령</a:t>
            </a:r>
            <a:endParaRPr lang="en-US" altLang="ko-KR" sz="1600" b="1" dirty="0">
              <a:ln>
                <a:solidFill>
                  <a:schemeClr val="tx1">
                    <a:alpha val="20000"/>
                  </a:schemeClr>
                </a:solidFill>
              </a:ln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150" name="화살표: 오른쪽 149">
            <a:extLst>
              <a:ext uri="{FF2B5EF4-FFF2-40B4-BE49-F238E27FC236}">
                <a16:creationId xmlns:a16="http://schemas.microsoft.com/office/drawing/2014/main" id="{4D5B2456-3E93-6CA8-B1F5-3E78B2EF3F33}"/>
              </a:ext>
            </a:extLst>
          </p:cNvPr>
          <p:cNvSpPr/>
          <p:nvPr/>
        </p:nvSpPr>
        <p:spPr>
          <a:xfrm>
            <a:off x="10106786" y="1370610"/>
            <a:ext cx="179648" cy="203946"/>
          </a:xfrm>
          <a:prstGeom prst="rightArrow">
            <a:avLst>
              <a:gd name="adj1" fmla="val 26345"/>
              <a:gd name="adj2" fmla="val 45067"/>
            </a:avLst>
          </a:prstGeom>
          <a:solidFill>
            <a:srgbClr val="A2AFC0"/>
          </a:solidFill>
          <a:ln w="38100" cap="sq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ko-KR" altLang="en-US" b="1">
              <a:ln>
                <a:solidFill>
                  <a:schemeClr val="tx1">
                    <a:alpha val="20000"/>
                  </a:schemeClr>
                </a:solidFill>
              </a:ln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155" name="화살표: 오른쪽 154">
            <a:extLst>
              <a:ext uri="{FF2B5EF4-FFF2-40B4-BE49-F238E27FC236}">
                <a16:creationId xmlns:a16="http://schemas.microsoft.com/office/drawing/2014/main" id="{C1AD8D96-371B-5D9F-D84E-CB6C1B21C28A}"/>
              </a:ext>
            </a:extLst>
          </p:cNvPr>
          <p:cNvSpPr/>
          <p:nvPr/>
        </p:nvSpPr>
        <p:spPr>
          <a:xfrm>
            <a:off x="11748261" y="1370610"/>
            <a:ext cx="179648" cy="203946"/>
          </a:xfrm>
          <a:prstGeom prst="rightArrow">
            <a:avLst>
              <a:gd name="adj1" fmla="val 26345"/>
              <a:gd name="adj2" fmla="val 45067"/>
            </a:avLst>
          </a:prstGeom>
          <a:solidFill>
            <a:srgbClr val="A2AFC0"/>
          </a:solidFill>
          <a:ln w="38100" cap="sq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ko-KR" altLang="en-US" b="1">
              <a:ln>
                <a:solidFill>
                  <a:schemeClr val="tx1">
                    <a:alpha val="20000"/>
                  </a:schemeClr>
                </a:solidFill>
              </a:ln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156" name="화살표: 오른쪽 155">
            <a:extLst>
              <a:ext uri="{FF2B5EF4-FFF2-40B4-BE49-F238E27FC236}">
                <a16:creationId xmlns:a16="http://schemas.microsoft.com/office/drawing/2014/main" id="{0469907A-8CCC-FB0C-A689-41BA3F7603FF}"/>
              </a:ext>
            </a:extLst>
          </p:cNvPr>
          <p:cNvSpPr/>
          <p:nvPr/>
        </p:nvSpPr>
        <p:spPr>
          <a:xfrm>
            <a:off x="13072236" y="1370610"/>
            <a:ext cx="179648" cy="203946"/>
          </a:xfrm>
          <a:prstGeom prst="rightArrow">
            <a:avLst>
              <a:gd name="adj1" fmla="val 26345"/>
              <a:gd name="adj2" fmla="val 45067"/>
            </a:avLst>
          </a:prstGeom>
          <a:solidFill>
            <a:srgbClr val="A2AFC0"/>
          </a:solidFill>
          <a:ln w="38100" cap="sq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ko-KR" altLang="en-US" b="1">
              <a:ln>
                <a:solidFill>
                  <a:schemeClr val="tx1">
                    <a:alpha val="20000"/>
                  </a:schemeClr>
                </a:solidFill>
              </a:ln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157" name="화살표: 오른쪽 156">
            <a:extLst>
              <a:ext uri="{FF2B5EF4-FFF2-40B4-BE49-F238E27FC236}">
                <a16:creationId xmlns:a16="http://schemas.microsoft.com/office/drawing/2014/main" id="{F11697F6-4F7D-5070-DED2-71BD97F00A54}"/>
              </a:ext>
            </a:extLst>
          </p:cNvPr>
          <p:cNvSpPr/>
          <p:nvPr/>
        </p:nvSpPr>
        <p:spPr>
          <a:xfrm>
            <a:off x="14386686" y="1370610"/>
            <a:ext cx="179648" cy="203946"/>
          </a:xfrm>
          <a:prstGeom prst="rightArrow">
            <a:avLst>
              <a:gd name="adj1" fmla="val 26345"/>
              <a:gd name="adj2" fmla="val 45067"/>
            </a:avLst>
          </a:prstGeom>
          <a:solidFill>
            <a:srgbClr val="A2AFC0"/>
          </a:solidFill>
          <a:ln w="38100" cap="sq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ko-KR" altLang="en-US" b="1">
              <a:ln>
                <a:solidFill>
                  <a:schemeClr val="tx1">
                    <a:alpha val="20000"/>
                  </a:schemeClr>
                </a:solidFill>
              </a:ln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158" name="화살표: 오른쪽 157">
            <a:extLst>
              <a:ext uri="{FF2B5EF4-FFF2-40B4-BE49-F238E27FC236}">
                <a16:creationId xmlns:a16="http://schemas.microsoft.com/office/drawing/2014/main" id="{336D2586-4FE4-083F-8B74-769D5D821B03}"/>
              </a:ext>
            </a:extLst>
          </p:cNvPr>
          <p:cNvSpPr/>
          <p:nvPr/>
        </p:nvSpPr>
        <p:spPr>
          <a:xfrm>
            <a:off x="15704311" y="1370610"/>
            <a:ext cx="179648" cy="203946"/>
          </a:xfrm>
          <a:prstGeom prst="rightArrow">
            <a:avLst>
              <a:gd name="adj1" fmla="val 26345"/>
              <a:gd name="adj2" fmla="val 45067"/>
            </a:avLst>
          </a:prstGeom>
          <a:solidFill>
            <a:srgbClr val="A2AFC0"/>
          </a:solidFill>
          <a:ln w="38100" cap="sq">
            <a:noFill/>
            <a:prstDash val="solid"/>
            <a:miter/>
          </a:ln>
        </p:spPr>
        <p:txBody>
          <a:bodyPr anchor="ctr"/>
          <a:lstStyle/>
          <a:p>
            <a:pPr algn="ctr"/>
            <a:endParaRPr lang="ko-KR" altLang="en-US" b="1">
              <a:ln>
                <a:solidFill>
                  <a:schemeClr val="tx1">
                    <a:alpha val="20000"/>
                  </a:schemeClr>
                </a:solidFill>
              </a:ln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grpSp>
        <p:nvGrpSpPr>
          <p:cNvPr id="1053" name="그룹 1052">
            <a:extLst>
              <a:ext uri="{FF2B5EF4-FFF2-40B4-BE49-F238E27FC236}">
                <a16:creationId xmlns:a16="http://schemas.microsoft.com/office/drawing/2014/main" id="{4719CA55-9EC7-2C3C-1A27-A751413C2759}"/>
              </a:ext>
            </a:extLst>
          </p:cNvPr>
          <p:cNvGrpSpPr/>
          <p:nvPr/>
        </p:nvGrpSpPr>
        <p:grpSpPr>
          <a:xfrm>
            <a:off x="7960613" y="3394234"/>
            <a:ext cx="9336787" cy="948810"/>
            <a:chOff x="7848128" y="3347922"/>
            <a:chExt cx="9336787" cy="948810"/>
          </a:xfrm>
        </p:grpSpPr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E2CCFFF8-36F7-E0CB-CEF7-22E1FE2870C6}"/>
                </a:ext>
              </a:extLst>
            </p:cNvPr>
            <p:cNvSpPr/>
            <p:nvPr/>
          </p:nvSpPr>
          <p:spPr>
            <a:xfrm>
              <a:off x="10098312" y="3347922"/>
              <a:ext cx="7086603" cy="925812"/>
            </a:xfrm>
            <a:prstGeom prst="rect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r>
                <a:rPr lang="ko-KR" altLang="en-US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    위치기반검색 및 자동완성 검색엔진</a:t>
              </a:r>
            </a:p>
          </p:txBody>
        </p:sp>
        <p:sp>
          <p:nvSpPr>
            <p:cNvPr id="162" name="화살표: 오른쪽 161">
              <a:extLst>
                <a:ext uri="{FF2B5EF4-FFF2-40B4-BE49-F238E27FC236}">
                  <a16:creationId xmlns:a16="http://schemas.microsoft.com/office/drawing/2014/main" id="{26FE07A2-4A2C-E0C3-0721-092F89C95828}"/>
                </a:ext>
              </a:extLst>
            </p:cNvPr>
            <p:cNvSpPr/>
            <p:nvPr/>
          </p:nvSpPr>
          <p:spPr>
            <a:xfrm>
              <a:off x="7880519" y="3392706"/>
              <a:ext cx="1919190" cy="455661"/>
            </a:xfrm>
            <a:prstGeom prst="rightArrow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검색 키워드</a:t>
              </a:r>
            </a:p>
          </p:txBody>
        </p:sp>
        <p:sp>
          <p:nvSpPr>
            <p:cNvPr id="164" name="화살표: 오른쪽 163">
              <a:extLst>
                <a:ext uri="{FF2B5EF4-FFF2-40B4-BE49-F238E27FC236}">
                  <a16:creationId xmlns:a16="http://schemas.microsoft.com/office/drawing/2014/main" id="{74759D0A-96CB-68E4-8E34-0219FBF68031}"/>
                </a:ext>
              </a:extLst>
            </p:cNvPr>
            <p:cNvSpPr/>
            <p:nvPr/>
          </p:nvSpPr>
          <p:spPr>
            <a:xfrm flipH="1">
              <a:off x="7848128" y="3841071"/>
              <a:ext cx="1919190" cy="455661"/>
            </a:xfrm>
            <a:prstGeom prst="rightArrow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해당물품반환</a:t>
              </a:r>
            </a:p>
          </p:txBody>
        </p:sp>
        <p:pic>
          <p:nvPicPr>
            <p:cNvPr id="160" name="그림 159" descr="다채로움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7F54E95-846D-811F-A932-743EC9D50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65942" y="3537562"/>
              <a:ext cx="2831534" cy="621610"/>
            </a:xfrm>
            <a:prstGeom prst="rect">
              <a:avLst/>
            </a:prstGeom>
          </p:spPr>
        </p:pic>
      </p:grpSp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6FCB681E-B154-470D-885D-3C92906ACFEE}"/>
              </a:ext>
            </a:extLst>
          </p:cNvPr>
          <p:cNvGrpSpPr/>
          <p:nvPr/>
        </p:nvGrpSpPr>
        <p:grpSpPr>
          <a:xfrm>
            <a:off x="7960613" y="4516871"/>
            <a:ext cx="9336787" cy="946384"/>
            <a:chOff x="7848128" y="4502873"/>
            <a:chExt cx="9336787" cy="946384"/>
          </a:xfrm>
        </p:grpSpPr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AF0B0968-5F6D-A9CF-6DEB-803C1855ADCE}"/>
                </a:ext>
              </a:extLst>
            </p:cNvPr>
            <p:cNvSpPr/>
            <p:nvPr/>
          </p:nvSpPr>
          <p:spPr>
            <a:xfrm>
              <a:off x="10098312" y="4502873"/>
              <a:ext cx="7086603" cy="925812"/>
            </a:xfrm>
            <a:prstGeom prst="rect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r>
                <a:rPr lang="ko-KR" altLang="en-US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    지도제공</a:t>
              </a:r>
              <a:r>
                <a:rPr lang="en-US" altLang="ko-KR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, </a:t>
              </a:r>
              <a:r>
                <a:rPr lang="ko-KR" altLang="en-US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위치공유 및 주소 변환                   </a:t>
              </a:r>
            </a:p>
          </p:txBody>
        </p:sp>
        <p:pic>
          <p:nvPicPr>
            <p:cNvPr id="169" name="그림 168" descr="폰트, 그래픽, 그래픽 디자인, 텍스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3816AAD-88C6-7557-7575-C0C1D7C13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64890" y="4805933"/>
              <a:ext cx="1631911" cy="371532"/>
            </a:xfrm>
            <a:prstGeom prst="rect">
              <a:avLst/>
            </a:prstGeom>
          </p:spPr>
        </p:pic>
        <p:sp>
          <p:nvSpPr>
            <p:cNvPr id="171" name="화살표: 오른쪽 170">
              <a:extLst>
                <a:ext uri="{FF2B5EF4-FFF2-40B4-BE49-F238E27FC236}">
                  <a16:creationId xmlns:a16="http://schemas.microsoft.com/office/drawing/2014/main" id="{A1F81ECF-B063-F548-D2C5-393BB0C23842}"/>
                </a:ext>
              </a:extLst>
            </p:cNvPr>
            <p:cNvSpPr/>
            <p:nvPr/>
          </p:nvSpPr>
          <p:spPr>
            <a:xfrm>
              <a:off x="7880519" y="4545231"/>
              <a:ext cx="1919190" cy="455661"/>
            </a:xfrm>
            <a:prstGeom prst="rightArrow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위도</a:t>
              </a:r>
              <a:r>
                <a:rPr lang="en-US" altLang="ko-KR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, </a:t>
              </a:r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경도</a:t>
              </a:r>
            </a:p>
          </p:txBody>
        </p:sp>
        <p:sp>
          <p:nvSpPr>
            <p:cNvPr id="172" name="화살표: 오른쪽 171">
              <a:extLst>
                <a:ext uri="{FF2B5EF4-FFF2-40B4-BE49-F238E27FC236}">
                  <a16:creationId xmlns:a16="http://schemas.microsoft.com/office/drawing/2014/main" id="{4102AB99-294D-BDEA-F6E1-F8F54AE037CF}"/>
                </a:ext>
              </a:extLst>
            </p:cNvPr>
            <p:cNvSpPr/>
            <p:nvPr/>
          </p:nvSpPr>
          <p:spPr>
            <a:xfrm flipH="1">
              <a:off x="7848128" y="4993596"/>
              <a:ext cx="1919190" cy="455661"/>
            </a:xfrm>
            <a:prstGeom prst="rightArrow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지도</a:t>
              </a:r>
              <a:r>
                <a:rPr lang="en-US" altLang="ko-KR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, </a:t>
              </a:r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주소</a:t>
              </a:r>
            </a:p>
          </p:txBody>
        </p:sp>
      </p:grpSp>
      <p:grpSp>
        <p:nvGrpSpPr>
          <p:cNvPr id="1055" name="그룹 1054">
            <a:extLst>
              <a:ext uri="{FF2B5EF4-FFF2-40B4-BE49-F238E27FC236}">
                <a16:creationId xmlns:a16="http://schemas.microsoft.com/office/drawing/2014/main" id="{16123080-AA28-59D7-33DE-D52181C0842B}"/>
              </a:ext>
            </a:extLst>
          </p:cNvPr>
          <p:cNvGrpSpPr/>
          <p:nvPr/>
        </p:nvGrpSpPr>
        <p:grpSpPr>
          <a:xfrm>
            <a:off x="7960613" y="5637082"/>
            <a:ext cx="9336787" cy="946384"/>
            <a:chOff x="7848128" y="5657824"/>
            <a:chExt cx="9336787" cy="946384"/>
          </a:xfrm>
        </p:grpSpPr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6BDD4040-7A4F-EF6A-FE4F-CD6970311D4F}"/>
                </a:ext>
              </a:extLst>
            </p:cNvPr>
            <p:cNvSpPr/>
            <p:nvPr/>
          </p:nvSpPr>
          <p:spPr>
            <a:xfrm>
              <a:off x="10098312" y="5657824"/>
              <a:ext cx="7086603" cy="925812"/>
            </a:xfrm>
            <a:prstGeom prst="rect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r>
                <a:rPr lang="ko-KR" altLang="en-US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    포인트 충전 시스템                              </a:t>
              </a:r>
              <a:r>
                <a:rPr lang="en-US" altLang="ko-KR" b="1" dirty="0" err="1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ImPort</a:t>
              </a:r>
              <a:r>
                <a:rPr lang="en-US" altLang="ko-KR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 API</a:t>
              </a:r>
              <a:endParaRPr lang="ko-KR" altLang="en-US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</p:txBody>
        </p:sp>
        <p:sp>
          <p:nvSpPr>
            <p:cNvPr id="175" name="화살표: 오른쪽 174">
              <a:extLst>
                <a:ext uri="{FF2B5EF4-FFF2-40B4-BE49-F238E27FC236}">
                  <a16:creationId xmlns:a16="http://schemas.microsoft.com/office/drawing/2014/main" id="{8A9C7C84-D0E7-C383-F275-DE6EF85CA9AD}"/>
                </a:ext>
              </a:extLst>
            </p:cNvPr>
            <p:cNvSpPr/>
            <p:nvPr/>
          </p:nvSpPr>
          <p:spPr>
            <a:xfrm>
              <a:off x="7880519" y="5700182"/>
              <a:ext cx="1919190" cy="455661"/>
            </a:xfrm>
            <a:prstGeom prst="rightArrow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결제요청</a:t>
              </a:r>
            </a:p>
          </p:txBody>
        </p:sp>
        <p:sp>
          <p:nvSpPr>
            <p:cNvPr id="176" name="화살표: 오른쪽 175">
              <a:extLst>
                <a:ext uri="{FF2B5EF4-FFF2-40B4-BE49-F238E27FC236}">
                  <a16:creationId xmlns:a16="http://schemas.microsoft.com/office/drawing/2014/main" id="{321B4D2A-3FDD-CC0F-EF2E-BE2B447705E3}"/>
                </a:ext>
              </a:extLst>
            </p:cNvPr>
            <p:cNvSpPr/>
            <p:nvPr/>
          </p:nvSpPr>
          <p:spPr>
            <a:xfrm flipH="1">
              <a:off x="7848128" y="6148547"/>
              <a:ext cx="1919190" cy="455661"/>
            </a:xfrm>
            <a:prstGeom prst="rightArrow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결제결과</a:t>
              </a:r>
            </a:p>
          </p:txBody>
        </p:sp>
        <p:pic>
          <p:nvPicPr>
            <p:cNvPr id="179" name="그림 178" descr="그래픽, 스크린샷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2BE1299-C223-2485-D348-F4094EED6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443" t="17778" r="18937" b="20460"/>
            <a:stretch>
              <a:fillRect/>
            </a:stretch>
          </p:blipFill>
          <p:spPr>
            <a:xfrm>
              <a:off x="15800111" y="5755659"/>
              <a:ext cx="796690" cy="785776"/>
            </a:xfrm>
            <a:prstGeom prst="rect">
              <a:avLst/>
            </a:prstGeom>
          </p:spPr>
        </p:pic>
      </p:grpSp>
      <p:grpSp>
        <p:nvGrpSpPr>
          <p:cNvPr id="1056" name="그룹 1055">
            <a:extLst>
              <a:ext uri="{FF2B5EF4-FFF2-40B4-BE49-F238E27FC236}">
                <a16:creationId xmlns:a16="http://schemas.microsoft.com/office/drawing/2014/main" id="{0B873743-0EDF-0E11-1BEF-A2F9C942364C}"/>
              </a:ext>
            </a:extLst>
          </p:cNvPr>
          <p:cNvGrpSpPr/>
          <p:nvPr/>
        </p:nvGrpSpPr>
        <p:grpSpPr>
          <a:xfrm>
            <a:off x="7960613" y="6757293"/>
            <a:ext cx="9336787" cy="946384"/>
            <a:chOff x="7848128" y="6809961"/>
            <a:chExt cx="9336787" cy="946384"/>
          </a:xfrm>
        </p:grpSpPr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5EE5802D-1D40-B6E0-1A00-ABA6151422FB}"/>
                </a:ext>
              </a:extLst>
            </p:cNvPr>
            <p:cNvSpPr/>
            <p:nvPr/>
          </p:nvSpPr>
          <p:spPr>
            <a:xfrm>
              <a:off x="10098312" y="6809961"/>
              <a:ext cx="7086603" cy="925812"/>
            </a:xfrm>
            <a:prstGeom prst="rect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r>
                <a:rPr lang="ko-KR" altLang="en-US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    카테고리 추천 시스템</a:t>
              </a:r>
            </a:p>
          </p:txBody>
        </p:sp>
        <p:sp>
          <p:nvSpPr>
            <p:cNvPr id="181" name="화살표: 오른쪽 180">
              <a:extLst>
                <a:ext uri="{FF2B5EF4-FFF2-40B4-BE49-F238E27FC236}">
                  <a16:creationId xmlns:a16="http://schemas.microsoft.com/office/drawing/2014/main" id="{E460E9B6-F5CA-EAE1-40A1-AC6F4677A325}"/>
                </a:ext>
              </a:extLst>
            </p:cNvPr>
            <p:cNvSpPr/>
            <p:nvPr/>
          </p:nvSpPr>
          <p:spPr>
            <a:xfrm>
              <a:off x="7880519" y="6852319"/>
              <a:ext cx="1919190" cy="455661"/>
            </a:xfrm>
            <a:prstGeom prst="rightArrow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상품명</a:t>
              </a:r>
            </a:p>
          </p:txBody>
        </p:sp>
        <p:sp>
          <p:nvSpPr>
            <p:cNvPr id="182" name="화살표: 오른쪽 181">
              <a:extLst>
                <a:ext uri="{FF2B5EF4-FFF2-40B4-BE49-F238E27FC236}">
                  <a16:creationId xmlns:a16="http://schemas.microsoft.com/office/drawing/2014/main" id="{5B96A051-8C23-4CAD-34A0-02EAB41919D5}"/>
                </a:ext>
              </a:extLst>
            </p:cNvPr>
            <p:cNvSpPr/>
            <p:nvPr/>
          </p:nvSpPr>
          <p:spPr>
            <a:xfrm flipH="1">
              <a:off x="7848128" y="7300684"/>
              <a:ext cx="1919190" cy="455661"/>
            </a:xfrm>
            <a:prstGeom prst="rightArrow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추천 카테고리</a:t>
              </a:r>
            </a:p>
          </p:txBody>
        </p:sp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647442B4-4859-D905-AE70-90EEB0C8D0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64890" y="7054391"/>
              <a:ext cx="1814415" cy="4925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7" name="그룹 1056">
            <a:extLst>
              <a:ext uri="{FF2B5EF4-FFF2-40B4-BE49-F238E27FC236}">
                <a16:creationId xmlns:a16="http://schemas.microsoft.com/office/drawing/2014/main" id="{B96115B8-5833-FF4A-14A6-1D0E71D45DEF}"/>
              </a:ext>
            </a:extLst>
          </p:cNvPr>
          <p:cNvGrpSpPr/>
          <p:nvPr/>
        </p:nvGrpSpPr>
        <p:grpSpPr>
          <a:xfrm>
            <a:off x="7960613" y="7877504"/>
            <a:ext cx="9336787" cy="946384"/>
            <a:chOff x="7848128" y="7883291"/>
            <a:chExt cx="9336787" cy="946384"/>
          </a:xfrm>
        </p:grpSpPr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BC1F1218-44B1-B6DB-EFB1-7E0F5BE10AD6}"/>
                </a:ext>
              </a:extLst>
            </p:cNvPr>
            <p:cNvSpPr/>
            <p:nvPr/>
          </p:nvSpPr>
          <p:spPr>
            <a:xfrm>
              <a:off x="10098312" y="7883291"/>
              <a:ext cx="7086603" cy="925812"/>
            </a:xfrm>
            <a:prstGeom prst="rect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r>
                <a:rPr lang="ko-KR" altLang="en-US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    알림 시스템       </a:t>
              </a:r>
              <a:r>
                <a:rPr lang="en-US" altLang="ko-KR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WebSocket + FCM + Mail</a:t>
              </a:r>
              <a:r>
                <a:rPr lang="ko-KR" altLang="en-US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  </a:t>
              </a:r>
            </a:p>
          </p:txBody>
        </p:sp>
        <p:sp>
          <p:nvSpPr>
            <p:cNvPr id="191" name="화살표: 오른쪽 190">
              <a:extLst>
                <a:ext uri="{FF2B5EF4-FFF2-40B4-BE49-F238E27FC236}">
                  <a16:creationId xmlns:a16="http://schemas.microsoft.com/office/drawing/2014/main" id="{A3BF6910-79BE-AD89-D43C-F852070AEF13}"/>
                </a:ext>
              </a:extLst>
            </p:cNvPr>
            <p:cNvSpPr/>
            <p:nvPr/>
          </p:nvSpPr>
          <p:spPr>
            <a:xfrm>
              <a:off x="7880519" y="7925649"/>
              <a:ext cx="1919190" cy="455661"/>
            </a:xfrm>
            <a:prstGeom prst="rightArrow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이벤트 발생</a:t>
              </a:r>
            </a:p>
          </p:txBody>
        </p:sp>
        <p:sp>
          <p:nvSpPr>
            <p:cNvPr id="1024" name="화살표: 오른쪽 1023">
              <a:extLst>
                <a:ext uri="{FF2B5EF4-FFF2-40B4-BE49-F238E27FC236}">
                  <a16:creationId xmlns:a16="http://schemas.microsoft.com/office/drawing/2014/main" id="{C3A81C70-8CA4-7B21-FEC8-625FD6DA514C}"/>
                </a:ext>
              </a:extLst>
            </p:cNvPr>
            <p:cNvSpPr/>
            <p:nvPr/>
          </p:nvSpPr>
          <p:spPr>
            <a:xfrm flipH="1">
              <a:off x="7848128" y="8374014"/>
              <a:ext cx="1919190" cy="455661"/>
            </a:xfrm>
            <a:prstGeom prst="rightArrow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알림</a:t>
              </a:r>
              <a:r>
                <a:rPr lang="en-US" altLang="ko-KR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, </a:t>
              </a:r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이메일 발송</a:t>
              </a:r>
            </a:p>
          </p:txBody>
        </p:sp>
        <p:pic>
          <p:nvPicPr>
            <p:cNvPr id="185" name="그림 184" descr="스크린샷, 그래픽, 폰트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7977115-D4F8-DCDE-DED9-5185EC6DA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70340" y="8118365"/>
              <a:ext cx="677961" cy="511295"/>
            </a:xfrm>
            <a:prstGeom prst="rect">
              <a:avLst/>
            </a:prstGeom>
          </p:spPr>
        </p:pic>
        <p:pic>
          <p:nvPicPr>
            <p:cNvPr id="187" name="Picture 4" descr="Firebase 세로형 락업 로고">
              <a:extLst>
                <a:ext uri="{FF2B5EF4-FFF2-40B4-BE49-F238E27FC236}">
                  <a16:creationId xmlns:a16="http://schemas.microsoft.com/office/drawing/2014/main" id="{677957AE-91CE-0E6A-CE9B-8DA2908B7DA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75" t="10633" r="24023" b="29283"/>
            <a:stretch>
              <a:fillRect/>
            </a:stretch>
          </p:blipFill>
          <p:spPr bwMode="auto">
            <a:xfrm>
              <a:off x="15637636" y="8037353"/>
              <a:ext cx="645974" cy="7670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9" name="그림 188" descr="폰트, 그래픽, 로고, 그래픽 디자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1E233658-9F99-046C-A7D8-1BF749F74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536"/>
            <a:stretch>
              <a:fillRect/>
            </a:stretch>
          </p:blipFill>
          <p:spPr>
            <a:xfrm>
              <a:off x="16353065" y="7902316"/>
              <a:ext cx="641997" cy="924344"/>
            </a:xfrm>
            <a:prstGeom prst="rect">
              <a:avLst/>
            </a:prstGeom>
          </p:spPr>
        </p:pic>
      </p:grpSp>
      <p:grpSp>
        <p:nvGrpSpPr>
          <p:cNvPr id="1058" name="그룹 1057">
            <a:extLst>
              <a:ext uri="{FF2B5EF4-FFF2-40B4-BE49-F238E27FC236}">
                <a16:creationId xmlns:a16="http://schemas.microsoft.com/office/drawing/2014/main" id="{ED94A399-AA7E-8A1C-EF64-9C1071562BFE}"/>
              </a:ext>
            </a:extLst>
          </p:cNvPr>
          <p:cNvGrpSpPr/>
          <p:nvPr/>
        </p:nvGrpSpPr>
        <p:grpSpPr>
          <a:xfrm>
            <a:off x="7960613" y="8997716"/>
            <a:ext cx="9336787" cy="946384"/>
            <a:chOff x="7848128" y="8997716"/>
            <a:chExt cx="9336787" cy="946384"/>
          </a:xfrm>
        </p:grpSpPr>
        <p:sp>
          <p:nvSpPr>
            <p:cNvPr id="1026" name="직사각형 1025">
              <a:extLst>
                <a:ext uri="{FF2B5EF4-FFF2-40B4-BE49-F238E27FC236}">
                  <a16:creationId xmlns:a16="http://schemas.microsoft.com/office/drawing/2014/main" id="{888382CE-EE45-52F0-3CB8-B54D69DC20C4}"/>
                </a:ext>
              </a:extLst>
            </p:cNvPr>
            <p:cNvSpPr/>
            <p:nvPr/>
          </p:nvSpPr>
          <p:spPr>
            <a:xfrm>
              <a:off x="10098312" y="8997716"/>
              <a:ext cx="7086603" cy="925812"/>
            </a:xfrm>
            <a:prstGeom prst="rect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r>
                <a:rPr lang="ko-KR" altLang="en-US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    이미지관리 시스템                        </a:t>
              </a:r>
              <a:r>
                <a:rPr lang="en-US" altLang="ko-KR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AWS S3</a:t>
              </a:r>
              <a:endParaRPr lang="ko-KR" altLang="en-US" b="1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</p:txBody>
        </p:sp>
        <p:sp>
          <p:nvSpPr>
            <p:cNvPr id="1027" name="화살표: 오른쪽 1026">
              <a:extLst>
                <a:ext uri="{FF2B5EF4-FFF2-40B4-BE49-F238E27FC236}">
                  <a16:creationId xmlns:a16="http://schemas.microsoft.com/office/drawing/2014/main" id="{262D301E-4125-FE59-6FBD-652655566932}"/>
                </a:ext>
              </a:extLst>
            </p:cNvPr>
            <p:cNvSpPr/>
            <p:nvPr/>
          </p:nvSpPr>
          <p:spPr>
            <a:xfrm>
              <a:off x="7880519" y="9040074"/>
              <a:ext cx="1919190" cy="455661"/>
            </a:xfrm>
            <a:prstGeom prst="rightArrow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업로드 요청</a:t>
              </a:r>
            </a:p>
          </p:txBody>
        </p:sp>
        <p:sp>
          <p:nvSpPr>
            <p:cNvPr id="1029" name="화살표: 오른쪽 1028">
              <a:extLst>
                <a:ext uri="{FF2B5EF4-FFF2-40B4-BE49-F238E27FC236}">
                  <a16:creationId xmlns:a16="http://schemas.microsoft.com/office/drawing/2014/main" id="{88940A6A-72F2-6DA4-FF41-0A819274210F}"/>
                </a:ext>
              </a:extLst>
            </p:cNvPr>
            <p:cNvSpPr/>
            <p:nvPr/>
          </p:nvSpPr>
          <p:spPr>
            <a:xfrm flipH="1">
              <a:off x="7848128" y="9488439"/>
              <a:ext cx="1919190" cy="455661"/>
            </a:xfrm>
            <a:prstGeom prst="rightArrow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en-US" altLang="ko-KR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S3 URL </a:t>
              </a:r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반환</a:t>
              </a:r>
            </a:p>
          </p:txBody>
        </p:sp>
        <p:pic>
          <p:nvPicPr>
            <p:cNvPr id="1035" name="그림 1034" descr="예술, 스크린샷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56F245F-0AB5-7D52-E02F-30DADC1B3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5336839" y="9063345"/>
              <a:ext cx="880755" cy="880755"/>
            </a:xfrm>
            <a:prstGeom prst="rect">
              <a:avLst/>
            </a:prstGeom>
          </p:spPr>
        </p:pic>
      </p:grpSp>
      <p:grpSp>
        <p:nvGrpSpPr>
          <p:cNvPr id="1052" name="그룹 1051">
            <a:extLst>
              <a:ext uri="{FF2B5EF4-FFF2-40B4-BE49-F238E27FC236}">
                <a16:creationId xmlns:a16="http://schemas.microsoft.com/office/drawing/2014/main" id="{BD563B71-1B87-DC7E-C475-93FC819A04E3}"/>
              </a:ext>
            </a:extLst>
          </p:cNvPr>
          <p:cNvGrpSpPr/>
          <p:nvPr/>
        </p:nvGrpSpPr>
        <p:grpSpPr>
          <a:xfrm>
            <a:off x="7884413" y="2271597"/>
            <a:ext cx="9412515" cy="948810"/>
            <a:chOff x="7772400" y="2271597"/>
            <a:chExt cx="9412515" cy="948810"/>
          </a:xfrm>
        </p:grpSpPr>
        <p:sp>
          <p:nvSpPr>
            <p:cNvPr id="1037" name="직사각형 1036">
              <a:extLst>
                <a:ext uri="{FF2B5EF4-FFF2-40B4-BE49-F238E27FC236}">
                  <a16:creationId xmlns:a16="http://schemas.microsoft.com/office/drawing/2014/main" id="{5A4A8E1F-32F8-CF64-3F94-AFF83E14E5EB}"/>
                </a:ext>
              </a:extLst>
            </p:cNvPr>
            <p:cNvSpPr/>
            <p:nvPr/>
          </p:nvSpPr>
          <p:spPr>
            <a:xfrm>
              <a:off x="10098312" y="2271597"/>
              <a:ext cx="7086603" cy="925812"/>
            </a:xfrm>
            <a:prstGeom prst="rect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r>
                <a:rPr lang="ko-KR" altLang="en-US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   소셜 로그인 시스템　　</a:t>
              </a:r>
              <a:r>
                <a:rPr lang="en-US" altLang="ko-KR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Oauth2 + JWT</a:t>
              </a:r>
              <a:r>
                <a:rPr lang="ko-KR" altLang="en-US" b="1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    </a:t>
              </a:r>
            </a:p>
          </p:txBody>
        </p:sp>
        <p:sp>
          <p:nvSpPr>
            <p:cNvPr id="1038" name="화살표: 오른쪽 1037">
              <a:extLst>
                <a:ext uri="{FF2B5EF4-FFF2-40B4-BE49-F238E27FC236}">
                  <a16:creationId xmlns:a16="http://schemas.microsoft.com/office/drawing/2014/main" id="{9A7D41F8-0FAB-6DAC-164E-56D974F9E0D4}"/>
                </a:ext>
              </a:extLst>
            </p:cNvPr>
            <p:cNvSpPr/>
            <p:nvPr/>
          </p:nvSpPr>
          <p:spPr>
            <a:xfrm>
              <a:off x="7880519" y="2316381"/>
              <a:ext cx="1919190" cy="455661"/>
            </a:xfrm>
            <a:prstGeom prst="rightArrow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소셜 로그인 요청</a:t>
              </a:r>
            </a:p>
          </p:txBody>
        </p:sp>
        <p:sp>
          <p:nvSpPr>
            <p:cNvPr id="1039" name="화살표: 오른쪽 1038">
              <a:extLst>
                <a:ext uri="{FF2B5EF4-FFF2-40B4-BE49-F238E27FC236}">
                  <a16:creationId xmlns:a16="http://schemas.microsoft.com/office/drawing/2014/main" id="{53B345A0-43AD-4386-9E0B-231F80BBA054}"/>
                </a:ext>
              </a:extLst>
            </p:cNvPr>
            <p:cNvSpPr/>
            <p:nvPr/>
          </p:nvSpPr>
          <p:spPr>
            <a:xfrm flipH="1">
              <a:off x="7772400" y="2764746"/>
              <a:ext cx="2126420" cy="455661"/>
            </a:xfrm>
            <a:prstGeom prst="rightArrow">
              <a:avLst/>
            </a:prstGeom>
            <a:solidFill>
              <a:srgbClr val="A2AFC0"/>
            </a:solidFill>
            <a:ln w="38100" cap="sq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en-US" altLang="ko-KR" sz="12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JWT </a:t>
              </a:r>
              <a:r>
                <a:rPr lang="ko-KR" altLang="en-US" sz="12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쿠키 발급</a:t>
              </a:r>
              <a:r>
                <a:rPr lang="en-US" altLang="ko-KR" sz="12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,</a:t>
              </a:r>
              <a:r>
                <a:rPr lang="ko-KR" altLang="en-US" sz="12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 저장</a:t>
              </a:r>
            </a:p>
          </p:txBody>
        </p:sp>
        <p:pic>
          <p:nvPicPr>
            <p:cNvPr id="1041" name="그림 1040" descr="다채로움, 그래픽, 스크린샷, 그래픽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BF40F3D-F50F-80AC-FC01-5486B61E4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70939" y="2395932"/>
              <a:ext cx="697740" cy="697740"/>
            </a:xfrm>
            <a:prstGeom prst="rect">
              <a:avLst/>
            </a:prstGeom>
          </p:spPr>
        </p:pic>
        <p:pic>
          <p:nvPicPr>
            <p:cNvPr id="1042" name="그림 1041" descr="그래픽, 그래픽 디자인, 로고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5F6F883-2A25-1828-3B28-A9A7DB3EA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87729" y="2423969"/>
              <a:ext cx="1773422" cy="5993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1377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1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6D45A-0754-0532-6C69-6F89D732A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C73F61DD-1B2B-C841-0AEF-382A94E0482B}"/>
              </a:ext>
            </a:extLst>
          </p:cNvPr>
          <p:cNvSpPr txBox="1"/>
          <p:nvPr/>
        </p:nvSpPr>
        <p:spPr>
          <a:xfrm>
            <a:off x="1789995" y="1401008"/>
            <a:ext cx="9868605" cy="1141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25"/>
              </a:lnSpc>
              <a:spcBef>
                <a:spcPct val="0"/>
              </a:spcBef>
            </a:pPr>
            <a:r>
              <a:rPr 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06  </a:t>
            </a:r>
            <a:r>
              <a:rPr 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AWS</a:t>
            </a:r>
            <a:r>
              <a:rPr lang="ko-KR" alt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 배포</a:t>
            </a:r>
            <a:endParaRPr lang="en-US" sz="7500" b="1" spc="-27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sym typeface="Nanum Square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2BA0FFF8-7B7C-DB3D-3428-9D2FAB34864C}"/>
              </a:ext>
            </a:extLst>
          </p:cNvPr>
          <p:cNvSpPr/>
          <p:nvPr/>
        </p:nvSpPr>
        <p:spPr>
          <a:xfrm flipH="1">
            <a:off x="1789995" y="2591633"/>
            <a:ext cx="1135883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F7D02-8C3F-41B3-EDDB-9F2EE47C76EA}"/>
              </a:ext>
            </a:extLst>
          </p:cNvPr>
          <p:cNvSpPr txBox="1"/>
          <p:nvPr/>
        </p:nvSpPr>
        <p:spPr>
          <a:xfrm>
            <a:off x="5029200" y="3924300"/>
            <a:ext cx="8229600" cy="1027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주소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B58B46-8CF1-669B-D58B-B2FF63C6524C}"/>
              </a:ext>
            </a:extLst>
          </p:cNvPr>
          <p:cNvSpPr txBox="1"/>
          <p:nvPr/>
        </p:nvSpPr>
        <p:spPr>
          <a:xfrm>
            <a:off x="2057400" y="5129981"/>
            <a:ext cx="14183032" cy="1027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hlinkClick r:id="rId2"/>
              </a:rPr>
              <a:t>http://3.39.215.194/</a:t>
            </a:r>
            <a:endParaRPr lang="ko-KR" altLang="en-US" sz="48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512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1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2ACC50-7AB4-72EB-CD6C-08FBA6244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F9EB68D-91FD-E1CA-94CF-EC8263850CF6}"/>
              </a:ext>
            </a:extLst>
          </p:cNvPr>
          <p:cNvSpPr txBox="1"/>
          <p:nvPr/>
        </p:nvSpPr>
        <p:spPr>
          <a:xfrm>
            <a:off x="1789995" y="1401008"/>
            <a:ext cx="9868605" cy="1141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25"/>
              </a:lnSpc>
              <a:spcBef>
                <a:spcPct val="0"/>
              </a:spcBef>
            </a:pPr>
            <a:r>
              <a:rPr 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06  </a:t>
            </a:r>
            <a:r>
              <a:rPr lang="ko-KR" alt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시연연상</a:t>
            </a:r>
            <a:endParaRPr lang="en-US" sz="7500" b="1" spc="-27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sym typeface="Nanum Square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029B98BD-C6A4-08AB-EF6A-6866F6CEB873}"/>
              </a:ext>
            </a:extLst>
          </p:cNvPr>
          <p:cNvSpPr/>
          <p:nvPr/>
        </p:nvSpPr>
        <p:spPr>
          <a:xfrm flipH="1">
            <a:off x="1789995" y="2591633"/>
            <a:ext cx="1135883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37013E-C725-4BF7-4592-D3909BEA2EC0}"/>
              </a:ext>
            </a:extLst>
          </p:cNvPr>
          <p:cNvSpPr txBox="1"/>
          <p:nvPr/>
        </p:nvSpPr>
        <p:spPr>
          <a:xfrm>
            <a:off x="5029200" y="3924300"/>
            <a:ext cx="8229600" cy="1027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시연영상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D7B46E-BCFC-6D86-1CB5-54B7C3F94E27}"/>
              </a:ext>
            </a:extLst>
          </p:cNvPr>
          <p:cNvSpPr txBox="1"/>
          <p:nvPr/>
        </p:nvSpPr>
        <p:spPr>
          <a:xfrm>
            <a:off x="2057400" y="5129981"/>
            <a:ext cx="14183032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4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hlinkClick r:id="rId2"/>
              </a:rPr>
              <a:t>https://youtu.be/VoXTd5blJgY?si=LpNHrh7y3gf7x5sA</a:t>
            </a:r>
            <a:endParaRPr lang="ko-KR" altLang="en-US" sz="4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5133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1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1FE80D-5C7F-E00B-B7A0-DAFF0EA6EB06}"/>
              </a:ext>
            </a:extLst>
          </p:cNvPr>
          <p:cNvSpPr txBox="1"/>
          <p:nvPr/>
        </p:nvSpPr>
        <p:spPr>
          <a:xfrm>
            <a:off x="990600" y="1112103"/>
            <a:ext cx="784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팀원</a:t>
            </a:r>
          </a:p>
        </p:txBody>
      </p:sp>
      <p:pic>
        <p:nvPicPr>
          <p:cNvPr id="4" name="그림 3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D93A630-6999-3992-2FBD-D379C651D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99" y="2857500"/>
            <a:ext cx="2438400" cy="2438400"/>
          </a:xfrm>
          <a:prstGeom prst="rect">
            <a:avLst/>
          </a:prstGeom>
        </p:spPr>
      </p:pic>
      <p:sp>
        <p:nvSpPr>
          <p:cNvPr id="25" name="TextBox 11">
            <a:extLst>
              <a:ext uri="{FF2B5EF4-FFF2-40B4-BE49-F238E27FC236}">
                <a16:creationId xmlns:a16="http://schemas.microsoft.com/office/drawing/2014/main" id="{F001247F-404B-DB0A-89A8-D1DCAE46BC6F}"/>
              </a:ext>
            </a:extLst>
          </p:cNvPr>
          <p:cNvSpPr txBox="1"/>
          <p:nvPr/>
        </p:nvSpPr>
        <p:spPr>
          <a:xfrm>
            <a:off x="2733164" y="5572125"/>
            <a:ext cx="1704470" cy="547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351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  <a:sym typeface="Nanum Square Bold"/>
              </a:rPr>
              <a:t>전여욱</a:t>
            </a:r>
            <a:endParaRPr lang="en-US" sz="351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  <a:sym typeface="Nanum Square Bold"/>
            </a:endParaRPr>
          </a:p>
        </p:txBody>
      </p:sp>
      <p:pic>
        <p:nvPicPr>
          <p:cNvPr id="27" name="그림 26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BA09236-E4FF-AD53-162E-15C86D22B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466" y="2857500"/>
            <a:ext cx="2438400" cy="2438400"/>
          </a:xfrm>
          <a:prstGeom prst="rect">
            <a:avLst/>
          </a:prstGeom>
        </p:spPr>
      </p:pic>
      <p:sp>
        <p:nvSpPr>
          <p:cNvPr id="28" name="TextBox 11">
            <a:extLst>
              <a:ext uri="{FF2B5EF4-FFF2-40B4-BE49-F238E27FC236}">
                <a16:creationId xmlns:a16="http://schemas.microsoft.com/office/drawing/2014/main" id="{67B14E12-EB79-10C6-CB43-67136D2B19A2}"/>
              </a:ext>
            </a:extLst>
          </p:cNvPr>
          <p:cNvSpPr txBox="1"/>
          <p:nvPr/>
        </p:nvSpPr>
        <p:spPr>
          <a:xfrm>
            <a:off x="6262431" y="5572125"/>
            <a:ext cx="1704470" cy="547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3510" b="1" spc="-126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  <a:sym typeface="Nanum Square Bold"/>
              </a:rPr>
              <a:t>김신성</a:t>
            </a:r>
            <a:endParaRPr lang="en-US" sz="351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  <a:sym typeface="Nanum Square Bold"/>
            </a:endParaRPr>
          </a:p>
        </p:txBody>
      </p:sp>
      <p:pic>
        <p:nvPicPr>
          <p:cNvPr id="29" name="그림 28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F5F5F99-1D95-A741-38A7-105A9DAE9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733" y="2857500"/>
            <a:ext cx="2438400" cy="2438400"/>
          </a:xfrm>
          <a:prstGeom prst="rect">
            <a:avLst/>
          </a:prstGeom>
        </p:spPr>
      </p:pic>
      <p:sp>
        <p:nvSpPr>
          <p:cNvPr id="30" name="TextBox 11">
            <a:extLst>
              <a:ext uri="{FF2B5EF4-FFF2-40B4-BE49-F238E27FC236}">
                <a16:creationId xmlns:a16="http://schemas.microsoft.com/office/drawing/2014/main" id="{5DA55014-E16C-B237-6BDE-1211CF6FF411}"/>
              </a:ext>
            </a:extLst>
          </p:cNvPr>
          <p:cNvSpPr txBox="1"/>
          <p:nvPr/>
        </p:nvSpPr>
        <p:spPr>
          <a:xfrm>
            <a:off x="9791698" y="5572125"/>
            <a:ext cx="1704470" cy="547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351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  <a:sym typeface="Nanum Square Bold"/>
              </a:rPr>
              <a:t>김준성</a:t>
            </a:r>
            <a:endParaRPr lang="en-US" sz="351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  <a:sym typeface="Nanum Square Bold"/>
            </a:endParaRPr>
          </a:p>
        </p:txBody>
      </p:sp>
      <p:pic>
        <p:nvPicPr>
          <p:cNvPr id="31" name="그림 30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202FAF4-690C-C541-9DCF-8B79687D7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0" y="2857500"/>
            <a:ext cx="2438400" cy="2438400"/>
          </a:xfrm>
          <a:prstGeom prst="rect">
            <a:avLst/>
          </a:prstGeom>
        </p:spPr>
      </p:pic>
      <p:sp>
        <p:nvSpPr>
          <p:cNvPr id="32" name="TextBox 11">
            <a:extLst>
              <a:ext uri="{FF2B5EF4-FFF2-40B4-BE49-F238E27FC236}">
                <a16:creationId xmlns:a16="http://schemas.microsoft.com/office/drawing/2014/main" id="{BDEDE662-B76D-C0B8-145F-3C7DFEDF53DB}"/>
              </a:ext>
            </a:extLst>
          </p:cNvPr>
          <p:cNvSpPr txBox="1"/>
          <p:nvPr/>
        </p:nvSpPr>
        <p:spPr>
          <a:xfrm>
            <a:off x="13320965" y="5572125"/>
            <a:ext cx="1704470" cy="547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351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  <a:sym typeface="Nanum Square Bold"/>
              </a:rPr>
              <a:t>주현서</a:t>
            </a:r>
            <a:endParaRPr lang="en-US" sz="351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  <a:sym typeface="Nanum Square Bold"/>
            </a:endParaRPr>
          </a:p>
        </p:txBody>
      </p:sp>
      <p:sp>
        <p:nvSpPr>
          <p:cNvPr id="33" name="TextBox 11">
            <a:extLst>
              <a:ext uri="{FF2B5EF4-FFF2-40B4-BE49-F238E27FC236}">
                <a16:creationId xmlns:a16="http://schemas.microsoft.com/office/drawing/2014/main" id="{C2013D42-4BC1-8855-3392-0E77D57AFAC1}"/>
              </a:ext>
            </a:extLst>
          </p:cNvPr>
          <p:cNvSpPr txBox="1"/>
          <p:nvPr/>
        </p:nvSpPr>
        <p:spPr>
          <a:xfrm>
            <a:off x="2208268" y="6286500"/>
            <a:ext cx="2744732" cy="4910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lvl="0" indent="0" algn="ctr">
              <a:lnSpc>
                <a:spcPts val="4172"/>
              </a:lnSpc>
              <a:spcBef>
                <a:spcPct val="0"/>
              </a:spcBef>
              <a:defRPr sz="3506" b="1" spc="-126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</a:defRPr>
            </a:lvl1pPr>
          </a:lstStyle>
          <a:p>
            <a:r>
              <a:rPr lang="en-US" altLang="ko-KR" sz="3200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Full-Stack</a:t>
            </a:r>
            <a:endParaRPr lang="en-US" sz="3200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  <a:sym typeface="Nanum Square Bold"/>
            </a:endParaRP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B8BD9740-E412-1D79-90ED-73545EF5C7C4}"/>
              </a:ext>
            </a:extLst>
          </p:cNvPr>
          <p:cNvSpPr txBox="1"/>
          <p:nvPr/>
        </p:nvSpPr>
        <p:spPr>
          <a:xfrm>
            <a:off x="6195248" y="6295269"/>
            <a:ext cx="1838836" cy="4910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en-US" sz="3200" b="1" spc="-126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  <a:sym typeface="Nanum Square Bold"/>
              </a:rPr>
              <a:t>FrontEnd</a:t>
            </a:r>
            <a:endParaRPr lang="en-US" sz="32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  <a:sym typeface="Nanum Square Bold"/>
            </a:endParaRP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47B10B83-6A40-8992-5287-85B567C14239}"/>
              </a:ext>
            </a:extLst>
          </p:cNvPr>
          <p:cNvSpPr txBox="1"/>
          <p:nvPr/>
        </p:nvSpPr>
        <p:spPr>
          <a:xfrm>
            <a:off x="9724515" y="6286500"/>
            <a:ext cx="1838836" cy="4910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en-US" sz="3200" b="1" spc="-126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  <a:sym typeface="Nanum Square Bold"/>
              </a:rPr>
              <a:t>BackEnd</a:t>
            </a:r>
            <a:endParaRPr lang="en-US" sz="32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  <a:sym typeface="Nanum Square Bold"/>
            </a:endParaRPr>
          </a:p>
        </p:txBody>
      </p:sp>
      <p:sp>
        <p:nvSpPr>
          <p:cNvPr id="36" name="TextBox 11">
            <a:extLst>
              <a:ext uri="{FF2B5EF4-FFF2-40B4-BE49-F238E27FC236}">
                <a16:creationId xmlns:a16="http://schemas.microsoft.com/office/drawing/2014/main" id="{7C589C0C-2786-0F46-9F0B-364E1C1D769F}"/>
              </a:ext>
            </a:extLst>
          </p:cNvPr>
          <p:cNvSpPr txBox="1"/>
          <p:nvPr/>
        </p:nvSpPr>
        <p:spPr>
          <a:xfrm>
            <a:off x="13249273" y="6286500"/>
            <a:ext cx="1838836" cy="4910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en-US" sz="3200" b="1" spc="-126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  <a:sym typeface="Nanum Square Bold"/>
              </a:rPr>
              <a:t>BackEnd</a:t>
            </a:r>
            <a:endParaRPr lang="en-US" sz="32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  <a:sym typeface="Nanum Square Bold"/>
            </a:endParaRPr>
          </a:p>
        </p:txBody>
      </p:sp>
      <p:sp>
        <p:nvSpPr>
          <p:cNvPr id="38" name="TextBox 11">
            <a:extLst>
              <a:ext uri="{FF2B5EF4-FFF2-40B4-BE49-F238E27FC236}">
                <a16:creationId xmlns:a16="http://schemas.microsoft.com/office/drawing/2014/main" id="{7E7493E3-EAA7-96EC-DD2D-E20ED1393F76}"/>
              </a:ext>
            </a:extLst>
          </p:cNvPr>
          <p:cNvSpPr txBox="1"/>
          <p:nvPr/>
        </p:nvSpPr>
        <p:spPr>
          <a:xfrm>
            <a:off x="2598798" y="6819900"/>
            <a:ext cx="1838836" cy="4692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24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  <a:sym typeface="Nanum Square Bold"/>
              </a:rPr>
              <a:t>팀장</a:t>
            </a:r>
            <a:endParaRPr lang="en-US" sz="24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  <a:sym typeface="Nanum Square Bold"/>
            </a:endParaRPr>
          </a:p>
        </p:txBody>
      </p:sp>
      <p:pic>
        <p:nvPicPr>
          <p:cNvPr id="40" name="그림 39" descr="상징, 폰트, 그래픽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5700312-39CC-E6C6-6072-0F1663F40A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8060986"/>
            <a:ext cx="991718" cy="991718"/>
          </a:xfrm>
          <a:prstGeom prst="rect">
            <a:avLst/>
          </a:prstGeom>
        </p:spPr>
      </p:pic>
      <p:pic>
        <p:nvPicPr>
          <p:cNvPr id="42" name="그림 41" descr="만화 영화, 클립아트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169513D-1DA2-9625-A345-832F1C36EB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202" y="8105655"/>
            <a:ext cx="902380" cy="902380"/>
          </a:xfrm>
          <a:prstGeom prst="rect">
            <a:avLst/>
          </a:prstGeom>
        </p:spPr>
      </p:pic>
      <p:pic>
        <p:nvPicPr>
          <p:cNvPr id="44" name="그림 43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DF710FC-9236-648D-D2F9-E4F9EC04AFF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606" y="7886700"/>
            <a:ext cx="1294796" cy="12947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1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38638" y="4241116"/>
            <a:ext cx="10010724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25"/>
              </a:lnSpc>
              <a:spcBef>
                <a:spcPct val="0"/>
              </a:spcBef>
            </a:pPr>
            <a:r>
              <a:rPr lang="en-US" sz="8000" b="1" spc="-270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Thank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22608" y="5480098"/>
            <a:ext cx="4642785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49"/>
              </a:lnSpc>
            </a:pPr>
            <a:r>
              <a:rPr lang="en-US" sz="4000" b="1" spc="-104" dirty="0" err="1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감사합니다</a:t>
            </a:r>
            <a:r>
              <a:rPr lang="en-US" sz="4000" b="1" spc="-104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3230</TotalTime>
  <Words>700</Words>
  <Application>Microsoft Office PowerPoint</Application>
  <PresentationFormat>사용자 지정</PresentationFormat>
  <Paragraphs>290</Paragraphs>
  <Slides>20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맑은 고딕</vt:lpstr>
      <vt:lpstr>Calibri</vt:lpstr>
      <vt:lpstr>HY헤드라인M</vt:lpstr>
      <vt:lpstr>Arial</vt:lpstr>
      <vt:lpstr>함초롬돋움</vt:lpstr>
      <vt:lpstr>HY동녘B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쉐어토리_프로젝트</dc:title>
  <dc:creator>Jeon</dc:creator>
  <cp:lastModifiedBy>전여욱</cp:lastModifiedBy>
  <cp:revision>379</cp:revision>
  <dcterms:created xsi:type="dcterms:W3CDTF">2006-08-16T00:00:00Z</dcterms:created>
  <dcterms:modified xsi:type="dcterms:W3CDTF">2025-11-04T05:27:52Z</dcterms:modified>
  <dc:identifier>DAGiLDO1SRM</dc:identifier>
</cp:coreProperties>
</file>